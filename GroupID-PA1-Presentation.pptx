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2b201c81ab4846" /><Relationship Type="http://schemas.openxmlformats.org/officeDocument/2006/relationships/extended-properties" Target="/docProps/app.xml" Id="Ra6d16744b7c741d8" /><Relationship Type="http://schemas.openxmlformats.org/officeDocument/2006/relationships/officeDocument" Target="/ppt/presentation.xml" Id="R2f38f2bf3af54cc3" /></Relationships>
</file>

<file path=ppt/presentation.xml><?xml version="1.0" encoding="utf-8"?>
<p:presentation xmlns:p="http://schemas.openxmlformats.org/presentationml/2006/main">
  <p:sldMasterIdLst>
    <p:sldMasterId xmlns:r="http://schemas.openxmlformats.org/officeDocument/2006/relationships" id="2147483648" r:id="Rc9e7757caf8b43a6"/>
  </p:sldMasterIdLst>
  <p:notesMasterIdLst>
    <p:notesMasterId xmlns:r="http://schemas.openxmlformats.org/officeDocument/2006/relationships" r:id="R9ae9847b56b341e8"/>
  </p:notesMasterIdLst>
  <p:sldIdLst>
    <p:sldId xmlns:r="http://schemas.openxmlformats.org/officeDocument/2006/relationships" id="256" r:id="R203a19da38ea4702"/>
    <p:sldId xmlns:r="http://schemas.openxmlformats.org/officeDocument/2006/relationships" id="257" r:id="R62dbd4984d9244bc"/>
    <p:sldId xmlns:r="http://schemas.openxmlformats.org/officeDocument/2006/relationships" id="258" r:id="R3026e926cc3b4fdf"/>
    <p:sldId xmlns:r="http://schemas.openxmlformats.org/officeDocument/2006/relationships" id="259" r:id="Rfa0fdddbec1c4145"/>
    <p:sldId xmlns:r="http://schemas.openxmlformats.org/officeDocument/2006/relationships" id="260" r:id="Rc070e08fd22f4177"/>
    <p:sldId xmlns:r="http://schemas.openxmlformats.org/officeDocument/2006/relationships" id="261" r:id="R7ee69f51b02f42f3"/>
    <p:sldId xmlns:r="http://schemas.openxmlformats.org/officeDocument/2006/relationships" id="262" r:id="R1eca053f84d34e2c"/>
    <p:sldId xmlns:r="http://schemas.openxmlformats.org/officeDocument/2006/relationships" id="263" r:id="R8d11781aed7b4cee"/>
    <p:sldId xmlns:r="http://schemas.openxmlformats.org/officeDocument/2006/relationships" id="264" r:id="Rd44d604d0f3947c9"/>
    <p:sldId xmlns:r="http://schemas.openxmlformats.org/officeDocument/2006/relationships" id="265" r:id="R975aa0801393423b"/>
    <p:sldId xmlns:r="http://schemas.openxmlformats.org/officeDocument/2006/relationships" id="266" r:id="R67dd3b3957a74e43"/>
    <p:sldId xmlns:r="http://schemas.openxmlformats.org/officeDocument/2006/relationships" id="267" r:id="Ra193ea4c3ad149a4"/>
    <p:sldId xmlns:r="http://schemas.openxmlformats.org/officeDocument/2006/relationships" id="268" r:id="R7e2fbf1a221b47e6"/>
    <p:sldId xmlns:r="http://schemas.openxmlformats.org/officeDocument/2006/relationships" id="269" r:id="R930e297ef1f74830"/>
    <p:sldId xmlns:r="http://schemas.openxmlformats.org/officeDocument/2006/relationships" id="270" r:id="R9aeecab14f83495e"/>
    <p:sldId xmlns:r="http://schemas.openxmlformats.org/officeDocument/2006/relationships" id="271" r:id="Re15da432baa24489"/>
    <p:sldId xmlns:r="http://schemas.openxmlformats.org/officeDocument/2006/relationships" id="272" r:id="R98f27c85c0d54ab4"/>
    <p:sldId xmlns:r="http://schemas.openxmlformats.org/officeDocument/2006/relationships" id="273" r:id="Rb6263d8c12014c1e"/>
    <p:sldId xmlns:r="http://schemas.openxmlformats.org/officeDocument/2006/relationships" id="274" r:id="Rb6754e41e3c84191"/>
    <p:sldId xmlns:r="http://schemas.openxmlformats.org/officeDocument/2006/relationships" id="275" r:id="R761fe2ed6e15452d"/>
    <p:sldId xmlns:r="http://schemas.openxmlformats.org/officeDocument/2006/relationships" id="276" r:id="Rf04e9f608154406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c470692d254ef6" /><Relationship Type="http://schemas.openxmlformats.org/officeDocument/2006/relationships/slideMaster" Target="/ppt/slideMasters/slideMaster1.xml" Id="Rc9e7757caf8b43a6" /><Relationship Type="http://schemas.openxmlformats.org/officeDocument/2006/relationships/notesMaster" Target="/ppt/notesMasters/notesMaster1.xml" Id="R9ae9847b56b341e8" /><Relationship Type="http://schemas.openxmlformats.org/officeDocument/2006/relationships/presProps" Target="/ppt/presProps.xml" Id="Rccbffd57a6f14060" /><Relationship Type="http://schemas.openxmlformats.org/officeDocument/2006/relationships/tableStyles" Target="/ppt/tableStyles.xml" Id="R29fbb726051a46ab" /><Relationship Type="http://schemas.openxmlformats.org/officeDocument/2006/relationships/slide" Target="/ppt/slides/slide1.xml" Id="R203a19da38ea4702" /><Relationship Type="http://schemas.openxmlformats.org/officeDocument/2006/relationships/slide" Target="/ppt/slides/slide2.xml" Id="R62dbd4984d9244bc" /><Relationship Type="http://schemas.openxmlformats.org/officeDocument/2006/relationships/slide" Target="/ppt/slides/slide3.xml" Id="R3026e926cc3b4fdf" /><Relationship Type="http://schemas.openxmlformats.org/officeDocument/2006/relationships/slide" Target="/ppt/slides/slide4.xml" Id="Rfa0fdddbec1c4145" /><Relationship Type="http://schemas.openxmlformats.org/officeDocument/2006/relationships/slide" Target="/ppt/slides/slide5.xml" Id="Rc070e08fd22f4177" /><Relationship Type="http://schemas.openxmlformats.org/officeDocument/2006/relationships/slide" Target="/ppt/slides/slide6.xml" Id="R7ee69f51b02f42f3" /><Relationship Type="http://schemas.openxmlformats.org/officeDocument/2006/relationships/slide" Target="/ppt/slides/slide7.xml" Id="R1eca053f84d34e2c" /><Relationship Type="http://schemas.openxmlformats.org/officeDocument/2006/relationships/slide" Target="/ppt/slides/slide8.xml" Id="R8d11781aed7b4cee" /><Relationship Type="http://schemas.openxmlformats.org/officeDocument/2006/relationships/slide" Target="/ppt/slides/slide9.xml" Id="Rd44d604d0f3947c9" /><Relationship Type="http://schemas.openxmlformats.org/officeDocument/2006/relationships/slide" Target="/ppt/slides/slide10.xml" Id="R975aa0801393423b" /><Relationship Type="http://schemas.openxmlformats.org/officeDocument/2006/relationships/slide" Target="/ppt/slides/slide11.xml" Id="R67dd3b3957a74e43" /><Relationship Type="http://schemas.openxmlformats.org/officeDocument/2006/relationships/slide" Target="/ppt/slides/slide12.xml" Id="Ra193ea4c3ad149a4" /><Relationship Type="http://schemas.openxmlformats.org/officeDocument/2006/relationships/slide" Target="/ppt/slides/slide13.xml" Id="R7e2fbf1a221b47e6" /><Relationship Type="http://schemas.openxmlformats.org/officeDocument/2006/relationships/slide" Target="/ppt/slides/slide14.xml" Id="R930e297ef1f74830" /><Relationship Type="http://schemas.openxmlformats.org/officeDocument/2006/relationships/slide" Target="/ppt/slides/slide15.xml" Id="R9aeecab14f83495e" /><Relationship Type="http://schemas.openxmlformats.org/officeDocument/2006/relationships/slide" Target="/ppt/slides/slide16.xml" Id="Re15da432baa24489" /><Relationship Type="http://schemas.openxmlformats.org/officeDocument/2006/relationships/slide" Target="/ppt/slides/slide17.xml" Id="R98f27c85c0d54ab4" /><Relationship Type="http://schemas.openxmlformats.org/officeDocument/2006/relationships/slide" Target="/ppt/slides/slide18.xml" Id="Rb6263d8c12014c1e" /><Relationship Type="http://schemas.openxmlformats.org/officeDocument/2006/relationships/slide" Target="/ppt/slides/slide19.xml" Id="Rb6754e41e3c84191" /><Relationship Type="http://schemas.openxmlformats.org/officeDocument/2006/relationships/slide" Target="/ppt/slides/slide20.xml" Id="R761fe2ed6e15452d" /><Relationship Type="http://schemas.openxmlformats.org/officeDocument/2006/relationships/slide" Target="/ppt/slides/slide21.xml" Id="Rf04e9f60815440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4468fb33d747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efa78b6c37447a" /><Relationship Type="http://schemas.openxmlformats.org/officeDocument/2006/relationships/notesMaster" Target="/ppt/notesMasters/notesMaster1.xml" Id="R861dbcdab98343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f19b7e0e5b4930" /><Relationship Type="http://schemas.openxmlformats.org/officeDocument/2006/relationships/notesMaster" Target="/ppt/notesMasters/notesMaster1.xml" Id="R33283e8fb8cf4f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604d2c4176413d" /><Relationship Type="http://schemas.openxmlformats.org/officeDocument/2006/relationships/notesMaster" Target="/ppt/notesMasters/notesMaster1.xml" Id="R9455608347284c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38bff69b834bc1" /><Relationship Type="http://schemas.openxmlformats.org/officeDocument/2006/relationships/notesMaster" Target="/ppt/notesMasters/notesMaster1.xml" Id="R267c3ed6149c4d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11778545364150" /><Relationship Type="http://schemas.openxmlformats.org/officeDocument/2006/relationships/notesMaster" Target="/ppt/notesMasters/notesMaster1.xml" Id="R8f56b6a51e664a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d6732e98174f57" /><Relationship Type="http://schemas.openxmlformats.org/officeDocument/2006/relationships/notesMaster" Target="/ppt/notesMasters/notesMaster1.xml" Id="R51cee57beca244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10daa5222b4a69" /><Relationship Type="http://schemas.openxmlformats.org/officeDocument/2006/relationships/notesMaster" Target="/ppt/notesMasters/notesMaster1.xml" Id="R9ca8f8444c164ad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7c10907b314841" /><Relationship Type="http://schemas.openxmlformats.org/officeDocument/2006/relationships/notesMaster" Target="/ppt/notesMasters/notesMaster1.xml" Id="Ra36c3ecb1c5a46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3e59538375454c" /><Relationship Type="http://schemas.openxmlformats.org/officeDocument/2006/relationships/notesMaster" Target="/ppt/notesMasters/notesMaster1.xml" Id="Rcd882cd100f44b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f7b32c47bf456b" /><Relationship Type="http://schemas.openxmlformats.org/officeDocument/2006/relationships/notesMaster" Target="/ppt/notesMasters/notesMaster1.xml" Id="Rcf40d28f8fc946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5e694540c24765" /><Relationship Type="http://schemas.openxmlformats.org/officeDocument/2006/relationships/notesMaster" Target="/ppt/notesMasters/notesMaster1.xml" Id="R0d1ca944dfad47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ab8a2b8f4e47fc" /><Relationship Type="http://schemas.openxmlformats.org/officeDocument/2006/relationships/notesMaster" Target="/ppt/notesMasters/notesMaster1.xml" Id="Rbdc42dd872b04c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d3e6a89b2641a3" /><Relationship Type="http://schemas.openxmlformats.org/officeDocument/2006/relationships/notesMaster" Target="/ppt/notesMasters/notesMaster1.xml" Id="R64c7759b97204b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85641262fc4f31" /><Relationship Type="http://schemas.openxmlformats.org/officeDocument/2006/relationships/notesMaster" Target="/ppt/notesMasters/notesMaster1.xml" Id="R206bc2baf38d4e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890f4322e7d405b" /><Relationship Type="http://schemas.openxmlformats.org/officeDocument/2006/relationships/notesMaster" Target="/ppt/notesMasters/notesMaster1.xml" Id="R8568a638b5ef46f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135cf53ebed4871" /><Relationship Type="http://schemas.openxmlformats.org/officeDocument/2006/relationships/notesMaster" Target="/ppt/notesMasters/notesMaster1.xml" Id="Rdda689d90cf5465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5e5c36dbc3145d1" /><Relationship Type="http://schemas.openxmlformats.org/officeDocument/2006/relationships/notesMaster" Target="/ppt/notesMasters/notesMaster1.xml" Id="R99c4c36a63374d4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63fea3687224152" /><Relationship Type="http://schemas.openxmlformats.org/officeDocument/2006/relationships/notesMaster" Target="/ppt/notesMasters/notesMaster1.xml" Id="R00d0ffd5ed8242c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bae00c681b04531" /><Relationship Type="http://schemas.openxmlformats.org/officeDocument/2006/relationships/notesMaster" Target="/ppt/notesMasters/notesMaster1.xml" Id="Rbade46c25eb8463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ec7a1e55c0d4a1c" /><Relationship Type="http://schemas.openxmlformats.org/officeDocument/2006/relationships/notesMaster" Target="/ppt/notesMasters/notesMaster1.xml" Id="Rf73ca8105efb472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1a3a10a765f497d" /><Relationship Type="http://schemas.openxmlformats.org/officeDocument/2006/relationships/notesMaster" Target="/ppt/notesMasters/notesMaster1.xml" Id="Ra596674ab5be4f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sự khác biệt cốt lõi: FIFA.com chủ yếu hỗ trợ khám phá thông tin chính thức, còn Chess.com hỗ trợ hành động và phản hồi tức thời. Bài trình bày dùng ảnh giao diện thật để nối người dùng, use case, phát hiện HCI và giải pháp.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PA1 không chỉ mô tả giao diện. Nhóm đặt ba mục tiêu: hiểu người dùng, quan sát hành vi trên giao diện thật và tạo giải pháp có thể truy ngược về bằng chứng. Ảnh tìm kiếm minh họa cách nhóm đánh giá một tác vụ cụ thể thay vì đánh giá chung chung.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Quy trình gồm năm bước: dùng nguồn chính thức, chụp nhiều kích thước, chú thích vùng giao diện, đối chiếu với persona và kiểm định kết luận. Hai ảnh mobile cho thấy cùng một phương pháp được áp dụng nhất quán cho cả hai sản phẩm.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FIFA.com hoạt động như một cổng thông tin rộng. Người dùng duyệt tin, giải đấu, lịch, tỷ số và dịch vụ chính thức. Bản desktop cho thấy độ phủ nội dung; bản mobile cho thấy áp lực thu gọn điều hướng và ưu tiên thông tin.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Chess.com tổ chức trải nghiệm quanh hành động. Người dùng được thúc đẩy bắt đầu ván, giải puzzle hoặc học ngay. Điều này tạo tốc độ cao nhưng cũng tăng nguy cơ quá tải tính năng, đặc biệt trên mobile và với người mới.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persona FIFA đại diện cho ba mức chú ý. Lan cần thông tin cực nhanh, Ethan có thời gian so sánh, còn Maria ưu tiên độ tin cậy. Vì vậy giao diện phải vừa hỗ trợ duyệt sâu vừa giữ lối đi rõ cho người dùng bị gián đoạn.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persona Chess đại diện cho ba mức trình độ. Người mới cần giảm lựa chọn, người chơi blitz cần tốc độ và phòng lỗi, còn người phân tích cần công cụ sâu. Progressive disclosure là nguyên tắc then chốt để phục vụ cả ba nhóm.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đầu tiên là kiểm tra lịch và tỷ số. Trên desktop có nhiều không gian cho bộ lọc; trên mobile các vùng tìm kiếm, tab và danh sách cạnh tranh sự chú ý. Đường đi tốt phải giúp người dùng nhận ra giải đấu và trận cần xem ngay.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thứ hai nối đọc tin với theo dõi giải đấu. Người dùng thường đi từ bài viết tới lịch, bảng đấu hoặc nội dung liên quan. Nếu liên kết và nhãn không rõ, họ mất ngữ cảnh và phải quay lại điều hướng cấp cao.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cốt lõi của Chess.com là bắt đầu ván. Giao diện phải rút ngắn thời gian tới bàn cờ nhưng vẫn cho người dùng kiểm soát nhịp và đối thủ. Trên mobile, nút bắt đầu và thiết lập cần đủ lớn, rõ và không bị lẫn với chức năng phụ.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Giá trị dài hạn của Chess.com nằm ở vòng lặp chơi, phản hồi và học tiếp. Puzzle cần phản hồi đúng sai rõ; bài học cần bước tiếp theo phù hợp trình độ. Bất kỳ prompt hoặc giới hạn nào chen vào vòng lặp đều có thể làm giảm động lực.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Điểm mạnh lớn nhất của FIFA.com là uy tín. Người dùng tin đây là nguồn chính thức và có thể tìm nhiều loại nội dung trong cùng hệ sinh thái. Tuy nhiên độ phủ rộng cũng tạo áp lực lên điều hướng và khả năng tìm thấy.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ảnh thật cho thấy một chuyển ngữ cảnh có thể kiểm tra: từ lối vào World Cup trên trang chủ sang navigation và spotlight của trang giải đấu. Vấn đề HCI không phải nội dung thiếu, mà là cần nhãn đích và dấu vết điều hướng rõ để người dùng biết họ vừa đi đâu.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Chess.com mạnh về direct manipulation và phản hồi. Bàn cờ dùng mô hình quen thuộc, trạng thái thay đổi ngay sau thao tác và puzzle đưa ra bước tiếp theo. Đây là nền tảng tạo cảm giác tiến bộ liên tục.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Điểm yếu của Chess.com là quá tải ban đầu. Menu phong phú hữu ích cho người có kinh nghiệm nhưng làm tăng tải nhớ cho người mới. Prompt đăng nhập hoặc giới hạn truy cập cũng có thể ngắt ý định chơi nhanh.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FIFA highlight điều hướng toàn cục và lối vào World Cup, cho thấy nhiều đích đến cần information scent rõ. Ảnh Chess highlight bàn cờ và CTA, trong khi menu vẫn mở nhiều nhánh chức năng. Hai nhóm hạn chế là tính liên tục của FIFA và tải nhận thức ban đầu của Chess.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ảnh thật là điểm xuất phát của giải pháp. Trên trang chủ, nhóm đề xuất gom lối vào theo tác vụ như lịch, tỷ số, tin và vé. Trong bài viết, nhóm đề xuất giữ hành động liên quan và đường quay lại giải đấu. Đây là quick win có thể kiểm thử mà không giả lập một giao diện đã triển khai.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ảnh thật cho thấy nơi giải pháp sẽ tác động. Trang chủ nên hỏi mục tiêu trước khi lộ tính năng nâng cao. Lessons nên đưa lộ trình Learn To Play lên vị trí nổi bật cho người mới. Beginner preset, focus coachmark và cảnh báo premove là các bước tiếp theo có thể kiểm thử.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Khối lượng được chia cân bằng. Le Minh và Nguyen Vu Bach đồng sở hữu FIFA.com. Pham Nguyen Gia Bao và Trang Minh Nhut đồng sở hữu Chess.com. Mỗi thành viên chịu trách nhiệm chính một mảng và tham gia review chéo, tổng đóng góp 25 phần trăm.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Peer review hiện tại là rehearsal nội bộ vì chưa có phản hồi lớp học trong nguồn. Hai crop mới đều giữ trọn vùng UI và highlight. Ví dụ FIFA làm rõ lối vào World Cup; Chess giảm tải bước đầu cho người mới. Mỗi nhận xét phải chỉ ra bằng chứng, thay đổi và chủ sở hữu.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bằng nguyên tắc chung: thiết kế tốt không phải thêm nhiều tính năng, mà làm đúng tác vụ trở nên rõ đúng lúc. FIFA cần ưu tiên độ tin cậy và tính liên tục. Chess cần progressive disclosure, phòng lỗi và phản hồi dễ hiểu.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3cc994183246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702659e7824087" /><Relationship Type="http://schemas.openxmlformats.org/officeDocument/2006/relationships/slideLayout" Target="/ppt/slideLayouts/slideLayout1.xml" Id="R5b95710ce2394c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95710ce2394c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b302dbec8854a15" /><Relationship Type="http://schemas.openxmlformats.org/officeDocument/2006/relationships/image" Target="/ppt/media/image.png" Id="R15ca835638974980" /><Relationship Type="http://schemas.openxmlformats.org/officeDocument/2006/relationships/image" Target="/ppt/media/image2.png" Id="R09531a9168af4dce" /><Relationship Type="http://schemas.openxmlformats.org/officeDocument/2006/relationships/notesSlide" Target="/ppt/notesSlides/notesSlide1.xml" Id="R78b9a146bc244c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31d99b1e5d4dfe" /><Relationship Type="http://schemas.openxmlformats.org/officeDocument/2006/relationships/image" Target="/ppt/media/image3.png" Id="Rf2a658a82e904a95" /><Relationship Type="http://schemas.openxmlformats.org/officeDocument/2006/relationships/notesSlide" Target="/ppt/notesSlides/notesSlide2.xml" Id="R32f2a4bde2594d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954197de5d49ab" /><Relationship Type="http://schemas.openxmlformats.org/officeDocument/2006/relationships/image" Target="/ppt/media/image4.png" Id="R61375e6ac3f14cbf" /><Relationship Type="http://schemas.openxmlformats.org/officeDocument/2006/relationships/image" Target="/ppt/media/image5.png" Id="Rbe2489a4bc424ad1" /><Relationship Type="http://schemas.openxmlformats.org/officeDocument/2006/relationships/notesSlide" Target="/ppt/notesSlides/notesSlide3.xml" Id="R233c5934302d40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7a3ab519e874a6f" /><Relationship Type="http://schemas.openxmlformats.org/officeDocument/2006/relationships/image" Target="/ppt/media/image6.png" Id="Ra50d70f989c040ae" /><Relationship Type="http://schemas.openxmlformats.org/officeDocument/2006/relationships/image" Target="/ppt/media/image7.png" Id="R0bf68aa56f294d3a" /><Relationship Type="http://schemas.openxmlformats.org/officeDocument/2006/relationships/notesSlide" Target="/ppt/notesSlides/notesSlide4.xml" Id="R05af8b83a8f044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c7166024ad433a" /><Relationship Type="http://schemas.openxmlformats.org/officeDocument/2006/relationships/image" Target="/ppt/media/image8.png" Id="Rb34d9adfa91f4314" /><Relationship Type="http://schemas.openxmlformats.org/officeDocument/2006/relationships/image" Target="/ppt/media/image9.png" Id="R60040b69de5045c6" /><Relationship Type="http://schemas.openxmlformats.org/officeDocument/2006/relationships/notesSlide" Target="/ppt/notesSlides/notesSlide5.xml" Id="Rf46eebef04d740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f22616e2f3d46aa" /><Relationship Type="http://schemas.openxmlformats.org/officeDocument/2006/relationships/image" Target="/ppt/media/image10.png" Id="Ree9f286ff11041a1" /><Relationship Type="http://schemas.openxmlformats.org/officeDocument/2006/relationships/notesSlide" Target="/ppt/notesSlides/notesSlide6.xml" Id="R076abdb091e84a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30367a7e87477c" /><Relationship Type="http://schemas.openxmlformats.org/officeDocument/2006/relationships/image" Target="/ppt/media/image11.png" Id="R137f7ae8a9b74a78" /><Relationship Type="http://schemas.openxmlformats.org/officeDocument/2006/relationships/notesSlide" Target="/ppt/notesSlides/notesSlide7.xml" Id="R475f94ce68b44c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5c5dc37e62474a" /><Relationship Type="http://schemas.openxmlformats.org/officeDocument/2006/relationships/image" Target="/ppt/media/image12.png" Id="R6d23484ba7df4c0d" /><Relationship Type="http://schemas.openxmlformats.org/officeDocument/2006/relationships/image" Target="/ppt/media/image13.png" Id="Rf8d3deeb3d8344f2" /><Relationship Type="http://schemas.openxmlformats.org/officeDocument/2006/relationships/notesSlide" Target="/ppt/notesSlides/notesSlide8.xml" Id="R61eb40e532a447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dea72c0714f4a36" /><Relationship Type="http://schemas.openxmlformats.org/officeDocument/2006/relationships/image" Target="/ppt/media/image14.png" Id="R2038d173f9e84391" /><Relationship Type="http://schemas.openxmlformats.org/officeDocument/2006/relationships/image" Target="/ppt/media/image15.png" Id="R9c1bbb03bfdb48ca" /><Relationship Type="http://schemas.openxmlformats.org/officeDocument/2006/relationships/notesSlide" Target="/ppt/notesSlides/notesSlide9.xml" Id="R72e438242c564c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3bfb8fb008c48c7" /><Relationship Type="http://schemas.openxmlformats.org/officeDocument/2006/relationships/image" Target="/ppt/media/image16.png" Id="R0759b55fccba49a0" /><Relationship Type="http://schemas.openxmlformats.org/officeDocument/2006/relationships/image" Target="/ppt/media/image17.png" Id="Rfd7fd4fcfe6a4393" /><Relationship Type="http://schemas.openxmlformats.org/officeDocument/2006/relationships/notesSlide" Target="/ppt/notesSlides/notesSlide10.xml" Id="Rd89b71215cb949b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5a195bc71a34195" /><Relationship Type="http://schemas.openxmlformats.org/officeDocument/2006/relationships/image" Target="/ppt/media/image18.png" Id="R04c962f974924b90" /><Relationship Type="http://schemas.openxmlformats.org/officeDocument/2006/relationships/image" Target="/ppt/media/image19.png" Id="R293d01f793244eac" /><Relationship Type="http://schemas.openxmlformats.org/officeDocument/2006/relationships/notesSlide" Target="/ppt/notesSlides/notesSlide11.xml" Id="Rc106fd7b00c84b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d452856230248a8" /><Relationship Type="http://schemas.openxmlformats.org/officeDocument/2006/relationships/image" Target="/ppt/media/image20.png" Id="R7a09f2a7ec7e45e5" /><Relationship Type="http://schemas.openxmlformats.org/officeDocument/2006/relationships/notesSlide" Target="/ppt/notesSlides/notesSlide12.xml" Id="Rade9d05138ea4bc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fd52064f177473e" /><Relationship Type="http://schemas.openxmlformats.org/officeDocument/2006/relationships/image" Target="/ppt/media/image21.png" Id="R1e226ab18d8d48d1" /><Relationship Type="http://schemas.openxmlformats.org/officeDocument/2006/relationships/image" Target="/ppt/media/image22.png" Id="Recf48d077def4f92" /><Relationship Type="http://schemas.openxmlformats.org/officeDocument/2006/relationships/notesSlide" Target="/ppt/notesSlides/notesSlide13.xml" Id="Rf133976fe482405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c438ceddc0a49a6" /><Relationship Type="http://schemas.openxmlformats.org/officeDocument/2006/relationships/image" Target="/ppt/media/image23.png" Id="R7be3e9938b81493a" /><Relationship Type="http://schemas.openxmlformats.org/officeDocument/2006/relationships/image" Target="/ppt/media/image24.png" Id="R47776608fbbe45d4" /><Relationship Type="http://schemas.openxmlformats.org/officeDocument/2006/relationships/notesSlide" Target="/ppt/notesSlides/notesSlide14.xml" Id="R0ce6e8433c9241e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3dba5960d704fa9" /><Relationship Type="http://schemas.openxmlformats.org/officeDocument/2006/relationships/image" Target="/ppt/media/image25.png" Id="Rc52a5f2909c04387" /><Relationship Type="http://schemas.openxmlformats.org/officeDocument/2006/relationships/image" Target="/ppt/media/image26.png" Id="Rf065f8a1ed8b4592" /><Relationship Type="http://schemas.openxmlformats.org/officeDocument/2006/relationships/notesSlide" Target="/ppt/notesSlides/notesSlide15.xml" Id="R6ffd397921324d9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b87dd4bc27842c8" /><Relationship Type="http://schemas.openxmlformats.org/officeDocument/2006/relationships/image" Target="/ppt/media/image27.png" Id="Rb807f2414edf4964" /><Relationship Type="http://schemas.openxmlformats.org/officeDocument/2006/relationships/image" Target="/ppt/media/image28.png" Id="R2ea69ded641a451b" /><Relationship Type="http://schemas.openxmlformats.org/officeDocument/2006/relationships/notesSlide" Target="/ppt/notesSlides/notesSlide16.xml" Id="Rdc46066d78dd4fb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d0cdc3f47a7413d" /><Relationship Type="http://schemas.openxmlformats.org/officeDocument/2006/relationships/image" Target="/ppt/media/image29.png" Id="Rabaa390cee554a8b" /><Relationship Type="http://schemas.openxmlformats.org/officeDocument/2006/relationships/image" Target="/ppt/media/image30.png" Id="Ra484af2f50e34bae" /><Relationship Type="http://schemas.openxmlformats.org/officeDocument/2006/relationships/notesSlide" Target="/ppt/notesSlides/notesSlide17.xml" Id="R6d9f1acc53504de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21c8a48d1e04fda" /><Relationship Type="http://schemas.openxmlformats.org/officeDocument/2006/relationships/image" Target="/ppt/media/image31.png" Id="R63a1ad0c2b5642c8" /><Relationship Type="http://schemas.openxmlformats.org/officeDocument/2006/relationships/image" Target="/ppt/media/image32.png" Id="R29b775443ec04f22" /><Relationship Type="http://schemas.openxmlformats.org/officeDocument/2006/relationships/notesSlide" Target="/ppt/notesSlides/notesSlide18.xml" Id="R0c115503450c4e8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e096277bb824a26" /><Relationship Type="http://schemas.openxmlformats.org/officeDocument/2006/relationships/notesSlide" Target="/ppt/notesSlides/notesSlide19.xml" Id="Rcdd4ed9c5f97452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afa195195bf475b" /><Relationship Type="http://schemas.openxmlformats.org/officeDocument/2006/relationships/image" Target="/ppt/media/image33.png" Id="R5adaca629a8246f9" /><Relationship Type="http://schemas.openxmlformats.org/officeDocument/2006/relationships/image" Target="/ppt/media/image34.png" Id="Rbfa1895fbedd4130" /><Relationship Type="http://schemas.openxmlformats.org/officeDocument/2006/relationships/notesSlide" Target="/ppt/notesSlides/notesSlide20.xml" Id="Rb99286d7150a4d6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3c5167e1b694980" /><Relationship Type="http://schemas.openxmlformats.org/officeDocument/2006/relationships/image" Target="/ppt/media/image35.png" Id="R2c454c02b237457e" /><Relationship Type="http://schemas.openxmlformats.org/officeDocument/2006/relationships/image" Target="/ppt/media/image36.png" Id="R5da56eb06c0e4e82" /><Relationship Type="http://schemas.openxmlformats.org/officeDocument/2006/relationships/notesSlide" Target="/ppt/notesSlides/notesSlide21.xml" Id="R2b87534f87be43d2" /></Relationships>
</file>

<file path=ppt/slides/slide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D78A1E-FA5C-4D77-BB17-15D442362A69}"/>
              </a:ext>
            </a:extLst>
          </p:cNvPr>
          <p:cNvSpPr>
            <a:spLocks xmlns:a="http://schemas.openxmlformats.org/drawingml/2006/main" noGrp="1"/>
          </p:cNvSpPr>
          <p:nvPr/>
        </p:nvSpPr>
        <p:spPr>
          <a:xfrm xmlns:a="http://schemas.openxmlformats.org/drawingml/2006/main" rot="0">
            <a:off x="609600" y="4953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i="0">
                <a:solidFill>
                  <a:srgbClr val="C77761"/>
                </a:solidFill>
                <a:latin typeface="Aptos"/>
                <a:ea typeface="Aptos"/>
                <a:cs typeface="Aptos"/>
              </a:defRPr>
            </a:pPr>
            <a:r>
              <a:rPr sz="1200" b="1" i="0">
                <a:solidFill>
                  <a:srgbClr val="C77761"/>
                </a:solidFill>
                <a:latin typeface="Aptos"/>
                <a:ea typeface="Aptos"/>
                <a:cs typeface="Aptos"/>
              </a:rPr>
              <a:t>PHÂN TÍCH HCI • PA1</a:t>
            </a:r>
          </a:p>
        </p:txBody>
      </p:sp>
      <p:sp>
        <p:nvSpPr>
          <p:cNvPr id="2" name="title-1">
            <a:extLst xmlns:a="http://schemas.openxmlformats.org/drawingml/2006/main">
              <a:ext uri="{FF2B5EF4-FFF2-40B4-BE49-F238E27FC236}">
                <a16:creationId xmlns:a16="http://schemas.microsoft.com/office/drawing/2014/main" id="{7817E1C2-AFCB-40B4-BFF1-8972863A74ED}"/>
              </a:ext>
            </a:extLst>
          </p:cNvPr>
          <p:cNvSpPr>
            <a:spLocks xmlns:a="http://schemas.openxmlformats.org/drawingml/2006/main" noGrp="1"/>
          </p:cNvSpPr>
          <p:nvPr/>
        </p:nvSpPr>
        <p:spPr>
          <a:xfrm xmlns:a="http://schemas.openxmlformats.org/drawingml/2006/main" rot="0">
            <a:off x="609600" y="952500"/>
            <a:ext cx="5334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4350" b="1" i="0">
                <a:solidFill>
                  <a:srgbClr val="24332B"/>
                </a:solidFill>
                <a:latin typeface="Aptos"/>
                <a:ea typeface="Aptos"/>
                <a:cs typeface="Aptos"/>
              </a:defRPr>
            </a:pPr>
            <a:r>
              <a:rPr sz="4350" b="1" i="0">
                <a:solidFill>
                  <a:srgbClr val="24332B"/>
                </a:solidFill>
                <a:latin typeface="Aptos"/>
                <a:ea typeface="Aptos"/>
                <a:cs typeface="Aptos"/>
              </a:rPr>
              <a:t>Hai nhịp trải nghiệm</a:t>
            </a:r>
          </a:p>
          <a:p xmlns:a="http://schemas.openxmlformats.org/drawingml/2006/main">
            <a:pPr algn="l">
              <a:defRPr sz="4350" b="1" i="0">
                <a:solidFill>
                  <a:srgbClr val="24332B"/>
                </a:solidFill>
                <a:latin typeface="Aptos"/>
                <a:ea typeface="Aptos"/>
                <a:cs typeface="Aptos"/>
              </a:defRPr>
            </a:pPr>
            <a:r>
              <a:rPr sz="4350" b="1" i="0">
                <a:solidFill>
                  <a:srgbClr val="24332B"/>
                </a:solidFill>
                <a:latin typeface="Aptos"/>
                <a:ea typeface="Aptos"/>
                <a:cs typeface="Aptos"/>
              </a:rPr>
              <a:t>FIFA.com và Chess.com</a:t>
            </a:r>
          </a:p>
        </p:txBody>
      </p:sp>
      <p:sp>
        <p:nvSpPr>
          <p:cNvPr id="3" name="">
            <a:extLst xmlns:a="http://schemas.openxmlformats.org/drawingml/2006/main">
              <a:ext uri="{FF2B5EF4-FFF2-40B4-BE49-F238E27FC236}">
                <a16:creationId xmlns:a16="http://schemas.microsoft.com/office/drawing/2014/main" id="{30ACFE60-0476-484E-B29F-DF2D9388DB84}"/>
              </a:ext>
            </a:extLst>
          </p:cNvPr>
          <p:cNvSpPr>
            <a:spLocks xmlns:a="http://schemas.openxmlformats.org/drawingml/2006/main" noGrp="1"/>
          </p:cNvSpPr>
          <p:nvPr/>
        </p:nvSpPr>
        <p:spPr>
          <a:xfrm xmlns:a="http://schemas.openxmlformats.org/drawingml/2006/main" rot="0">
            <a:off x="647700" y="26860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i="0">
                <a:solidFill>
                  <a:srgbClr val="66745F"/>
                </a:solidFill>
                <a:latin typeface="Aptos"/>
                <a:ea typeface="Aptos"/>
                <a:cs typeface="Aptos"/>
              </a:defRPr>
            </a:pPr>
            <a:r>
              <a:rPr sz="1950" b="1" i="0">
                <a:solidFill>
                  <a:srgbClr val="66745F"/>
                </a:solidFill>
                <a:latin typeface="Aptos"/>
                <a:ea typeface="Aptos"/>
                <a:cs typeface="Aptos"/>
              </a:rPr>
              <a:t>Khám phá thông tin × hành động tức thời</a:t>
            </a:r>
          </a:p>
        </p:txBody>
      </p:sp>
      <p:sp>
        <p:nvSpPr>
          <p:cNvPr id="4" name="">
            <a:extLst xmlns:a="http://schemas.openxmlformats.org/drawingml/2006/main">
              <a:ext uri="{FF2B5EF4-FFF2-40B4-BE49-F238E27FC236}">
                <a16:creationId xmlns:a16="http://schemas.microsoft.com/office/drawing/2014/main" id="{4D36BB5B-780F-4CBE-94C2-E3BC5104A0C4}"/>
              </a:ext>
            </a:extLst>
          </p:cNvPr>
          <p:cNvSpPr>
            <a:spLocks xmlns:a="http://schemas.openxmlformats.org/drawingml/2006/main" noGrp="1"/>
          </p:cNvSpPr>
          <p:nvPr/>
        </p:nvSpPr>
        <p:spPr>
          <a:xfrm xmlns:a="http://schemas.openxmlformats.org/drawingml/2006/main" rot="0">
            <a:off x="647700" y="31813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i="0">
                <a:solidFill>
                  <a:srgbClr val="24332B"/>
                </a:solidFill>
                <a:latin typeface="Aptos"/>
                <a:ea typeface="Aptos"/>
                <a:cs typeface="Aptos"/>
              </a:defRPr>
            </a:pPr>
            <a:r>
              <a:rPr sz="1650" b="0" i="0">
                <a:solidFill>
                  <a:srgbClr val="24332B"/>
                </a:solidFill>
                <a:latin typeface="Aptos"/>
                <a:ea typeface="Aptos"/>
                <a:cs typeface="Aptos"/>
              </a:rPr>
              <a:t>Nghiên cứu sản phẩm, phát hiện HCI và giải pháp thiết kế</a:t>
            </a:r>
          </a:p>
        </p:txBody>
      </p:sp>
      <p:sp>
        <p:nvSpPr>
          <p:cNvPr id="5" name="">
            <a:extLst xmlns:a="http://schemas.openxmlformats.org/drawingml/2006/main">
              <a:ext uri="{FF2B5EF4-FFF2-40B4-BE49-F238E27FC236}">
                <a16:creationId xmlns:a16="http://schemas.microsoft.com/office/drawing/2014/main" id="{5126E65E-6484-492B-B8D3-FB60ECE73BA8}"/>
              </a:ext>
            </a:extLst>
          </p:cNvPr>
          <p:cNvSpPr>
            <a:spLocks xmlns:a="http://schemas.openxmlformats.org/drawingml/2006/main" noGrp="1"/>
          </p:cNvSpPr>
          <p:nvPr/>
        </p:nvSpPr>
        <p:spPr>
          <a:xfrm xmlns:a="http://schemas.openxmlformats.org/drawingml/2006/main" rot="0">
            <a:off x="6153150" y="628650"/>
            <a:ext cx="5276850" cy="2476500"/>
          </a:xfrm>
          <a:prstGeom xmlns:a="http://schemas.openxmlformats.org/drawingml/2006/main" prst="roundRect">
            <a:avLst>
              <a:gd name="adj" fmla="val 8462"/>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5ca835638974980"/>
          <a:stretch xmlns:a="http://schemas.openxmlformats.org/drawingml/2006/main"/>
        </p:blipFill>
        <p:spPr>
          <a:xfrm xmlns:a="http://schemas.openxmlformats.org/drawingml/2006/main">
            <a:off x="7145655" y="723900"/>
            <a:ext cx="3291840" cy="2286000"/>
          </a:xfrm>
          <a:prstGeom xmlns:a="http://schemas.openxmlformats.org/drawingml/2006/main" prst="roundRect">
            <a:avLst>
              <a:gd name="adj" fmla="val 5833"/>
            </a:avLst>
          </a:prstGeom>
        </p:spPr>
      </p:pic>
      <p:sp>
        <p:nvSpPr>
          <p:cNvPr id="7" name="">
            <a:extLst xmlns:a="http://schemas.openxmlformats.org/drawingml/2006/main">
              <a:ext uri="{FF2B5EF4-FFF2-40B4-BE49-F238E27FC236}">
                <a16:creationId xmlns:a16="http://schemas.microsoft.com/office/drawing/2014/main" id="{789B16D5-2AC4-43A8-AC90-C82D213299C5}"/>
              </a:ext>
            </a:extLst>
          </p:cNvPr>
          <p:cNvSpPr>
            <a:spLocks xmlns:a="http://schemas.openxmlformats.org/drawingml/2006/main" noGrp="1"/>
          </p:cNvSpPr>
          <p:nvPr/>
        </p:nvSpPr>
        <p:spPr>
          <a:xfrm xmlns:a="http://schemas.openxmlformats.org/drawingml/2006/main" rot="0">
            <a:off x="6153150" y="3429000"/>
            <a:ext cx="5276850" cy="2476500"/>
          </a:xfrm>
          <a:prstGeom xmlns:a="http://schemas.openxmlformats.org/drawingml/2006/main" prst="roundRect">
            <a:avLst>
              <a:gd name="adj" fmla="val 8462"/>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9531a9168af4dce"/>
          <a:stretch xmlns:a="http://schemas.openxmlformats.org/drawingml/2006/main"/>
        </p:blipFill>
        <p:spPr>
          <a:xfrm xmlns:a="http://schemas.openxmlformats.org/drawingml/2006/main">
            <a:off x="7145655" y="3524250"/>
            <a:ext cx="3291840" cy="2286000"/>
          </a:xfrm>
          <a:prstGeom xmlns:a="http://schemas.openxmlformats.org/drawingml/2006/main" prst="roundRect">
            <a:avLst>
              <a:gd name="adj" fmla="val 5833"/>
            </a:avLst>
          </a:prstGeom>
        </p:spPr>
      </p:pic>
      <p:sp>
        <p:nvSpPr>
          <p:cNvPr id="9" name="">
            <a:extLst xmlns:a="http://schemas.openxmlformats.org/drawingml/2006/main">
              <a:ext uri="{FF2B5EF4-FFF2-40B4-BE49-F238E27FC236}">
                <a16:creationId xmlns:a16="http://schemas.microsoft.com/office/drawing/2014/main" id="{09B8D401-1F83-427D-B599-BCB366F3751D}"/>
              </a:ext>
            </a:extLst>
          </p:cNvPr>
          <p:cNvSpPr>
            <a:spLocks xmlns:a="http://schemas.openxmlformats.org/drawingml/2006/main" noGrp="1"/>
          </p:cNvSpPr>
          <p:nvPr/>
        </p:nvSpPr>
        <p:spPr>
          <a:xfrm xmlns:a="http://schemas.openxmlformats.org/drawingml/2006/main" rot="0">
            <a:off x="647700" y="581025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i="0">
                <a:solidFill>
                  <a:srgbClr val="66745F"/>
                </a:solidFill>
                <a:latin typeface="Aptos"/>
                <a:ea typeface="Aptos"/>
                <a:cs typeface="Aptos"/>
              </a:defRPr>
            </a:pPr>
            <a:r>
              <a:rPr sz="1275" b="1" i="0">
                <a:solidFill>
                  <a:srgbClr val="66745F"/>
                </a:solidFill>
                <a:latin typeface="Aptos"/>
                <a:ea typeface="Aptos"/>
                <a:cs typeface="Aptos"/>
              </a:rPr>
              <a:t>Le Minh • Nguyen Vu Bach • Pham Nguyen Gia Bao • Trang Minh Nhut</a:t>
            </a:r>
          </a:p>
        </p:txBody>
      </p:sp>
      <p:sp>
        <p:nvSpPr>
          <p:cNvPr id="10" name="">
            <a:extLst xmlns:a="http://schemas.openxmlformats.org/drawingml/2006/main">
              <a:ext uri="{FF2B5EF4-FFF2-40B4-BE49-F238E27FC236}">
                <a16:creationId xmlns:a16="http://schemas.microsoft.com/office/drawing/2014/main" id="{E08A1388-D8E2-44EC-BD05-1F931AADCC10}"/>
              </a:ext>
            </a:extLst>
          </p:cNvPr>
          <p:cNvSpPr>
            <a:spLocks xmlns:a="http://schemas.openxmlformats.org/drawingml/2006/main" noGrp="1"/>
          </p:cNvSpPr>
          <p:nvPr/>
        </p:nvSpPr>
        <p:spPr>
          <a:xfrm xmlns:a="http://schemas.openxmlformats.org/drawingml/2006/main" rot="0">
            <a:off x="647700" y="62865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8C9A84"/>
                </a:solidFill>
                <a:latin typeface="Aptos"/>
                <a:ea typeface="Aptos"/>
                <a:cs typeface="Aptos"/>
              </a:defRPr>
            </a:pPr>
            <a:r>
              <a:rPr sz="1050" b="1" i="0">
                <a:solidFill>
                  <a:srgbClr val="8C9A84"/>
                </a:solidFill>
                <a:latin typeface="Aptos"/>
                <a:ea typeface="Aptos"/>
                <a:cs typeface="Aptos"/>
              </a:rPr>
              <a:t>PA1 • 2026</a:t>
            </a:r>
          </a:p>
        </p:txBody>
      </p:sp>
    </p:spTree>
    <p:extLst>
      <p:ext uri="{BB962C8B-B14F-4D97-AF65-F5344CB8AC3E}">
        <p14:creationId xmlns:p14="http://schemas.microsoft.com/office/powerpoint/2010/main" val="121346113"/>
      </p:ext>
    </p:extLst>
  </p:cSld>
</p:sld>
</file>

<file path=ppt/slides/slide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2">
            <a:extLst xmlns:a="http://schemas.openxmlformats.org/drawingml/2006/main">
              <a:ext uri="{FF2B5EF4-FFF2-40B4-BE49-F238E27FC236}">
                <a16:creationId xmlns:a16="http://schemas.microsoft.com/office/drawing/2014/main" id="{223B83E7-AAFD-40B9-ABC0-58FA84CBBB05}"/>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MỤC TIÊU</a:t>
            </a:r>
          </a:p>
        </p:txBody>
      </p:sp>
      <p:sp>
        <p:nvSpPr>
          <p:cNvPr id="2" name="title-2">
            <a:extLst xmlns:a="http://schemas.openxmlformats.org/drawingml/2006/main">
              <a:ext uri="{FF2B5EF4-FFF2-40B4-BE49-F238E27FC236}">
                <a16:creationId xmlns:a16="http://schemas.microsoft.com/office/drawing/2014/main" id="{99467234-7692-4830-9B6D-53BD08FF6120}"/>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PA1 kết nối người dùng với bằng chứng</a:t>
            </a:r>
          </a:p>
        </p:txBody>
      </p:sp>
      <p:sp>
        <p:nvSpPr>
          <p:cNvPr id="3" name="">
            <a:extLst xmlns:a="http://schemas.openxmlformats.org/drawingml/2006/main">
              <a:ext uri="{FF2B5EF4-FFF2-40B4-BE49-F238E27FC236}">
                <a16:creationId xmlns:a16="http://schemas.microsoft.com/office/drawing/2014/main" id="{17531D04-1BA4-4FA5-8C1F-1C02672BA260}"/>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3A62F1D-EA57-4725-ACB6-BDBEA33A291A}"/>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1AC666A5-1638-4CDF-848E-58A682F683AD}"/>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7F332A7B-5B77-45B1-BECB-283DE31AADBF}"/>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2 / 21</a:t>
            </a:r>
          </a:p>
        </p:txBody>
      </p:sp>
      <p:sp>
        <p:nvSpPr>
          <p:cNvPr id="7" name="">
            <a:extLst xmlns:a="http://schemas.openxmlformats.org/drawingml/2006/main">
              <a:ext uri="{FF2B5EF4-FFF2-40B4-BE49-F238E27FC236}">
                <a16:creationId xmlns:a16="http://schemas.microsoft.com/office/drawing/2014/main" id="{BEEECDFC-EAEE-4D0B-B451-DFB775353B06}"/>
              </a:ext>
            </a:extLst>
          </p:cNvPr>
          <p:cNvSpPr>
            <a:spLocks xmlns:a="http://schemas.openxmlformats.org/drawingml/2006/main" noGrp="1"/>
          </p:cNvSpPr>
          <p:nvPr/>
        </p:nvSpPr>
        <p:spPr>
          <a:xfrm xmlns:a="http://schemas.openxmlformats.org/drawingml/2006/main" rot="0">
            <a:off x="609600" y="1562100"/>
            <a:ext cx="6667500" cy="4171950"/>
          </a:xfrm>
          <a:prstGeom xmlns:a="http://schemas.openxmlformats.org/drawingml/2006/main" prst="roundRect">
            <a:avLst>
              <a:gd name="adj" fmla="val 5023"/>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2a658a82e904a95"/>
          <a:stretch xmlns:a="http://schemas.openxmlformats.org/drawingml/2006/main"/>
        </p:blipFill>
        <p:spPr>
          <a:xfrm xmlns:a="http://schemas.openxmlformats.org/drawingml/2006/main">
            <a:off x="1076706" y="1657350"/>
            <a:ext cx="5733288" cy="3981450"/>
          </a:xfrm>
          <a:prstGeom xmlns:a="http://schemas.openxmlformats.org/drawingml/2006/main" prst="roundRect">
            <a:avLst>
              <a:gd name="adj" fmla="val 3349"/>
            </a:avLst>
          </a:prstGeom>
        </p:spPr>
      </p:pic>
      <p:sp>
        <p:nvSpPr>
          <p:cNvPr id="9" name="">
            <a:extLst xmlns:a="http://schemas.openxmlformats.org/drawingml/2006/main">
              <a:ext uri="{FF2B5EF4-FFF2-40B4-BE49-F238E27FC236}">
                <a16:creationId xmlns:a16="http://schemas.microsoft.com/office/drawing/2014/main" id="{E4DC55B1-74F2-4A22-8CB9-23546FD3821C}"/>
              </a:ext>
            </a:extLst>
          </p:cNvPr>
          <p:cNvSpPr>
            <a:spLocks xmlns:a="http://schemas.openxmlformats.org/drawingml/2006/main" noGrp="1"/>
          </p:cNvSpPr>
          <p:nvPr/>
        </p:nvSpPr>
        <p:spPr>
          <a:xfrm xmlns:a="http://schemas.openxmlformats.org/drawingml/2006/main" rot="0">
            <a:off x="7753350" y="1876425"/>
            <a:ext cx="133350" cy="133350"/>
          </a:xfrm>
          <a:prstGeom xmlns:a="http://schemas.openxmlformats.org/drawingml/2006/main" prst="ellipse">
            <a:avLst/>
          </a:prstGeom>
          <a:solidFill xmlns:a="http://schemas.openxmlformats.org/drawingml/2006/main">
            <a:srgbClr val="C7776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81D7E6B-7495-4C82-8326-D111D5B2460A}"/>
              </a:ext>
            </a:extLst>
          </p:cNvPr>
          <p:cNvSpPr>
            <a:spLocks xmlns:a="http://schemas.openxmlformats.org/drawingml/2006/main" noGrp="1"/>
          </p:cNvSpPr>
          <p:nvPr/>
        </p:nvSpPr>
        <p:spPr>
          <a:xfrm xmlns:a="http://schemas.openxmlformats.org/drawingml/2006/main" rot="0">
            <a:off x="8020050" y="1828800"/>
            <a:ext cx="335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i="0">
                <a:solidFill>
                  <a:srgbClr val="24332B"/>
                </a:solidFill>
                <a:latin typeface="Aptos"/>
                <a:ea typeface="Aptos"/>
                <a:cs typeface="Aptos"/>
              </a:defRPr>
            </a:pPr>
            <a:r>
              <a:rPr sz="1725" b="1" i="0">
                <a:solidFill>
                  <a:srgbClr val="24332B"/>
                </a:solidFill>
                <a:latin typeface="Aptos"/>
                <a:ea typeface="Aptos"/>
                <a:cs typeface="Aptos"/>
              </a:rPr>
              <a:t>Hiểu người dùng</a:t>
            </a:r>
          </a:p>
        </p:txBody>
      </p:sp>
      <p:sp>
        <p:nvSpPr>
          <p:cNvPr id="11" name="">
            <a:extLst xmlns:a="http://schemas.openxmlformats.org/drawingml/2006/main">
              <a:ext uri="{FF2B5EF4-FFF2-40B4-BE49-F238E27FC236}">
                <a16:creationId xmlns:a16="http://schemas.microsoft.com/office/drawing/2014/main" id="{4C4979F5-5A22-47B1-8554-A25B3FC88268}"/>
              </a:ext>
            </a:extLst>
          </p:cNvPr>
          <p:cNvSpPr>
            <a:spLocks xmlns:a="http://schemas.openxmlformats.org/drawingml/2006/main" noGrp="1"/>
          </p:cNvSpPr>
          <p:nvPr/>
        </p:nvSpPr>
        <p:spPr>
          <a:xfrm xmlns:a="http://schemas.openxmlformats.org/drawingml/2006/main" rot="0">
            <a:off x="8020050" y="2152650"/>
            <a:ext cx="335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i="0">
                <a:solidFill>
                  <a:srgbClr val="66745F"/>
                </a:solidFill>
                <a:latin typeface="Aptos"/>
                <a:ea typeface="Aptos"/>
                <a:cs typeface="Aptos"/>
              </a:defRPr>
            </a:pPr>
            <a:r>
              <a:rPr sz="1500" b="0" i="0">
                <a:solidFill>
                  <a:srgbClr val="66745F"/>
                </a:solidFill>
                <a:latin typeface="Aptos"/>
                <a:ea typeface="Aptos"/>
                <a:cs typeface="Aptos"/>
              </a:rPr>
              <a:t>Persona, bối cảnh, thiết bị và mức chú ý.</a:t>
            </a:r>
          </a:p>
        </p:txBody>
      </p:sp>
      <p:sp>
        <p:nvSpPr>
          <p:cNvPr id="12" name="">
            <a:extLst xmlns:a="http://schemas.openxmlformats.org/drawingml/2006/main">
              <a:ext uri="{FF2B5EF4-FFF2-40B4-BE49-F238E27FC236}">
                <a16:creationId xmlns:a16="http://schemas.microsoft.com/office/drawing/2014/main" id="{CDF1FF8B-A170-43E4-8ECD-B93518B36CF7}"/>
              </a:ext>
            </a:extLst>
          </p:cNvPr>
          <p:cNvSpPr>
            <a:spLocks xmlns:a="http://schemas.openxmlformats.org/drawingml/2006/main" noGrp="1"/>
          </p:cNvSpPr>
          <p:nvPr/>
        </p:nvSpPr>
        <p:spPr>
          <a:xfrm xmlns:a="http://schemas.openxmlformats.org/drawingml/2006/main" rot="0">
            <a:off x="7753350" y="3038475"/>
            <a:ext cx="133350" cy="133350"/>
          </a:xfrm>
          <a:prstGeom xmlns:a="http://schemas.openxmlformats.org/drawingml/2006/main" prst="ellipse">
            <a:avLst/>
          </a:prstGeom>
          <a:solidFill xmlns:a="http://schemas.openxmlformats.org/drawingml/2006/main">
            <a:srgbClr val="8C9A8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81D0934-FD8A-4868-A424-A2DF100AADC1}"/>
              </a:ext>
            </a:extLst>
          </p:cNvPr>
          <p:cNvSpPr>
            <a:spLocks xmlns:a="http://schemas.openxmlformats.org/drawingml/2006/main" noGrp="1"/>
          </p:cNvSpPr>
          <p:nvPr/>
        </p:nvSpPr>
        <p:spPr>
          <a:xfrm xmlns:a="http://schemas.openxmlformats.org/drawingml/2006/main" rot="0">
            <a:off x="8020050" y="2990850"/>
            <a:ext cx="335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i="0">
                <a:solidFill>
                  <a:srgbClr val="24332B"/>
                </a:solidFill>
                <a:latin typeface="Aptos"/>
                <a:ea typeface="Aptos"/>
                <a:cs typeface="Aptos"/>
              </a:defRPr>
            </a:pPr>
            <a:r>
              <a:rPr sz="1725" b="1" i="0">
                <a:solidFill>
                  <a:srgbClr val="24332B"/>
                </a:solidFill>
                <a:latin typeface="Aptos"/>
                <a:ea typeface="Aptos"/>
                <a:cs typeface="Aptos"/>
              </a:rPr>
              <a:t>Quan sát hành vi</a:t>
            </a:r>
          </a:p>
        </p:txBody>
      </p:sp>
      <p:sp>
        <p:nvSpPr>
          <p:cNvPr id="14" name="">
            <a:extLst xmlns:a="http://schemas.openxmlformats.org/drawingml/2006/main">
              <a:ext uri="{FF2B5EF4-FFF2-40B4-BE49-F238E27FC236}">
                <a16:creationId xmlns:a16="http://schemas.microsoft.com/office/drawing/2014/main" id="{DC934A2E-CC5B-43DF-9B87-59FC978029A5}"/>
              </a:ext>
            </a:extLst>
          </p:cNvPr>
          <p:cNvSpPr>
            <a:spLocks xmlns:a="http://schemas.openxmlformats.org/drawingml/2006/main" noGrp="1"/>
          </p:cNvSpPr>
          <p:nvPr/>
        </p:nvSpPr>
        <p:spPr>
          <a:xfrm xmlns:a="http://schemas.openxmlformats.org/drawingml/2006/main" rot="0">
            <a:off x="8020050" y="3314700"/>
            <a:ext cx="335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i="0">
                <a:solidFill>
                  <a:srgbClr val="66745F"/>
                </a:solidFill>
                <a:latin typeface="Aptos"/>
                <a:ea typeface="Aptos"/>
                <a:cs typeface="Aptos"/>
              </a:defRPr>
            </a:pPr>
            <a:r>
              <a:rPr sz="1500" b="0" i="0">
                <a:solidFill>
                  <a:srgbClr val="66745F"/>
                </a:solidFill>
                <a:latin typeface="Aptos"/>
                <a:ea typeface="Aptos"/>
                <a:cs typeface="Aptos"/>
              </a:rPr>
              <a:t>Theo dõi tác vụ thật bằng ảnh có chú thích.</a:t>
            </a:r>
          </a:p>
        </p:txBody>
      </p:sp>
      <p:sp>
        <p:nvSpPr>
          <p:cNvPr id="15" name="">
            <a:extLst xmlns:a="http://schemas.openxmlformats.org/drawingml/2006/main">
              <a:ext uri="{FF2B5EF4-FFF2-40B4-BE49-F238E27FC236}">
                <a16:creationId xmlns:a16="http://schemas.microsoft.com/office/drawing/2014/main" id="{14C175EA-30EF-454F-9DD9-58B1C838EBB9}"/>
              </a:ext>
            </a:extLst>
          </p:cNvPr>
          <p:cNvSpPr>
            <a:spLocks xmlns:a="http://schemas.openxmlformats.org/drawingml/2006/main" noGrp="1"/>
          </p:cNvSpPr>
          <p:nvPr/>
        </p:nvSpPr>
        <p:spPr>
          <a:xfrm xmlns:a="http://schemas.openxmlformats.org/drawingml/2006/main" rot="0">
            <a:off x="7753350" y="4200525"/>
            <a:ext cx="133350" cy="133350"/>
          </a:xfrm>
          <a:prstGeom xmlns:a="http://schemas.openxmlformats.org/drawingml/2006/main" prst="ellipse">
            <a:avLst/>
          </a:prstGeom>
          <a:solidFill xmlns:a="http://schemas.openxmlformats.org/drawingml/2006/main">
            <a:srgbClr val="C7776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1EDDF4D-53D7-4A5B-A2BB-386B092D6BBE}"/>
              </a:ext>
            </a:extLst>
          </p:cNvPr>
          <p:cNvSpPr>
            <a:spLocks xmlns:a="http://schemas.openxmlformats.org/drawingml/2006/main" noGrp="1"/>
          </p:cNvSpPr>
          <p:nvPr/>
        </p:nvSpPr>
        <p:spPr>
          <a:xfrm xmlns:a="http://schemas.openxmlformats.org/drawingml/2006/main" rot="0">
            <a:off x="8020050" y="4152900"/>
            <a:ext cx="335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i="0">
                <a:solidFill>
                  <a:srgbClr val="24332B"/>
                </a:solidFill>
                <a:latin typeface="Aptos"/>
                <a:ea typeface="Aptos"/>
                <a:cs typeface="Aptos"/>
              </a:defRPr>
            </a:pPr>
            <a:r>
              <a:rPr sz="1725" b="1" i="0">
                <a:solidFill>
                  <a:srgbClr val="24332B"/>
                </a:solidFill>
                <a:latin typeface="Aptos"/>
                <a:ea typeface="Aptos"/>
                <a:cs typeface="Aptos"/>
              </a:rPr>
              <a:t>Đề xuất có truy vết</a:t>
            </a:r>
          </a:p>
        </p:txBody>
      </p:sp>
      <p:sp>
        <p:nvSpPr>
          <p:cNvPr id="17" name="">
            <a:extLst xmlns:a="http://schemas.openxmlformats.org/drawingml/2006/main">
              <a:ext uri="{FF2B5EF4-FFF2-40B4-BE49-F238E27FC236}">
                <a16:creationId xmlns:a16="http://schemas.microsoft.com/office/drawing/2014/main" id="{B6BC0870-F9BB-44C9-8120-90C447D34CF1}"/>
              </a:ext>
            </a:extLst>
          </p:cNvPr>
          <p:cNvSpPr>
            <a:spLocks xmlns:a="http://schemas.openxmlformats.org/drawingml/2006/main" noGrp="1"/>
          </p:cNvSpPr>
          <p:nvPr/>
        </p:nvSpPr>
        <p:spPr>
          <a:xfrm xmlns:a="http://schemas.openxmlformats.org/drawingml/2006/main" rot="0">
            <a:off x="8020050" y="4476750"/>
            <a:ext cx="335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i="0">
                <a:solidFill>
                  <a:srgbClr val="66745F"/>
                </a:solidFill>
                <a:latin typeface="Aptos"/>
                <a:ea typeface="Aptos"/>
                <a:cs typeface="Aptos"/>
              </a:defRPr>
            </a:pPr>
            <a:r>
              <a:rPr sz="1500" b="0" i="0">
                <a:solidFill>
                  <a:srgbClr val="66745F"/>
                </a:solidFill>
                <a:latin typeface="Aptos"/>
                <a:ea typeface="Aptos"/>
                <a:cs typeface="Aptos"/>
              </a:rPr>
              <a:t>Mỗi giải pháp nối với bằng chứng và nguyên tắc HCI.</a:t>
            </a:r>
          </a:p>
        </p:txBody>
      </p:sp>
      <p:sp>
        <p:nvSpPr>
          <p:cNvPr id="18" name="">
            <a:extLst xmlns:a="http://schemas.openxmlformats.org/drawingml/2006/main">
              <a:ext uri="{FF2B5EF4-FFF2-40B4-BE49-F238E27FC236}">
                <a16:creationId xmlns:a16="http://schemas.microsoft.com/office/drawing/2014/main" id="{CA5C9F02-D93D-4C52-B9FF-548DBB1B0783}"/>
              </a:ext>
            </a:extLst>
          </p:cNvPr>
          <p:cNvSpPr>
            <a:spLocks xmlns:a="http://schemas.openxmlformats.org/drawingml/2006/main" noGrp="1"/>
          </p:cNvSpPr>
          <p:nvPr/>
        </p:nvSpPr>
        <p:spPr>
          <a:xfrm xmlns:a="http://schemas.openxmlformats.org/drawingml/2006/main" rot="0">
            <a:off x="7753350" y="5391150"/>
            <a:ext cx="361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i="0">
                <a:solidFill>
                  <a:srgbClr val="24332B"/>
                </a:solidFill>
                <a:latin typeface="Aptos"/>
                <a:ea typeface="Aptos"/>
                <a:cs typeface="Aptos"/>
              </a:defRPr>
            </a:pPr>
            <a:r>
              <a:rPr sz="1800" b="1" i="0">
                <a:solidFill>
                  <a:srgbClr val="24332B"/>
                </a:solidFill>
                <a:latin typeface="Aptos"/>
                <a:ea typeface="Aptos"/>
                <a:cs typeface="Aptos"/>
              </a:rPr>
              <a:t>Kết quả: khuyến nghị có thể kiểm tra trên giao diện.</a:t>
            </a:r>
          </a:p>
        </p:txBody>
      </p:sp>
    </p:spTree>
    <p:extLst>
      <p:ext uri="{BB962C8B-B14F-4D97-AF65-F5344CB8AC3E}">
        <p14:creationId xmlns:p14="http://schemas.microsoft.com/office/powerpoint/2010/main" val="185882031"/>
      </p:ext>
    </p:extLst>
  </p:cSld>
</p:sld>
</file>

<file path=ppt/slides/slide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3">
            <a:extLst xmlns:a="http://schemas.openxmlformats.org/drawingml/2006/main">
              <a:ext uri="{FF2B5EF4-FFF2-40B4-BE49-F238E27FC236}">
                <a16:creationId xmlns:a16="http://schemas.microsoft.com/office/drawing/2014/main" id="{13C1E751-3FED-40B2-896C-8C01E6FCD4DC}"/>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PHƯƠNG PHÁP NGHIÊN CỨU</a:t>
            </a:r>
          </a:p>
        </p:txBody>
      </p:sp>
      <p:sp>
        <p:nvSpPr>
          <p:cNvPr id="2" name="title-3">
            <a:extLst xmlns:a="http://schemas.openxmlformats.org/drawingml/2006/main">
              <a:ext uri="{FF2B5EF4-FFF2-40B4-BE49-F238E27FC236}">
                <a16:creationId xmlns:a16="http://schemas.microsoft.com/office/drawing/2014/main" id="{DEB19A75-ABB3-494B-B5DF-7CFC003FC200}"/>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Nghiên cứu theo chuỗi có thể kiểm tra</a:t>
            </a:r>
          </a:p>
        </p:txBody>
      </p:sp>
      <p:sp>
        <p:nvSpPr>
          <p:cNvPr id="3" name="">
            <a:extLst xmlns:a="http://schemas.openxmlformats.org/drawingml/2006/main">
              <a:ext uri="{FF2B5EF4-FFF2-40B4-BE49-F238E27FC236}">
                <a16:creationId xmlns:a16="http://schemas.microsoft.com/office/drawing/2014/main" id="{0EB6BD5C-2556-43EE-9FEB-C9C55724F092}"/>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EB287B5-18B9-43E8-99DD-71718BD30D4D}"/>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03</a:t>
            </a:r>
          </a:p>
        </p:txBody>
      </p:sp>
      <p:sp>
        <p:nvSpPr>
          <p:cNvPr id="5" name="">
            <a:extLst xmlns:a="http://schemas.openxmlformats.org/drawingml/2006/main">
              <a:ext uri="{FF2B5EF4-FFF2-40B4-BE49-F238E27FC236}">
                <a16:creationId xmlns:a16="http://schemas.microsoft.com/office/drawing/2014/main" id="{8F17FC64-5439-4573-90F4-0D826CC3B9D0}"/>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4CE9EF1C-AC73-419A-B870-4D41E63D81EC}"/>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3 / 21</a:t>
            </a:r>
          </a:p>
        </p:txBody>
      </p:sp>
      <p:sp>
        <p:nvSpPr>
          <p:cNvPr id="7" name="">
            <a:extLst xmlns:a="http://schemas.openxmlformats.org/drawingml/2006/main">
              <a:ext uri="{FF2B5EF4-FFF2-40B4-BE49-F238E27FC236}">
                <a16:creationId xmlns:a16="http://schemas.microsoft.com/office/drawing/2014/main" id="{E4C4A4D4-7723-4C9A-BC0E-3E8E4583AD3D}"/>
              </a:ext>
            </a:extLst>
          </p:cNvPr>
          <p:cNvSpPr>
            <a:spLocks xmlns:a="http://schemas.openxmlformats.org/drawingml/2006/main" noGrp="1"/>
          </p:cNvSpPr>
          <p:nvPr/>
        </p:nvSpPr>
        <p:spPr>
          <a:xfrm xmlns:a="http://schemas.openxmlformats.org/drawingml/2006/main" rot="0">
            <a:off x="609600" y="2057400"/>
            <a:ext cx="1790700" cy="704850"/>
          </a:xfrm>
          <a:prstGeom xmlns:a="http://schemas.openxmlformats.org/drawingml/2006/main" prst="roundRect">
            <a:avLst>
              <a:gd name="adj" fmla="val 29730"/>
            </a:avLst>
          </a:prstGeom>
          <a:solidFill xmlns:a="http://schemas.openxmlformats.org/drawingml/2006/main">
            <a:srgbClr val="FFFFFF"/>
          </a:solidFill>
          <a:ln xmlns:a="http://schemas.openxmlformats.org/drawingml/2006/main" w="19050">
            <a:solidFill>
              <a:srgbClr val="8C9A8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21224862-B4F4-49BE-9C14-45AF35C5765B}"/>
              </a:ext>
            </a:extLst>
          </p:cNvPr>
          <p:cNvSpPr>
            <a:spLocks xmlns:a="http://schemas.openxmlformats.org/drawingml/2006/main" noGrp="1"/>
          </p:cNvSpPr>
          <p:nvPr/>
        </p:nvSpPr>
        <p:spPr>
          <a:xfrm xmlns:a="http://schemas.openxmlformats.org/drawingml/2006/main" rot="0">
            <a:off x="723900" y="2238375"/>
            <a:ext cx="156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i="0">
                <a:solidFill>
                  <a:srgbClr val="24332B"/>
                </a:solidFill>
                <a:latin typeface="Aptos"/>
                <a:ea typeface="Aptos"/>
                <a:cs typeface="Aptos"/>
              </a:defRPr>
            </a:pPr>
            <a:r>
              <a:rPr sz="1650" b="1" i="0">
                <a:solidFill>
                  <a:srgbClr val="24332B"/>
                </a:solidFill>
                <a:latin typeface="Aptos"/>
                <a:ea typeface="Aptos"/>
                <a:cs typeface="Aptos"/>
              </a:rPr>
              <a:t>Nguồn chính thức</a:t>
            </a:r>
          </a:p>
        </p:txBody>
      </p:sp>
      <p:sp>
        <p:nvSpPr>
          <p:cNvPr id="9" name="">
            <a:extLst xmlns:a="http://schemas.openxmlformats.org/drawingml/2006/main">
              <a:ext uri="{FF2B5EF4-FFF2-40B4-BE49-F238E27FC236}">
                <a16:creationId xmlns:a16="http://schemas.microsoft.com/office/drawing/2014/main" id="{F178CDB4-BCC1-40AC-BD03-C955F83D0B84}"/>
              </a:ext>
            </a:extLst>
          </p:cNvPr>
          <p:cNvSpPr>
            <a:spLocks xmlns:a="http://schemas.openxmlformats.org/drawingml/2006/main" noGrp="1"/>
          </p:cNvSpPr>
          <p:nvPr/>
        </p:nvSpPr>
        <p:spPr>
          <a:xfrm xmlns:a="http://schemas.openxmlformats.org/drawingml/2006/main" rot="0">
            <a:off x="2419350" y="2390775"/>
            <a:ext cx="20955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524F138-CEA4-4221-9EEC-FABEF0C45A6F}"/>
              </a:ext>
            </a:extLst>
          </p:cNvPr>
          <p:cNvSpPr>
            <a:spLocks xmlns:a="http://schemas.openxmlformats.org/drawingml/2006/main" noGrp="1"/>
          </p:cNvSpPr>
          <p:nvPr/>
        </p:nvSpPr>
        <p:spPr>
          <a:xfrm xmlns:a="http://schemas.openxmlformats.org/drawingml/2006/main" rot="0">
            <a:off x="2571750" y="2305050"/>
            <a:ext cx="190500" cy="209550"/>
          </a:xfrm>
          <a:prstGeom xmlns:a="http://schemas.openxmlformats.org/drawingml/2006/main" prst="chevron">
            <a:avLst/>
          </a:prstGeom>
          <a:solidFill xmlns:a="http://schemas.openxmlformats.org/drawingml/2006/main">
            <a:srgbClr val="8C9A8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7327C7A-1592-4B21-B4C5-3D89FF96DA84}"/>
              </a:ext>
            </a:extLst>
          </p:cNvPr>
          <p:cNvSpPr>
            <a:spLocks xmlns:a="http://schemas.openxmlformats.org/drawingml/2006/main" noGrp="1"/>
          </p:cNvSpPr>
          <p:nvPr/>
        </p:nvSpPr>
        <p:spPr>
          <a:xfrm xmlns:a="http://schemas.openxmlformats.org/drawingml/2006/main" rot="0">
            <a:off x="2781300" y="2057400"/>
            <a:ext cx="1790700" cy="704850"/>
          </a:xfrm>
          <a:prstGeom xmlns:a="http://schemas.openxmlformats.org/drawingml/2006/main" prst="roundRect">
            <a:avLst>
              <a:gd name="adj" fmla="val 29730"/>
            </a:avLst>
          </a:prstGeom>
          <a:solidFill xmlns:a="http://schemas.openxmlformats.org/drawingml/2006/main">
            <a:srgbClr val="FFFFFF"/>
          </a:solidFill>
          <a:ln xmlns:a="http://schemas.openxmlformats.org/drawingml/2006/main" w="19050">
            <a:solidFill>
              <a:srgbClr val="C7776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E5568D5D-6E8F-4176-A6C6-4A38ACB4EFC4}"/>
              </a:ext>
            </a:extLst>
          </p:cNvPr>
          <p:cNvSpPr>
            <a:spLocks xmlns:a="http://schemas.openxmlformats.org/drawingml/2006/main" noGrp="1"/>
          </p:cNvSpPr>
          <p:nvPr/>
        </p:nvSpPr>
        <p:spPr>
          <a:xfrm xmlns:a="http://schemas.openxmlformats.org/drawingml/2006/main" rot="0">
            <a:off x="2895600" y="2238375"/>
            <a:ext cx="156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i="0">
                <a:solidFill>
                  <a:srgbClr val="24332B"/>
                </a:solidFill>
                <a:latin typeface="Aptos"/>
                <a:ea typeface="Aptos"/>
                <a:cs typeface="Aptos"/>
              </a:defRPr>
            </a:pPr>
            <a:r>
              <a:rPr sz="1650" b="1" i="0">
                <a:solidFill>
                  <a:srgbClr val="24332B"/>
                </a:solidFill>
                <a:latin typeface="Aptos"/>
                <a:ea typeface="Aptos"/>
                <a:cs typeface="Aptos"/>
              </a:rPr>
              <a:t>Ảnh đa thiết bị</a:t>
            </a:r>
          </a:p>
        </p:txBody>
      </p:sp>
      <p:sp>
        <p:nvSpPr>
          <p:cNvPr id="13" name="">
            <a:extLst xmlns:a="http://schemas.openxmlformats.org/drawingml/2006/main">
              <a:ext uri="{FF2B5EF4-FFF2-40B4-BE49-F238E27FC236}">
                <a16:creationId xmlns:a16="http://schemas.microsoft.com/office/drawing/2014/main" id="{70272571-9CE1-47CD-BD14-D35A3BF03112}"/>
              </a:ext>
            </a:extLst>
          </p:cNvPr>
          <p:cNvSpPr>
            <a:spLocks xmlns:a="http://schemas.openxmlformats.org/drawingml/2006/main" noGrp="1"/>
          </p:cNvSpPr>
          <p:nvPr/>
        </p:nvSpPr>
        <p:spPr>
          <a:xfrm xmlns:a="http://schemas.openxmlformats.org/drawingml/2006/main" rot="0">
            <a:off x="4591050" y="2390775"/>
            <a:ext cx="20955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B47F6AA-7618-42EC-A316-6D196D1DA288}"/>
              </a:ext>
            </a:extLst>
          </p:cNvPr>
          <p:cNvSpPr>
            <a:spLocks xmlns:a="http://schemas.openxmlformats.org/drawingml/2006/main" noGrp="1"/>
          </p:cNvSpPr>
          <p:nvPr/>
        </p:nvSpPr>
        <p:spPr>
          <a:xfrm xmlns:a="http://schemas.openxmlformats.org/drawingml/2006/main" rot="0">
            <a:off x="4743450" y="2305050"/>
            <a:ext cx="190500" cy="209550"/>
          </a:xfrm>
          <a:prstGeom xmlns:a="http://schemas.openxmlformats.org/drawingml/2006/main" prst="chevron">
            <a:avLst/>
          </a:prstGeom>
          <a:solidFill xmlns:a="http://schemas.openxmlformats.org/drawingml/2006/main">
            <a:srgbClr val="8C9A8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C6F7A8D-49D7-44DD-A864-6362EB45A4B0}"/>
              </a:ext>
            </a:extLst>
          </p:cNvPr>
          <p:cNvSpPr>
            <a:spLocks xmlns:a="http://schemas.openxmlformats.org/drawingml/2006/main" noGrp="1"/>
          </p:cNvSpPr>
          <p:nvPr/>
        </p:nvSpPr>
        <p:spPr>
          <a:xfrm xmlns:a="http://schemas.openxmlformats.org/drawingml/2006/main" rot="0">
            <a:off x="4953000" y="2057400"/>
            <a:ext cx="1790700" cy="704850"/>
          </a:xfrm>
          <a:prstGeom xmlns:a="http://schemas.openxmlformats.org/drawingml/2006/main" prst="roundRect">
            <a:avLst>
              <a:gd name="adj" fmla="val 29730"/>
            </a:avLst>
          </a:prstGeom>
          <a:solidFill xmlns:a="http://schemas.openxmlformats.org/drawingml/2006/main">
            <a:srgbClr val="FFFFFF"/>
          </a:solidFill>
          <a:ln xmlns:a="http://schemas.openxmlformats.org/drawingml/2006/main" w="19050">
            <a:solidFill>
              <a:srgbClr val="8C9A8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4DB7A80E-5A59-43A9-8503-8BDA1FDC6310}"/>
              </a:ext>
            </a:extLst>
          </p:cNvPr>
          <p:cNvSpPr>
            <a:spLocks xmlns:a="http://schemas.openxmlformats.org/drawingml/2006/main" noGrp="1"/>
          </p:cNvSpPr>
          <p:nvPr/>
        </p:nvSpPr>
        <p:spPr>
          <a:xfrm xmlns:a="http://schemas.openxmlformats.org/drawingml/2006/main" rot="0">
            <a:off x="5067300" y="2238375"/>
            <a:ext cx="156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i="0">
                <a:solidFill>
                  <a:srgbClr val="24332B"/>
                </a:solidFill>
                <a:latin typeface="Aptos"/>
                <a:ea typeface="Aptos"/>
                <a:cs typeface="Aptos"/>
              </a:defRPr>
            </a:pPr>
            <a:r>
              <a:rPr sz="1650" b="1" i="0">
                <a:solidFill>
                  <a:srgbClr val="24332B"/>
                </a:solidFill>
                <a:latin typeface="Aptos"/>
                <a:ea typeface="Aptos"/>
                <a:cs typeface="Aptos"/>
              </a:rPr>
              <a:t>Chú thích HCI</a:t>
            </a:r>
          </a:p>
        </p:txBody>
      </p:sp>
      <p:sp>
        <p:nvSpPr>
          <p:cNvPr id="17" name="">
            <a:extLst xmlns:a="http://schemas.openxmlformats.org/drawingml/2006/main">
              <a:ext uri="{FF2B5EF4-FFF2-40B4-BE49-F238E27FC236}">
                <a16:creationId xmlns:a16="http://schemas.microsoft.com/office/drawing/2014/main" id="{41BE9465-4846-44AA-A391-A9E21C0D1DAD}"/>
              </a:ext>
            </a:extLst>
          </p:cNvPr>
          <p:cNvSpPr>
            <a:spLocks xmlns:a="http://schemas.openxmlformats.org/drawingml/2006/main" noGrp="1"/>
          </p:cNvSpPr>
          <p:nvPr/>
        </p:nvSpPr>
        <p:spPr>
          <a:xfrm xmlns:a="http://schemas.openxmlformats.org/drawingml/2006/main" rot="0">
            <a:off x="6762750" y="2390775"/>
            <a:ext cx="20955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2A8CA71-6816-441F-9C2C-27306266A6E0}"/>
              </a:ext>
            </a:extLst>
          </p:cNvPr>
          <p:cNvSpPr>
            <a:spLocks xmlns:a="http://schemas.openxmlformats.org/drawingml/2006/main" noGrp="1"/>
          </p:cNvSpPr>
          <p:nvPr/>
        </p:nvSpPr>
        <p:spPr>
          <a:xfrm xmlns:a="http://schemas.openxmlformats.org/drawingml/2006/main" rot="0">
            <a:off x="6915150" y="2305050"/>
            <a:ext cx="190500" cy="209550"/>
          </a:xfrm>
          <a:prstGeom xmlns:a="http://schemas.openxmlformats.org/drawingml/2006/main" prst="chevron">
            <a:avLst/>
          </a:prstGeom>
          <a:solidFill xmlns:a="http://schemas.openxmlformats.org/drawingml/2006/main">
            <a:srgbClr val="8C9A8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C6E55F5-8D78-461A-BBD8-9334F7C6E67B}"/>
              </a:ext>
            </a:extLst>
          </p:cNvPr>
          <p:cNvSpPr>
            <a:spLocks xmlns:a="http://schemas.openxmlformats.org/drawingml/2006/main" noGrp="1"/>
          </p:cNvSpPr>
          <p:nvPr/>
        </p:nvSpPr>
        <p:spPr>
          <a:xfrm xmlns:a="http://schemas.openxmlformats.org/drawingml/2006/main" rot="0">
            <a:off x="7124700" y="2057400"/>
            <a:ext cx="1790700" cy="704850"/>
          </a:xfrm>
          <a:prstGeom xmlns:a="http://schemas.openxmlformats.org/drawingml/2006/main" prst="roundRect">
            <a:avLst>
              <a:gd name="adj" fmla="val 29730"/>
            </a:avLst>
          </a:prstGeom>
          <a:solidFill xmlns:a="http://schemas.openxmlformats.org/drawingml/2006/main">
            <a:srgbClr val="FFFFFF"/>
          </a:solidFill>
          <a:ln xmlns:a="http://schemas.openxmlformats.org/drawingml/2006/main" w="19050">
            <a:solidFill>
              <a:srgbClr val="C7776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61A622B2-0820-4015-915C-FAF0847BA25F}"/>
              </a:ext>
            </a:extLst>
          </p:cNvPr>
          <p:cNvSpPr>
            <a:spLocks xmlns:a="http://schemas.openxmlformats.org/drawingml/2006/main" noGrp="1"/>
          </p:cNvSpPr>
          <p:nvPr/>
        </p:nvSpPr>
        <p:spPr>
          <a:xfrm xmlns:a="http://schemas.openxmlformats.org/drawingml/2006/main" rot="0">
            <a:off x="7239000" y="2238375"/>
            <a:ext cx="156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i="0">
                <a:solidFill>
                  <a:srgbClr val="24332B"/>
                </a:solidFill>
                <a:latin typeface="Aptos"/>
                <a:ea typeface="Aptos"/>
                <a:cs typeface="Aptos"/>
              </a:defRPr>
            </a:pPr>
            <a:r>
              <a:rPr sz="1650" b="1" i="0">
                <a:solidFill>
                  <a:srgbClr val="24332B"/>
                </a:solidFill>
                <a:latin typeface="Aptos"/>
                <a:ea typeface="Aptos"/>
                <a:cs typeface="Aptos"/>
              </a:rPr>
              <a:t>Đối chiếu</a:t>
            </a:r>
          </a:p>
        </p:txBody>
      </p:sp>
      <p:sp>
        <p:nvSpPr>
          <p:cNvPr id="21" name="">
            <a:extLst xmlns:a="http://schemas.openxmlformats.org/drawingml/2006/main">
              <a:ext uri="{FF2B5EF4-FFF2-40B4-BE49-F238E27FC236}">
                <a16:creationId xmlns:a16="http://schemas.microsoft.com/office/drawing/2014/main" id="{A6FD60C1-3545-498C-BCBA-EA4BAB179F72}"/>
              </a:ext>
            </a:extLst>
          </p:cNvPr>
          <p:cNvSpPr>
            <a:spLocks xmlns:a="http://schemas.openxmlformats.org/drawingml/2006/main" noGrp="1"/>
          </p:cNvSpPr>
          <p:nvPr/>
        </p:nvSpPr>
        <p:spPr>
          <a:xfrm xmlns:a="http://schemas.openxmlformats.org/drawingml/2006/main" rot="0">
            <a:off x="8934450" y="2390775"/>
            <a:ext cx="20955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6B8572D-2149-43FA-8BB0-7E05C6AC49F8}"/>
              </a:ext>
            </a:extLst>
          </p:cNvPr>
          <p:cNvSpPr>
            <a:spLocks xmlns:a="http://schemas.openxmlformats.org/drawingml/2006/main" noGrp="1"/>
          </p:cNvSpPr>
          <p:nvPr/>
        </p:nvSpPr>
        <p:spPr>
          <a:xfrm xmlns:a="http://schemas.openxmlformats.org/drawingml/2006/main" rot="0">
            <a:off x="9086850" y="2305050"/>
            <a:ext cx="190500" cy="209550"/>
          </a:xfrm>
          <a:prstGeom xmlns:a="http://schemas.openxmlformats.org/drawingml/2006/main" prst="chevron">
            <a:avLst/>
          </a:prstGeom>
          <a:solidFill xmlns:a="http://schemas.openxmlformats.org/drawingml/2006/main">
            <a:srgbClr val="8C9A8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BE0E413-670C-4CD7-93A4-75D698299096}"/>
              </a:ext>
            </a:extLst>
          </p:cNvPr>
          <p:cNvSpPr>
            <a:spLocks xmlns:a="http://schemas.openxmlformats.org/drawingml/2006/main" noGrp="1"/>
          </p:cNvSpPr>
          <p:nvPr/>
        </p:nvSpPr>
        <p:spPr>
          <a:xfrm xmlns:a="http://schemas.openxmlformats.org/drawingml/2006/main" rot="0">
            <a:off x="9296400" y="2057400"/>
            <a:ext cx="1790700" cy="704850"/>
          </a:xfrm>
          <a:prstGeom xmlns:a="http://schemas.openxmlformats.org/drawingml/2006/main" prst="roundRect">
            <a:avLst>
              <a:gd name="adj" fmla="val 29730"/>
            </a:avLst>
          </a:prstGeom>
          <a:solidFill xmlns:a="http://schemas.openxmlformats.org/drawingml/2006/main">
            <a:srgbClr val="FFFFFF"/>
          </a:solidFill>
          <a:ln xmlns:a="http://schemas.openxmlformats.org/drawingml/2006/main" w="19050">
            <a:solidFill>
              <a:srgbClr val="8C9A8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2C396FB4-B989-4261-B5B8-3CAB109C5FA3}"/>
              </a:ext>
            </a:extLst>
          </p:cNvPr>
          <p:cNvSpPr>
            <a:spLocks xmlns:a="http://schemas.openxmlformats.org/drawingml/2006/main" noGrp="1"/>
          </p:cNvSpPr>
          <p:nvPr/>
        </p:nvSpPr>
        <p:spPr>
          <a:xfrm xmlns:a="http://schemas.openxmlformats.org/drawingml/2006/main" rot="0">
            <a:off x="9410700" y="2238375"/>
            <a:ext cx="1562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i="0">
                <a:solidFill>
                  <a:srgbClr val="24332B"/>
                </a:solidFill>
                <a:latin typeface="Aptos"/>
                <a:ea typeface="Aptos"/>
                <a:cs typeface="Aptos"/>
              </a:defRPr>
            </a:pPr>
            <a:r>
              <a:rPr sz="1650" b="1" i="0">
                <a:solidFill>
                  <a:srgbClr val="24332B"/>
                </a:solidFill>
                <a:latin typeface="Aptos"/>
                <a:ea typeface="Aptos"/>
                <a:cs typeface="Aptos"/>
              </a:rPr>
              <a:t>Kiểm định</a:t>
            </a:r>
          </a:p>
        </p:txBody>
      </p:sp>
      <p:sp>
        <p:nvSpPr>
          <p:cNvPr id="25" name="">
            <a:extLst xmlns:a="http://schemas.openxmlformats.org/drawingml/2006/main">
              <a:ext uri="{FF2B5EF4-FFF2-40B4-BE49-F238E27FC236}">
                <a16:creationId xmlns:a16="http://schemas.microsoft.com/office/drawing/2014/main" id="{83CB8507-5A3A-4A67-A5D7-396C0BB09C50}"/>
              </a:ext>
            </a:extLst>
          </p:cNvPr>
          <p:cNvSpPr>
            <a:spLocks xmlns:a="http://schemas.openxmlformats.org/drawingml/2006/main" noGrp="1"/>
          </p:cNvSpPr>
          <p:nvPr/>
        </p:nvSpPr>
        <p:spPr>
          <a:xfrm xmlns:a="http://schemas.openxmlformats.org/drawingml/2006/main" rot="0">
            <a:off x="990600" y="3390900"/>
            <a:ext cx="2190750" cy="2724150"/>
          </a:xfrm>
          <a:prstGeom xmlns:a="http://schemas.openxmlformats.org/drawingml/2006/main" prst="roundRect">
            <a:avLst>
              <a:gd name="adj" fmla="val 9565"/>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61375e6ac3f14cbf"/>
          <a:stretch xmlns:a="http://schemas.openxmlformats.org/drawingml/2006/main"/>
        </p:blipFill>
        <p:spPr>
          <a:xfrm xmlns:a="http://schemas.openxmlformats.org/drawingml/2006/main">
            <a:off x="1500594" y="3486150"/>
            <a:ext cx="1170762" cy="2533650"/>
          </a:xfrm>
          <a:prstGeom xmlns:a="http://schemas.openxmlformats.org/drawingml/2006/main" prst="roundRect">
            <a:avLst>
              <a:gd name="adj" fmla="val 6667"/>
            </a:avLst>
          </a:prstGeom>
        </p:spPr>
      </p:pic>
      <p:sp>
        <p:nvSpPr>
          <p:cNvPr id="27" name="">
            <a:extLst xmlns:a="http://schemas.openxmlformats.org/drawingml/2006/main">
              <a:ext uri="{FF2B5EF4-FFF2-40B4-BE49-F238E27FC236}">
                <a16:creationId xmlns:a16="http://schemas.microsoft.com/office/drawing/2014/main" id="{22C07091-8F97-48DC-BAE0-9B8F82EDC175}"/>
              </a:ext>
            </a:extLst>
          </p:cNvPr>
          <p:cNvSpPr>
            <a:spLocks xmlns:a="http://schemas.openxmlformats.org/drawingml/2006/main" noGrp="1"/>
          </p:cNvSpPr>
          <p:nvPr/>
        </p:nvSpPr>
        <p:spPr>
          <a:xfrm xmlns:a="http://schemas.openxmlformats.org/drawingml/2006/main" rot="0">
            <a:off x="3524250" y="3390900"/>
            <a:ext cx="2190750" cy="2724150"/>
          </a:xfrm>
          <a:prstGeom xmlns:a="http://schemas.openxmlformats.org/drawingml/2006/main" prst="roundRect">
            <a:avLst>
              <a:gd name="adj" fmla="val 9565"/>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be2489a4bc424ad1"/>
          <a:stretch xmlns:a="http://schemas.openxmlformats.org/drawingml/2006/main"/>
        </p:blipFill>
        <p:spPr>
          <a:xfrm xmlns:a="http://schemas.openxmlformats.org/drawingml/2006/main">
            <a:off x="4034244" y="3486150"/>
            <a:ext cx="1170762" cy="2533650"/>
          </a:xfrm>
          <a:prstGeom xmlns:a="http://schemas.openxmlformats.org/drawingml/2006/main" prst="roundRect">
            <a:avLst>
              <a:gd name="adj" fmla="val 6667"/>
            </a:avLst>
          </a:prstGeom>
        </p:spPr>
      </p:pic>
      <p:sp>
        <p:nvSpPr>
          <p:cNvPr id="29" name="">
            <a:extLst xmlns:a="http://schemas.openxmlformats.org/drawingml/2006/main">
              <a:ext uri="{FF2B5EF4-FFF2-40B4-BE49-F238E27FC236}">
                <a16:creationId xmlns:a16="http://schemas.microsoft.com/office/drawing/2014/main" id="{DD9D8AE5-C738-40F6-A75D-5DA0B0257F3A}"/>
              </a:ext>
            </a:extLst>
          </p:cNvPr>
          <p:cNvSpPr>
            <a:spLocks xmlns:a="http://schemas.openxmlformats.org/drawingml/2006/main" noGrp="1"/>
          </p:cNvSpPr>
          <p:nvPr/>
        </p:nvSpPr>
        <p:spPr>
          <a:xfrm xmlns:a="http://schemas.openxmlformats.org/drawingml/2006/main" rot="0">
            <a:off x="6496050" y="36385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i="0">
                <a:solidFill>
                  <a:srgbClr val="24332B"/>
                </a:solidFill>
                <a:latin typeface="Aptos"/>
                <a:ea typeface="Aptos"/>
                <a:cs typeface="Aptos"/>
              </a:defRPr>
            </a:pPr>
            <a:r>
              <a:rPr sz="2100" b="1" i="0">
                <a:solidFill>
                  <a:srgbClr val="24332B"/>
                </a:solidFill>
                <a:latin typeface="Aptos"/>
                <a:ea typeface="Aptos"/>
                <a:cs typeface="Aptos"/>
              </a:rPr>
              <a:t>Desktop • tablet • mobile</a:t>
            </a:r>
          </a:p>
        </p:txBody>
      </p:sp>
      <p:sp>
        <p:nvSpPr>
          <p:cNvPr id="30" name="">
            <a:extLst xmlns:a="http://schemas.openxmlformats.org/drawingml/2006/main">
              <a:ext uri="{FF2B5EF4-FFF2-40B4-BE49-F238E27FC236}">
                <a16:creationId xmlns:a16="http://schemas.microsoft.com/office/drawing/2014/main" id="{9A9B86E9-DE78-49EA-8200-3D9E068A6184}"/>
              </a:ext>
            </a:extLst>
          </p:cNvPr>
          <p:cNvSpPr>
            <a:spLocks xmlns:a="http://schemas.openxmlformats.org/drawingml/2006/main" noGrp="1"/>
          </p:cNvSpPr>
          <p:nvPr/>
        </p:nvSpPr>
        <p:spPr>
          <a:xfrm xmlns:a="http://schemas.openxmlformats.org/drawingml/2006/main" rot="0">
            <a:off x="6496050" y="4191000"/>
            <a:ext cx="4286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i="0">
                <a:solidFill>
                  <a:srgbClr val="66745F"/>
                </a:solidFill>
                <a:latin typeface="Aptos"/>
                <a:ea typeface="Aptos"/>
                <a:cs typeface="Aptos"/>
              </a:defRPr>
            </a:pPr>
            <a:r>
              <a:rPr sz="1800" b="0" i="0">
                <a:solidFill>
                  <a:srgbClr val="66745F"/>
                </a:solidFill>
                <a:latin typeface="Aptos"/>
                <a:ea typeface="Aptos"/>
                <a:cs typeface="Aptos"/>
              </a:rPr>
              <a:t>Mỗi kết luận phải chỉ ra màn hình, vùng chú ý, nguyên tắc HCI và tác động tới persona.</a:t>
            </a:r>
          </a:p>
        </p:txBody>
      </p:sp>
      <p:sp>
        <p:nvSpPr>
          <p:cNvPr id="31" name="">
            <a:extLst xmlns:a="http://schemas.openxmlformats.org/drawingml/2006/main">
              <a:ext uri="{FF2B5EF4-FFF2-40B4-BE49-F238E27FC236}">
                <a16:creationId xmlns:a16="http://schemas.microsoft.com/office/drawing/2014/main" id="{010EFB42-6EFB-479E-BFCC-73CCF37B829B}"/>
              </a:ext>
            </a:extLst>
          </p:cNvPr>
          <p:cNvSpPr>
            <a:spLocks xmlns:a="http://schemas.openxmlformats.org/drawingml/2006/main" noGrp="1"/>
          </p:cNvSpPr>
          <p:nvPr/>
        </p:nvSpPr>
        <p:spPr>
          <a:xfrm xmlns:a="http://schemas.openxmlformats.org/drawingml/2006/main" rot="0">
            <a:off x="6496050" y="53911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i="0">
                <a:solidFill>
                  <a:srgbClr val="C77761"/>
                </a:solidFill>
                <a:latin typeface="Aptos"/>
                <a:ea typeface="Aptos"/>
                <a:cs typeface="Aptos"/>
              </a:defRPr>
            </a:pPr>
            <a:r>
              <a:rPr sz="1650" b="1" i="0">
                <a:solidFill>
                  <a:srgbClr val="C77761"/>
                </a:solidFill>
                <a:latin typeface="Aptos"/>
                <a:ea typeface="Aptos"/>
                <a:cs typeface="Aptos"/>
              </a:rPr>
              <a:t>Chuỗi này giúp peer review kiểm tra lại được.</a:t>
            </a:r>
          </a:p>
        </p:txBody>
      </p:sp>
    </p:spTree>
    <p:extLst>
      <p:ext uri="{BB962C8B-B14F-4D97-AF65-F5344CB8AC3E}">
        <p14:creationId xmlns:p14="http://schemas.microsoft.com/office/powerpoint/2010/main" val="1594593189"/>
      </p:ext>
    </p:extLst>
  </p:cSld>
</p:sld>
</file>

<file path=ppt/slides/slide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4">
            <a:extLst xmlns:a="http://schemas.openxmlformats.org/drawingml/2006/main">
              <a:ext uri="{FF2B5EF4-FFF2-40B4-BE49-F238E27FC236}">
                <a16:creationId xmlns:a16="http://schemas.microsoft.com/office/drawing/2014/main" id="{EE7532C3-EAB6-4B92-9371-7083E40C5434}"/>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TỔNG QUAN FIFA.COM</a:t>
            </a:r>
          </a:p>
        </p:txBody>
      </p:sp>
      <p:sp>
        <p:nvSpPr>
          <p:cNvPr id="2" name="title-4">
            <a:extLst xmlns:a="http://schemas.openxmlformats.org/drawingml/2006/main">
              <a:ext uri="{FF2B5EF4-FFF2-40B4-BE49-F238E27FC236}">
                <a16:creationId xmlns:a16="http://schemas.microsoft.com/office/drawing/2014/main" id="{58671774-4EC8-4E1E-B9B9-AD4C185A79E9}"/>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FIFA.com ưu tiên khám phá thông tin</a:t>
            </a:r>
          </a:p>
        </p:txBody>
      </p:sp>
      <p:sp>
        <p:nvSpPr>
          <p:cNvPr id="3" name="">
            <a:extLst xmlns:a="http://schemas.openxmlformats.org/drawingml/2006/main">
              <a:ext uri="{FF2B5EF4-FFF2-40B4-BE49-F238E27FC236}">
                <a16:creationId xmlns:a16="http://schemas.microsoft.com/office/drawing/2014/main" id="{09809E1F-A2D7-4D24-B518-544A2CE9C338}"/>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C3468B-D074-47A1-AA21-77D9AB707F07}"/>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67FE6BD4-4321-45F2-9861-A64587B9F87F}"/>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1286DDF2-F4C7-4D3B-80D3-4972B1007D22}"/>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4 / 21</a:t>
            </a:r>
          </a:p>
        </p:txBody>
      </p:sp>
      <p:sp>
        <p:nvSpPr>
          <p:cNvPr id="7" name="">
            <a:extLst xmlns:a="http://schemas.openxmlformats.org/drawingml/2006/main">
              <a:ext uri="{FF2B5EF4-FFF2-40B4-BE49-F238E27FC236}">
                <a16:creationId xmlns:a16="http://schemas.microsoft.com/office/drawing/2014/main" id="{2F4A26A9-33CB-442C-A191-43F999B81C27}"/>
              </a:ext>
            </a:extLst>
          </p:cNvPr>
          <p:cNvSpPr>
            <a:spLocks xmlns:a="http://schemas.openxmlformats.org/drawingml/2006/main" noGrp="1"/>
          </p:cNvSpPr>
          <p:nvPr/>
        </p:nvSpPr>
        <p:spPr>
          <a:xfrm xmlns:a="http://schemas.openxmlformats.org/drawingml/2006/main" rot="0">
            <a:off x="609600" y="1504950"/>
            <a:ext cx="8096250" cy="4419600"/>
          </a:xfrm>
          <a:prstGeom xmlns:a="http://schemas.openxmlformats.org/drawingml/2006/main" prst="roundRect">
            <a:avLst>
              <a:gd name="adj" fmla="val 4741"/>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50d70f989c040ae"/>
          <a:stretch xmlns:a="http://schemas.openxmlformats.org/drawingml/2006/main"/>
        </p:blipFill>
        <p:spPr>
          <a:xfrm xmlns:a="http://schemas.openxmlformats.org/drawingml/2006/main">
            <a:off x="1612773" y="1600200"/>
            <a:ext cx="6089904" cy="4229100"/>
          </a:xfrm>
          <a:prstGeom xmlns:a="http://schemas.openxmlformats.org/drawingml/2006/main" prst="roundRect">
            <a:avLst>
              <a:gd name="adj" fmla="val 3153"/>
            </a:avLst>
          </a:prstGeom>
        </p:spPr>
      </p:pic>
      <p:sp>
        <p:nvSpPr>
          <p:cNvPr id="9" name="">
            <a:extLst xmlns:a="http://schemas.openxmlformats.org/drawingml/2006/main">
              <a:ext uri="{FF2B5EF4-FFF2-40B4-BE49-F238E27FC236}">
                <a16:creationId xmlns:a16="http://schemas.microsoft.com/office/drawing/2014/main" id="{5A0CDE10-0865-4FD3-9CD9-FEB7B268D5EF}"/>
              </a:ext>
            </a:extLst>
          </p:cNvPr>
          <p:cNvSpPr>
            <a:spLocks xmlns:a="http://schemas.openxmlformats.org/drawingml/2006/main" noGrp="1"/>
          </p:cNvSpPr>
          <p:nvPr/>
        </p:nvSpPr>
        <p:spPr>
          <a:xfrm xmlns:a="http://schemas.openxmlformats.org/drawingml/2006/main" rot="0">
            <a:off x="9048750" y="1504950"/>
            <a:ext cx="2381250" cy="4419600"/>
          </a:xfrm>
          <a:prstGeom xmlns:a="http://schemas.openxmlformats.org/drawingml/2006/main" prst="roundRect">
            <a:avLst>
              <a:gd name="adj" fmla="val 8800"/>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bf68aa56f294d3a"/>
          <a:stretch xmlns:a="http://schemas.openxmlformats.org/drawingml/2006/main"/>
        </p:blipFill>
        <p:spPr>
          <a:xfrm xmlns:a="http://schemas.openxmlformats.org/drawingml/2006/main">
            <a:off x="9262273" y="1600200"/>
            <a:ext cx="1954205" cy="4229100"/>
          </a:xfrm>
          <a:prstGeom xmlns:a="http://schemas.openxmlformats.org/drawingml/2006/main" prst="roundRect">
            <a:avLst>
              <a:gd name="adj" fmla="val 6087"/>
            </a:avLst>
          </a:prstGeom>
        </p:spPr>
      </p:pic>
      <p:sp>
        <p:nvSpPr>
          <p:cNvPr id="11" name="">
            <a:extLst xmlns:a="http://schemas.openxmlformats.org/drawingml/2006/main">
              <a:ext uri="{FF2B5EF4-FFF2-40B4-BE49-F238E27FC236}">
                <a16:creationId xmlns:a16="http://schemas.microsoft.com/office/drawing/2014/main" id="{5AE99272-C043-4B3A-A2A6-A8EDA4ADA0C5}"/>
              </a:ext>
            </a:extLst>
          </p:cNvPr>
          <p:cNvSpPr>
            <a:spLocks xmlns:a="http://schemas.openxmlformats.org/drawingml/2006/main" noGrp="1"/>
          </p:cNvSpPr>
          <p:nvPr/>
        </p:nvSpPr>
        <p:spPr>
          <a:xfrm xmlns:a="http://schemas.openxmlformats.org/drawingml/2006/main" rot="0">
            <a:off x="990600" y="6057900"/>
            <a:ext cx="1005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C77761"/>
                </a:solidFill>
                <a:latin typeface="Aptos"/>
                <a:ea typeface="Aptos"/>
                <a:cs typeface="Aptos"/>
              </a:defRPr>
            </a:pPr>
            <a:r>
              <a:rPr sz="1500" b="1" i="0">
                <a:solidFill>
                  <a:srgbClr val="C77761"/>
                </a:solidFill>
                <a:latin typeface="Aptos"/>
                <a:ea typeface="Aptos"/>
                <a:cs typeface="Aptos"/>
              </a:rPr>
              <a:t>Cổng thông tin chính thức, giải đấu, tin tức và dịch vụ</a:t>
            </a:r>
          </a:p>
        </p:txBody>
      </p:sp>
    </p:spTree>
    <p:extLst>
      <p:ext uri="{BB962C8B-B14F-4D97-AF65-F5344CB8AC3E}">
        <p14:creationId xmlns:p14="http://schemas.microsoft.com/office/powerpoint/2010/main" val="1034138322"/>
      </p:ext>
    </p:extLst>
  </p:cSld>
</p:sld>
</file>

<file path=ppt/slides/slide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5">
            <a:extLst xmlns:a="http://schemas.openxmlformats.org/drawingml/2006/main">
              <a:ext uri="{FF2B5EF4-FFF2-40B4-BE49-F238E27FC236}">
                <a16:creationId xmlns:a16="http://schemas.microsoft.com/office/drawing/2014/main" id="{426FF743-A768-42E2-9640-7951CCD7A889}"/>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TỔNG QUAN CHESS.COM</a:t>
            </a:r>
          </a:p>
        </p:txBody>
      </p:sp>
      <p:sp>
        <p:nvSpPr>
          <p:cNvPr id="2" name="title-5">
            <a:extLst xmlns:a="http://schemas.openxmlformats.org/drawingml/2006/main">
              <a:ext uri="{FF2B5EF4-FFF2-40B4-BE49-F238E27FC236}">
                <a16:creationId xmlns:a16="http://schemas.microsoft.com/office/drawing/2014/main" id="{1F585A5C-D555-4262-8833-F33E9D0B284D}"/>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Chess.com ưu tiên hành động và phản hồi</a:t>
            </a:r>
          </a:p>
        </p:txBody>
      </p:sp>
      <p:sp>
        <p:nvSpPr>
          <p:cNvPr id="3" name="">
            <a:extLst xmlns:a="http://schemas.openxmlformats.org/drawingml/2006/main">
              <a:ext uri="{FF2B5EF4-FFF2-40B4-BE49-F238E27FC236}">
                <a16:creationId xmlns:a16="http://schemas.microsoft.com/office/drawing/2014/main" id="{9EE15E15-A74A-4E37-8C8C-23D0414C95B6}"/>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54BB4B-980D-450E-BF30-C4B8438FAC2C}"/>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BFBCF191-530A-4809-8B8E-C83A5ADDB844}"/>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F70C0947-8B0F-4F9B-AB96-E0D57768F6C0}"/>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5 / 21</a:t>
            </a:r>
          </a:p>
        </p:txBody>
      </p:sp>
      <p:sp>
        <p:nvSpPr>
          <p:cNvPr id="7" name="">
            <a:extLst xmlns:a="http://schemas.openxmlformats.org/drawingml/2006/main">
              <a:ext uri="{FF2B5EF4-FFF2-40B4-BE49-F238E27FC236}">
                <a16:creationId xmlns:a16="http://schemas.microsoft.com/office/drawing/2014/main" id="{5D2A0218-38B5-45C8-9575-8EDBB4B5E8A9}"/>
              </a:ext>
            </a:extLst>
          </p:cNvPr>
          <p:cNvSpPr>
            <a:spLocks xmlns:a="http://schemas.openxmlformats.org/drawingml/2006/main" noGrp="1"/>
          </p:cNvSpPr>
          <p:nvPr/>
        </p:nvSpPr>
        <p:spPr>
          <a:xfrm xmlns:a="http://schemas.openxmlformats.org/drawingml/2006/main" rot="0">
            <a:off x="609600" y="1504950"/>
            <a:ext cx="8096250" cy="4419600"/>
          </a:xfrm>
          <a:prstGeom xmlns:a="http://schemas.openxmlformats.org/drawingml/2006/main" prst="roundRect">
            <a:avLst>
              <a:gd name="adj" fmla="val 4741"/>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34d9adfa91f4314"/>
          <a:stretch xmlns:a="http://schemas.openxmlformats.org/drawingml/2006/main"/>
        </p:blipFill>
        <p:spPr>
          <a:xfrm xmlns:a="http://schemas.openxmlformats.org/drawingml/2006/main">
            <a:off x="1612773" y="1600200"/>
            <a:ext cx="6089904" cy="4229100"/>
          </a:xfrm>
          <a:prstGeom xmlns:a="http://schemas.openxmlformats.org/drawingml/2006/main" prst="roundRect">
            <a:avLst>
              <a:gd name="adj" fmla="val 3153"/>
            </a:avLst>
          </a:prstGeom>
        </p:spPr>
      </p:pic>
      <p:sp>
        <p:nvSpPr>
          <p:cNvPr id="9" name="">
            <a:extLst xmlns:a="http://schemas.openxmlformats.org/drawingml/2006/main">
              <a:ext uri="{FF2B5EF4-FFF2-40B4-BE49-F238E27FC236}">
                <a16:creationId xmlns:a16="http://schemas.microsoft.com/office/drawing/2014/main" id="{B6C0AB09-5D05-4BC3-BCE4-209C54BAAC45}"/>
              </a:ext>
            </a:extLst>
          </p:cNvPr>
          <p:cNvSpPr>
            <a:spLocks xmlns:a="http://schemas.openxmlformats.org/drawingml/2006/main" noGrp="1"/>
          </p:cNvSpPr>
          <p:nvPr/>
        </p:nvSpPr>
        <p:spPr>
          <a:xfrm xmlns:a="http://schemas.openxmlformats.org/drawingml/2006/main" rot="0">
            <a:off x="9048750" y="1504950"/>
            <a:ext cx="2381250" cy="4419600"/>
          </a:xfrm>
          <a:prstGeom xmlns:a="http://schemas.openxmlformats.org/drawingml/2006/main" prst="roundRect">
            <a:avLst>
              <a:gd name="adj" fmla="val 8800"/>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0040b69de5045c6"/>
          <a:stretch xmlns:a="http://schemas.openxmlformats.org/drawingml/2006/main"/>
        </p:blipFill>
        <p:spPr>
          <a:xfrm xmlns:a="http://schemas.openxmlformats.org/drawingml/2006/main">
            <a:off x="9262273" y="1600200"/>
            <a:ext cx="1954205" cy="4229100"/>
          </a:xfrm>
          <a:prstGeom xmlns:a="http://schemas.openxmlformats.org/drawingml/2006/main" prst="roundRect">
            <a:avLst>
              <a:gd name="adj" fmla="val 6087"/>
            </a:avLst>
          </a:prstGeom>
        </p:spPr>
      </p:pic>
      <p:sp>
        <p:nvSpPr>
          <p:cNvPr id="11" name="">
            <a:extLst xmlns:a="http://schemas.openxmlformats.org/drawingml/2006/main">
              <a:ext uri="{FF2B5EF4-FFF2-40B4-BE49-F238E27FC236}">
                <a16:creationId xmlns:a16="http://schemas.microsoft.com/office/drawing/2014/main" id="{BEB162A0-252C-461A-AA21-A76CCB11E9D8}"/>
              </a:ext>
            </a:extLst>
          </p:cNvPr>
          <p:cNvSpPr>
            <a:spLocks xmlns:a="http://schemas.openxmlformats.org/drawingml/2006/main" noGrp="1"/>
          </p:cNvSpPr>
          <p:nvPr/>
        </p:nvSpPr>
        <p:spPr>
          <a:xfrm xmlns:a="http://schemas.openxmlformats.org/drawingml/2006/main" rot="0">
            <a:off x="990600" y="6057900"/>
            <a:ext cx="1005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758B6A"/>
                </a:solidFill>
                <a:latin typeface="Aptos"/>
                <a:ea typeface="Aptos"/>
                <a:cs typeface="Aptos"/>
              </a:defRPr>
            </a:pPr>
            <a:r>
              <a:rPr sz="1500" b="1" i="0">
                <a:solidFill>
                  <a:srgbClr val="758B6A"/>
                </a:solidFill>
                <a:latin typeface="Aptos"/>
                <a:ea typeface="Aptos"/>
                <a:cs typeface="Aptos"/>
              </a:rPr>
              <a:t>Lối vào nhanh cho chơi, puzzle, học và luyện tập</a:t>
            </a:r>
          </a:p>
        </p:txBody>
      </p:sp>
    </p:spTree>
    <p:extLst>
      <p:ext uri="{BB962C8B-B14F-4D97-AF65-F5344CB8AC3E}">
        <p14:creationId xmlns:p14="http://schemas.microsoft.com/office/powerpoint/2010/main" val="1555838843"/>
      </p:ext>
    </p:extLst>
  </p:cSld>
</p:sld>
</file>

<file path=ppt/slides/slide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6">
            <a:extLst xmlns:a="http://schemas.openxmlformats.org/drawingml/2006/main">
              <a:ext uri="{FF2B5EF4-FFF2-40B4-BE49-F238E27FC236}">
                <a16:creationId xmlns:a16="http://schemas.microsoft.com/office/drawing/2014/main" id="{2DDE6843-D63E-4F84-8629-04C30E31CBD0}"/>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NGƯỜI DÙNG FIFA.COM</a:t>
            </a:r>
          </a:p>
        </p:txBody>
      </p:sp>
      <p:sp>
        <p:nvSpPr>
          <p:cNvPr id="2" name="title-6">
            <a:extLst xmlns:a="http://schemas.openxmlformats.org/drawingml/2006/main">
              <a:ext uri="{FF2B5EF4-FFF2-40B4-BE49-F238E27FC236}">
                <a16:creationId xmlns:a16="http://schemas.microsoft.com/office/drawing/2014/main" id="{FAD10173-E4E6-4B0B-84F8-A03F9BA78470}"/>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Persona FIFA thay đổi theo mức chú ý</a:t>
            </a:r>
          </a:p>
        </p:txBody>
      </p:sp>
      <p:sp>
        <p:nvSpPr>
          <p:cNvPr id="3" name="">
            <a:extLst xmlns:a="http://schemas.openxmlformats.org/drawingml/2006/main">
              <a:ext uri="{FF2B5EF4-FFF2-40B4-BE49-F238E27FC236}">
                <a16:creationId xmlns:a16="http://schemas.microsoft.com/office/drawing/2014/main" id="{1B2C0BBC-B990-4078-A97C-A30444725201}"/>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D4CBBD2-F915-495A-BBD6-CB2B4D67DA3B}"/>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6FAF30EC-ED53-486A-98C3-1315E7B7A73E}"/>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95E43A35-1BCB-4364-8BD9-3E2826CEB0C2}"/>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6 / 21</a:t>
            </a:r>
          </a:p>
        </p:txBody>
      </p:sp>
      <p:sp>
        <p:nvSpPr>
          <p:cNvPr id="7" name="">
            <a:extLst xmlns:a="http://schemas.openxmlformats.org/drawingml/2006/main">
              <a:ext uri="{FF2B5EF4-FFF2-40B4-BE49-F238E27FC236}">
                <a16:creationId xmlns:a16="http://schemas.microsoft.com/office/drawing/2014/main" id="{C8450A18-1E61-4BEE-BC02-C604475DC1C5}"/>
              </a:ext>
            </a:extLst>
          </p:cNvPr>
          <p:cNvSpPr>
            <a:spLocks xmlns:a="http://schemas.openxmlformats.org/drawingml/2006/main" noGrp="1"/>
          </p:cNvSpPr>
          <p:nvPr/>
        </p:nvSpPr>
        <p:spPr>
          <a:xfrm xmlns:a="http://schemas.openxmlformats.org/drawingml/2006/main" rot="0">
            <a:off x="609600" y="1504950"/>
            <a:ext cx="2762250" cy="4533900"/>
          </a:xfrm>
          <a:prstGeom xmlns:a="http://schemas.openxmlformats.org/drawingml/2006/main" prst="roundRect">
            <a:avLst>
              <a:gd name="adj" fmla="val 7586"/>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e9f286ff11041a1"/>
          <a:stretch xmlns:a="http://schemas.openxmlformats.org/drawingml/2006/main"/>
        </p:blipFill>
        <p:spPr>
          <a:xfrm xmlns:a="http://schemas.openxmlformats.org/drawingml/2006/main">
            <a:off x="987214" y="1600200"/>
            <a:ext cx="2007021" cy="4343400"/>
          </a:xfrm>
          <a:prstGeom xmlns:a="http://schemas.openxmlformats.org/drawingml/2006/main" prst="roundRect">
            <a:avLst>
              <a:gd name="adj" fmla="val 5185"/>
            </a:avLst>
          </a:prstGeom>
        </p:spPr>
      </p:pic>
      <p:sp>
        <p:nvSpPr>
          <p:cNvPr id="9" name="">
            <a:extLst xmlns:a="http://schemas.openxmlformats.org/drawingml/2006/main">
              <a:ext uri="{FF2B5EF4-FFF2-40B4-BE49-F238E27FC236}">
                <a16:creationId xmlns:a16="http://schemas.microsoft.com/office/drawing/2014/main" id="{6BE2EEED-6B3E-430E-9EAA-F1B62AF838F8}"/>
              </a:ext>
            </a:extLst>
          </p:cNvPr>
          <p:cNvSpPr>
            <a:spLocks xmlns:a="http://schemas.openxmlformats.org/drawingml/2006/main" noGrp="1"/>
          </p:cNvSpPr>
          <p:nvPr/>
        </p:nvSpPr>
        <p:spPr>
          <a:xfrm xmlns:a="http://schemas.openxmlformats.org/drawingml/2006/main" rot="0">
            <a:off x="3924300" y="16383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i="0">
                <a:solidFill>
                  <a:srgbClr val="24332B"/>
                </a:solidFill>
                <a:latin typeface="Aptos"/>
                <a:ea typeface="Aptos"/>
                <a:cs typeface="Aptos"/>
              </a:defRPr>
            </a:pPr>
            <a:r>
              <a:rPr sz="2025" b="1" i="0">
                <a:solidFill>
                  <a:srgbClr val="24332B"/>
                </a:solidFill>
                <a:latin typeface="Aptos"/>
                <a:ea typeface="Aptos"/>
                <a:cs typeface="Aptos"/>
              </a:rPr>
              <a:t>Lan Trần</a:t>
            </a:r>
          </a:p>
        </p:txBody>
      </p:sp>
      <p:sp>
        <p:nvSpPr>
          <p:cNvPr id="10" name="">
            <a:extLst xmlns:a="http://schemas.openxmlformats.org/drawingml/2006/main">
              <a:ext uri="{FF2B5EF4-FFF2-40B4-BE49-F238E27FC236}">
                <a16:creationId xmlns:a16="http://schemas.microsoft.com/office/drawing/2014/main" id="{7D469D6B-8833-434B-86C9-10EAEAC3D030}"/>
              </a:ext>
            </a:extLst>
          </p:cNvPr>
          <p:cNvSpPr>
            <a:spLocks xmlns:a="http://schemas.openxmlformats.org/drawingml/2006/main" noGrp="1"/>
          </p:cNvSpPr>
          <p:nvPr/>
        </p:nvSpPr>
        <p:spPr>
          <a:xfrm xmlns:a="http://schemas.openxmlformats.org/drawingml/2006/main" rot="0">
            <a:off x="6762750" y="16383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i="0">
                <a:solidFill>
                  <a:srgbClr val="C77761"/>
                </a:solidFill>
                <a:latin typeface="Aptos"/>
                <a:ea typeface="Aptos"/>
                <a:cs typeface="Aptos"/>
              </a:defRPr>
            </a:pPr>
            <a:r>
              <a:rPr sz="1575" b="1" i="0">
                <a:solidFill>
                  <a:srgbClr val="C77761"/>
                </a:solidFill>
                <a:latin typeface="Aptos"/>
                <a:ea typeface="Aptos"/>
                <a:cs typeface="Aptos"/>
              </a:rPr>
              <a:t>Xem nhanh</a:t>
            </a:r>
          </a:p>
        </p:txBody>
      </p:sp>
      <p:sp>
        <p:nvSpPr>
          <p:cNvPr id="11" name="">
            <a:extLst xmlns:a="http://schemas.openxmlformats.org/drawingml/2006/main">
              <a:ext uri="{FF2B5EF4-FFF2-40B4-BE49-F238E27FC236}">
                <a16:creationId xmlns:a16="http://schemas.microsoft.com/office/drawing/2014/main" id="{1E0D4BA7-EAA5-4556-8483-8357C86F1D78}"/>
              </a:ext>
            </a:extLst>
          </p:cNvPr>
          <p:cNvSpPr>
            <a:spLocks xmlns:a="http://schemas.openxmlformats.org/drawingml/2006/main" noGrp="1"/>
          </p:cNvSpPr>
          <p:nvPr/>
        </p:nvSpPr>
        <p:spPr>
          <a:xfrm xmlns:a="http://schemas.openxmlformats.org/drawingml/2006/main" rot="0">
            <a:off x="3924300" y="203835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i="0">
                <a:solidFill>
                  <a:srgbClr val="66745F"/>
                </a:solidFill>
                <a:latin typeface="Aptos"/>
                <a:ea typeface="Aptos"/>
                <a:cs typeface="Aptos"/>
              </a:defRPr>
            </a:pPr>
            <a:r>
              <a:rPr sz="1650" b="0" i="0">
                <a:solidFill>
                  <a:srgbClr val="66745F"/>
                </a:solidFill>
                <a:latin typeface="Aptos"/>
                <a:ea typeface="Aptos"/>
                <a:cs typeface="Aptos"/>
              </a:rPr>
              <a:t>Kiểm tra tỷ số giữa giờ học.</a:t>
            </a:r>
          </a:p>
        </p:txBody>
      </p:sp>
      <p:sp>
        <p:nvSpPr>
          <p:cNvPr id="12" name="">
            <a:extLst xmlns:a="http://schemas.openxmlformats.org/drawingml/2006/main">
              <a:ext uri="{FF2B5EF4-FFF2-40B4-BE49-F238E27FC236}">
                <a16:creationId xmlns:a16="http://schemas.microsoft.com/office/drawing/2014/main" id="{FC8B0555-46FC-445D-BA07-2F3407EC8C41}"/>
              </a:ext>
            </a:extLst>
          </p:cNvPr>
          <p:cNvSpPr>
            <a:spLocks xmlns:a="http://schemas.openxmlformats.org/drawingml/2006/main" noGrp="1"/>
          </p:cNvSpPr>
          <p:nvPr/>
        </p:nvSpPr>
        <p:spPr>
          <a:xfrm xmlns:a="http://schemas.openxmlformats.org/drawingml/2006/main" rot="0">
            <a:off x="3924300" y="2705100"/>
            <a:ext cx="685800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B78777E-D5D6-40DC-A732-94D1EF5D2CC3}"/>
              </a:ext>
            </a:extLst>
          </p:cNvPr>
          <p:cNvSpPr>
            <a:spLocks xmlns:a="http://schemas.openxmlformats.org/drawingml/2006/main" noGrp="1"/>
          </p:cNvSpPr>
          <p:nvPr/>
        </p:nvSpPr>
        <p:spPr>
          <a:xfrm xmlns:a="http://schemas.openxmlformats.org/drawingml/2006/main" rot="0">
            <a:off x="3924300" y="30480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i="0">
                <a:solidFill>
                  <a:srgbClr val="24332B"/>
                </a:solidFill>
                <a:latin typeface="Aptos"/>
                <a:ea typeface="Aptos"/>
                <a:cs typeface="Aptos"/>
              </a:defRPr>
            </a:pPr>
            <a:r>
              <a:rPr sz="2025" b="1" i="0">
                <a:solidFill>
                  <a:srgbClr val="24332B"/>
                </a:solidFill>
                <a:latin typeface="Aptos"/>
                <a:ea typeface="Aptos"/>
                <a:cs typeface="Aptos"/>
              </a:rPr>
              <a:t>Ethan Nguyễn</a:t>
            </a:r>
          </a:p>
        </p:txBody>
      </p:sp>
      <p:sp>
        <p:nvSpPr>
          <p:cNvPr id="14" name="">
            <a:extLst xmlns:a="http://schemas.openxmlformats.org/drawingml/2006/main">
              <a:ext uri="{FF2B5EF4-FFF2-40B4-BE49-F238E27FC236}">
                <a16:creationId xmlns:a16="http://schemas.microsoft.com/office/drawing/2014/main" id="{AD38CA05-81B6-4592-97B1-63619F573C9F}"/>
              </a:ext>
            </a:extLst>
          </p:cNvPr>
          <p:cNvSpPr>
            <a:spLocks xmlns:a="http://schemas.openxmlformats.org/drawingml/2006/main" noGrp="1"/>
          </p:cNvSpPr>
          <p:nvPr/>
        </p:nvSpPr>
        <p:spPr>
          <a:xfrm xmlns:a="http://schemas.openxmlformats.org/drawingml/2006/main" rot="0">
            <a:off x="6762750" y="30480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i="0">
                <a:solidFill>
                  <a:srgbClr val="C77761"/>
                </a:solidFill>
                <a:latin typeface="Aptos"/>
                <a:ea typeface="Aptos"/>
                <a:cs typeface="Aptos"/>
              </a:defRPr>
            </a:pPr>
            <a:r>
              <a:rPr sz="1575" b="1" i="0">
                <a:solidFill>
                  <a:srgbClr val="C77761"/>
                </a:solidFill>
                <a:latin typeface="Aptos"/>
                <a:ea typeface="Aptos"/>
                <a:cs typeface="Aptos"/>
              </a:rPr>
              <a:t>Theo giải</a:t>
            </a:r>
          </a:p>
        </p:txBody>
      </p:sp>
      <p:sp>
        <p:nvSpPr>
          <p:cNvPr id="15" name="">
            <a:extLst xmlns:a="http://schemas.openxmlformats.org/drawingml/2006/main">
              <a:ext uri="{FF2B5EF4-FFF2-40B4-BE49-F238E27FC236}">
                <a16:creationId xmlns:a16="http://schemas.microsoft.com/office/drawing/2014/main" id="{AE1DD31C-D06F-41AA-AC90-988080C6DCA1}"/>
              </a:ext>
            </a:extLst>
          </p:cNvPr>
          <p:cNvSpPr>
            <a:spLocks xmlns:a="http://schemas.openxmlformats.org/drawingml/2006/main" noGrp="1"/>
          </p:cNvSpPr>
          <p:nvPr/>
        </p:nvSpPr>
        <p:spPr>
          <a:xfrm xmlns:a="http://schemas.openxmlformats.org/drawingml/2006/main" rot="0">
            <a:off x="3924300" y="344805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i="0">
                <a:solidFill>
                  <a:srgbClr val="66745F"/>
                </a:solidFill>
                <a:latin typeface="Aptos"/>
                <a:ea typeface="Aptos"/>
                <a:cs typeface="Aptos"/>
              </a:defRPr>
            </a:pPr>
            <a:r>
              <a:rPr sz="1650" b="0" i="0">
                <a:solidFill>
                  <a:srgbClr val="66745F"/>
                </a:solidFill>
                <a:latin typeface="Aptos"/>
                <a:ea typeface="Aptos"/>
                <a:cs typeface="Aptos"/>
              </a:rPr>
              <a:t>So sánh lịch và bảng đấu trên desktop.</a:t>
            </a:r>
          </a:p>
        </p:txBody>
      </p:sp>
      <p:sp>
        <p:nvSpPr>
          <p:cNvPr id="16" name="">
            <a:extLst xmlns:a="http://schemas.openxmlformats.org/drawingml/2006/main">
              <a:ext uri="{FF2B5EF4-FFF2-40B4-BE49-F238E27FC236}">
                <a16:creationId xmlns:a16="http://schemas.microsoft.com/office/drawing/2014/main" id="{7C74BD70-D99C-4D25-82FB-5441B131B6EF}"/>
              </a:ext>
            </a:extLst>
          </p:cNvPr>
          <p:cNvSpPr>
            <a:spLocks xmlns:a="http://schemas.openxmlformats.org/drawingml/2006/main" noGrp="1"/>
          </p:cNvSpPr>
          <p:nvPr/>
        </p:nvSpPr>
        <p:spPr>
          <a:xfrm xmlns:a="http://schemas.openxmlformats.org/drawingml/2006/main" rot="0">
            <a:off x="3924300" y="4114800"/>
            <a:ext cx="685800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F7C7333-30BA-46E9-A742-0DB2B4814B40}"/>
              </a:ext>
            </a:extLst>
          </p:cNvPr>
          <p:cNvSpPr>
            <a:spLocks xmlns:a="http://schemas.openxmlformats.org/drawingml/2006/main" noGrp="1"/>
          </p:cNvSpPr>
          <p:nvPr/>
        </p:nvSpPr>
        <p:spPr>
          <a:xfrm xmlns:a="http://schemas.openxmlformats.org/drawingml/2006/main" rot="0">
            <a:off x="3924300" y="44577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i="0">
                <a:solidFill>
                  <a:srgbClr val="24332B"/>
                </a:solidFill>
                <a:latin typeface="Aptos"/>
                <a:ea typeface="Aptos"/>
                <a:cs typeface="Aptos"/>
              </a:defRPr>
            </a:pPr>
            <a:r>
              <a:rPr sz="2025" b="1" i="0">
                <a:solidFill>
                  <a:srgbClr val="24332B"/>
                </a:solidFill>
                <a:latin typeface="Aptos"/>
                <a:ea typeface="Aptos"/>
                <a:cs typeface="Aptos"/>
              </a:rPr>
              <a:t>Maria Phạm</a:t>
            </a:r>
          </a:p>
        </p:txBody>
      </p:sp>
      <p:sp>
        <p:nvSpPr>
          <p:cNvPr id="18" name="">
            <a:extLst xmlns:a="http://schemas.openxmlformats.org/drawingml/2006/main">
              <a:ext uri="{FF2B5EF4-FFF2-40B4-BE49-F238E27FC236}">
                <a16:creationId xmlns:a16="http://schemas.microsoft.com/office/drawing/2014/main" id="{1A96B6A5-C400-41A1-95FE-4A4828F43EBE}"/>
              </a:ext>
            </a:extLst>
          </p:cNvPr>
          <p:cNvSpPr>
            <a:spLocks xmlns:a="http://schemas.openxmlformats.org/drawingml/2006/main" noGrp="1"/>
          </p:cNvSpPr>
          <p:nvPr/>
        </p:nvSpPr>
        <p:spPr>
          <a:xfrm xmlns:a="http://schemas.openxmlformats.org/drawingml/2006/main" rot="0">
            <a:off x="6762750" y="44577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i="0">
                <a:solidFill>
                  <a:srgbClr val="C77761"/>
                </a:solidFill>
                <a:latin typeface="Aptos"/>
                <a:ea typeface="Aptos"/>
                <a:cs typeface="Aptos"/>
              </a:defRPr>
            </a:pPr>
            <a:r>
              <a:rPr sz="1575" b="1" i="0">
                <a:solidFill>
                  <a:srgbClr val="C77761"/>
                </a:solidFill>
                <a:latin typeface="Aptos"/>
                <a:ea typeface="Aptos"/>
                <a:cs typeface="Aptos"/>
              </a:rPr>
              <a:t>Độ tin cậy</a:t>
            </a:r>
          </a:p>
        </p:txBody>
      </p:sp>
      <p:sp>
        <p:nvSpPr>
          <p:cNvPr id="19" name="">
            <a:extLst xmlns:a="http://schemas.openxmlformats.org/drawingml/2006/main">
              <a:ext uri="{FF2B5EF4-FFF2-40B4-BE49-F238E27FC236}">
                <a16:creationId xmlns:a16="http://schemas.microsoft.com/office/drawing/2014/main" id="{9DEC8483-00A6-43E2-B485-8816AD939D99}"/>
              </a:ext>
            </a:extLst>
          </p:cNvPr>
          <p:cNvSpPr>
            <a:spLocks xmlns:a="http://schemas.openxmlformats.org/drawingml/2006/main" noGrp="1"/>
          </p:cNvSpPr>
          <p:nvPr/>
        </p:nvSpPr>
        <p:spPr>
          <a:xfrm xmlns:a="http://schemas.openxmlformats.org/drawingml/2006/main" rot="0">
            <a:off x="3924300" y="485775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i="0">
                <a:solidFill>
                  <a:srgbClr val="66745F"/>
                </a:solidFill>
                <a:latin typeface="Aptos"/>
                <a:ea typeface="Aptos"/>
                <a:cs typeface="Aptos"/>
              </a:defRPr>
            </a:pPr>
            <a:r>
              <a:rPr sz="1650" b="0" i="0">
                <a:solidFill>
                  <a:srgbClr val="66745F"/>
                </a:solidFill>
                <a:latin typeface="Aptos"/>
                <a:ea typeface="Aptos"/>
                <a:cs typeface="Aptos"/>
              </a:rPr>
              <a:t>Tìm nguồn vé và nội dung FIFA+ chính thức.</a:t>
            </a:r>
          </a:p>
        </p:txBody>
      </p:sp>
      <p:sp>
        <p:nvSpPr>
          <p:cNvPr id="20" name="">
            <a:extLst xmlns:a="http://schemas.openxmlformats.org/drawingml/2006/main">
              <a:ext uri="{FF2B5EF4-FFF2-40B4-BE49-F238E27FC236}">
                <a16:creationId xmlns:a16="http://schemas.microsoft.com/office/drawing/2014/main" id="{EC6A1546-32DC-4581-9674-AED6D6EA1471}"/>
              </a:ext>
            </a:extLst>
          </p:cNvPr>
          <p:cNvSpPr>
            <a:spLocks xmlns:a="http://schemas.openxmlformats.org/drawingml/2006/main" noGrp="1"/>
          </p:cNvSpPr>
          <p:nvPr/>
        </p:nvSpPr>
        <p:spPr>
          <a:xfrm xmlns:a="http://schemas.openxmlformats.org/drawingml/2006/main" rot="0">
            <a:off x="3924300" y="5524500"/>
            <a:ext cx="685800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4A32EFB-4D67-49C7-B630-104B590171E8}"/>
              </a:ext>
            </a:extLst>
          </p:cNvPr>
          <p:cNvSpPr>
            <a:spLocks xmlns:a="http://schemas.openxmlformats.org/drawingml/2006/main" noGrp="1"/>
          </p:cNvSpPr>
          <p:nvPr/>
        </p:nvSpPr>
        <p:spPr>
          <a:xfrm xmlns:a="http://schemas.openxmlformats.org/drawingml/2006/main" rot="0">
            <a:off x="3924300" y="577215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i="0">
                <a:solidFill>
                  <a:srgbClr val="24332B"/>
                </a:solidFill>
                <a:latin typeface="Aptos"/>
                <a:ea typeface="Aptos"/>
                <a:cs typeface="Aptos"/>
              </a:defRPr>
            </a:pPr>
            <a:r>
              <a:rPr sz="1725" b="1" i="0">
                <a:solidFill>
                  <a:srgbClr val="24332B"/>
                </a:solidFill>
                <a:latin typeface="Aptos"/>
                <a:ea typeface="Aptos"/>
                <a:cs typeface="Aptos"/>
              </a:rPr>
              <a:t>Thiết kế cần giữ đường đi rõ ngay cả khi người dùng bị gián đoạn.</a:t>
            </a:r>
          </a:p>
        </p:txBody>
      </p:sp>
    </p:spTree>
    <p:extLst>
      <p:ext uri="{BB962C8B-B14F-4D97-AF65-F5344CB8AC3E}">
        <p14:creationId xmlns:p14="http://schemas.microsoft.com/office/powerpoint/2010/main" val="834209696"/>
      </p:ext>
    </p:extLst>
  </p:cSld>
</p:sld>
</file>

<file path=ppt/slides/slide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7">
            <a:extLst xmlns:a="http://schemas.openxmlformats.org/drawingml/2006/main">
              <a:ext uri="{FF2B5EF4-FFF2-40B4-BE49-F238E27FC236}">
                <a16:creationId xmlns:a16="http://schemas.microsoft.com/office/drawing/2014/main" id="{55008BE3-9CD3-4667-B78B-1A86CBB9CCD7}"/>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NGƯỜI DÙNG CHESS.COM</a:t>
            </a:r>
          </a:p>
        </p:txBody>
      </p:sp>
      <p:sp>
        <p:nvSpPr>
          <p:cNvPr id="2" name="title-7">
            <a:extLst xmlns:a="http://schemas.openxmlformats.org/drawingml/2006/main">
              <a:ext uri="{FF2B5EF4-FFF2-40B4-BE49-F238E27FC236}">
                <a16:creationId xmlns:a16="http://schemas.microsoft.com/office/drawing/2014/main" id="{4826FCA1-BAB1-4DFB-965D-3B59F0C56C25}"/>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Persona Chess thay đổi theo trình độ</a:t>
            </a:r>
          </a:p>
        </p:txBody>
      </p:sp>
      <p:sp>
        <p:nvSpPr>
          <p:cNvPr id="3" name="">
            <a:extLst xmlns:a="http://schemas.openxmlformats.org/drawingml/2006/main">
              <a:ext uri="{FF2B5EF4-FFF2-40B4-BE49-F238E27FC236}">
                <a16:creationId xmlns:a16="http://schemas.microsoft.com/office/drawing/2014/main" id="{AD9EF095-E138-47C7-97FC-7BE728CAC34A}"/>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8F0B405-9BB3-4EB5-9CC5-B6956DA57637}"/>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722EEC9E-B76E-49C6-BC95-B2B2CE4EE88E}"/>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CD40472A-18E5-4B64-880E-C96014D70C2A}"/>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7 / 21</a:t>
            </a:r>
          </a:p>
        </p:txBody>
      </p:sp>
      <p:sp>
        <p:nvSpPr>
          <p:cNvPr id="7" name="">
            <a:extLst xmlns:a="http://schemas.openxmlformats.org/drawingml/2006/main">
              <a:ext uri="{FF2B5EF4-FFF2-40B4-BE49-F238E27FC236}">
                <a16:creationId xmlns:a16="http://schemas.microsoft.com/office/drawing/2014/main" id="{A814EF47-43AC-4517-8F61-85E711691A08}"/>
              </a:ext>
            </a:extLst>
          </p:cNvPr>
          <p:cNvSpPr>
            <a:spLocks xmlns:a="http://schemas.openxmlformats.org/drawingml/2006/main" noGrp="1"/>
          </p:cNvSpPr>
          <p:nvPr/>
        </p:nvSpPr>
        <p:spPr>
          <a:xfrm xmlns:a="http://schemas.openxmlformats.org/drawingml/2006/main" rot="0">
            <a:off x="609600" y="1504950"/>
            <a:ext cx="2762250" cy="4533900"/>
          </a:xfrm>
          <a:prstGeom xmlns:a="http://schemas.openxmlformats.org/drawingml/2006/main" prst="roundRect">
            <a:avLst>
              <a:gd name="adj" fmla="val 7586"/>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37f7ae8a9b74a78"/>
          <a:stretch xmlns:a="http://schemas.openxmlformats.org/drawingml/2006/main"/>
        </p:blipFill>
        <p:spPr>
          <a:xfrm xmlns:a="http://schemas.openxmlformats.org/drawingml/2006/main">
            <a:off x="987214" y="1600200"/>
            <a:ext cx="2007021" cy="4343400"/>
          </a:xfrm>
          <a:prstGeom xmlns:a="http://schemas.openxmlformats.org/drawingml/2006/main" prst="roundRect">
            <a:avLst>
              <a:gd name="adj" fmla="val 5185"/>
            </a:avLst>
          </a:prstGeom>
        </p:spPr>
      </p:pic>
      <p:sp>
        <p:nvSpPr>
          <p:cNvPr id="9" name="">
            <a:extLst xmlns:a="http://schemas.openxmlformats.org/drawingml/2006/main">
              <a:ext uri="{FF2B5EF4-FFF2-40B4-BE49-F238E27FC236}">
                <a16:creationId xmlns:a16="http://schemas.microsoft.com/office/drawing/2014/main" id="{66DE660B-9E8F-4A09-A464-EAF4AB551355}"/>
              </a:ext>
            </a:extLst>
          </p:cNvPr>
          <p:cNvSpPr>
            <a:spLocks xmlns:a="http://schemas.openxmlformats.org/drawingml/2006/main" noGrp="1"/>
          </p:cNvSpPr>
          <p:nvPr/>
        </p:nvSpPr>
        <p:spPr>
          <a:xfrm xmlns:a="http://schemas.openxmlformats.org/drawingml/2006/main" rot="0">
            <a:off x="3924300" y="16383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i="0">
                <a:solidFill>
                  <a:srgbClr val="24332B"/>
                </a:solidFill>
                <a:latin typeface="Aptos"/>
                <a:ea typeface="Aptos"/>
                <a:cs typeface="Aptos"/>
              </a:defRPr>
            </a:pPr>
            <a:r>
              <a:rPr sz="2025" b="1" i="0">
                <a:solidFill>
                  <a:srgbClr val="24332B"/>
                </a:solidFill>
                <a:latin typeface="Aptos"/>
                <a:ea typeface="Aptos"/>
                <a:cs typeface="Aptos"/>
              </a:rPr>
              <a:t>Minh Bùi</a:t>
            </a:r>
          </a:p>
        </p:txBody>
      </p:sp>
      <p:sp>
        <p:nvSpPr>
          <p:cNvPr id="10" name="">
            <a:extLst xmlns:a="http://schemas.openxmlformats.org/drawingml/2006/main">
              <a:ext uri="{FF2B5EF4-FFF2-40B4-BE49-F238E27FC236}">
                <a16:creationId xmlns:a16="http://schemas.microsoft.com/office/drawing/2014/main" id="{5C1A3E16-2450-4F3A-B7C0-BD4F4B916C40}"/>
              </a:ext>
            </a:extLst>
          </p:cNvPr>
          <p:cNvSpPr>
            <a:spLocks xmlns:a="http://schemas.openxmlformats.org/drawingml/2006/main" noGrp="1"/>
          </p:cNvSpPr>
          <p:nvPr/>
        </p:nvSpPr>
        <p:spPr>
          <a:xfrm xmlns:a="http://schemas.openxmlformats.org/drawingml/2006/main" rot="0">
            <a:off x="6762750" y="16383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i="0">
                <a:solidFill>
                  <a:srgbClr val="758B6A"/>
                </a:solidFill>
                <a:latin typeface="Aptos"/>
                <a:ea typeface="Aptos"/>
                <a:cs typeface="Aptos"/>
              </a:defRPr>
            </a:pPr>
            <a:r>
              <a:rPr sz="1575" b="1" i="0">
                <a:solidFill>
                  <a:srgbClr val="758B6A"/>
                </a:solidFill>
                <a:latin typeface="Aptos"/>
                <a:ea typeface="Aptos"/>
                <a:cs typeface="Aptos"/>
              </a:rPr>
              <a:t>Người mới</a:t>
            </a:r>
          </a:p>
        </p:txBody>
      </p:sp>
      <p:sp>
        <p:nvSpPr>
          <p:cNvPr id="11" name="">
            <a:extLst xmlns:a="http://schemas.openxmlformats.org/drawingml/2006/main">
              <a:ext uri="{FF2B5EF4-FFF2-40B4-BE49-F238E27FC236}">
                <a16:creationId xmlns:a16="http://schemas.microsoft.com/office/drawing/2014/main" id="{576E5C68-479B-496B-A359-3B94C9B298A1}"/>
              </a:ext>
            </a:extLst>
          </p:cNvPr>
          <p:cNvSpPr>
            <a:spLocks xmlns:a="http://schemas.openxmlformats.org/drawingml/2006/main" noGrp="1"/>
          </p:cNvSpPr>
          <p:nvPr/>
        </p:nvSpPr>
        <p:spPr>
          <a:xfrm xmlns:a="http://schemas.openxmlformats.org/drawingml/2006/main" rot="0">
            <a:off x="3924300" y="203835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i="0">
                <a:solidFill>
                  <a:srgbClr val="66745F"/>
                </a:solidFill>
                <a:latin typeface="Aptos"/>
                <a:ea typeface="Aptos"/>
                <a:cs typeface="Aptos"/>
              </a:defRPr>
            </a:pPr>
            <a:r>
              <a:rPr sz="1650" b="0" i="0">
                <a:solidFill>
                  <a:srgbClr val="66745F"/>
                </a:solidFill>
                <a:latin typeface="Aptos"/>
                <a:ea typeface="Aptos"/>
                <a:cs typeface="Aptos"/>
              </a:rPr>
              <a:t>Cần bước đầu rõ và ít lựa chọn.</a:t>
            </a:r>
          </a:p>
        </p:txBody>
      </p:sp>
      <p:sp>
        <p:nvSpPr>
          <p:cNvPr id="12" name="">
            <a:extLst xmlns:a="http://schemas.openxmlformats.org/drawingml/2006/main">
              <a:ext uri="{FF2B5EF4-FFF2-40B4-BE49-F238E27FC236}">
                <a16:creationId xmlns:a16="http://schemas.microsoft.com/office/drawing/2014/main" id="{0BF1A842-C673-475C-BFF8-9DB11000C588}"/>
              </a:ext>
            </a:extLst>
          </p:cNvPr>
          <p:cNvSpPr>
            <a:spLocks xmlns:a="http://schemas.openxmlformats.org/drawingml/2006/main" noGrp="1"/>
          </p:cNvSpPr>
          <p:nvPr/>
        </p:nvSpPr>
        <p:spPr>
          <a:xfrm xmlns:a="http://schemas.openxmlformats.org/drawingml/2006/main" rot="0">
            <a:off x="3924300" y="2705100"/>
            <a:ext cx="685800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9045CC0-2953-4067-AE68-4AEA6C69234A}"/>
              </a:ext>
            </a:extLst>
          </p:cNvPr>
          <p:cNvSpPr>
            <a:spLocks xmlns:a="http://schemas.openxmlformats.org/drawingml/2006/main" noGrp="1"/>
          </p:cNvSpPr>
          <p:nvPr/>
        </p:nvSpPr>
        <p:spPr>
          <a:xfrm xmlns:a="http://schemas.openxmlformats.org/drawingml/2006/main" rot="0">
            <a:off x="3924300" y="30480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i="0">
                <a:solidFill>
                  <a:srgbClr val="24332B"/>
                </a:solidFill>
                <a:latin typeface="Aptos"/>
                <a:ea typeface="Aptos"/>
                <a:cs typeface="Aptos"/>
              </a:defRPr>
            </a:pPr>
            <a:r>
              <a:rPr sz="2025" b="1" i="0">
                <a:solidFill>
                  <a:srgbClr val="24332B"/>
                </a:solidFill>
                <a:latin typeface="Aptos"/>
                <a:ea typeface="Aptos"/>
                <a:cs typeface="Aptos"/>
              </a:rPr>
              <a:t>Alex Hoàng</a:t>
            </a:r>
          </a:p>
        </p:txBody>
      </p:sp>
      <p:sp>
        <p:nvSpPr>
          <p:cNvPr id="14" name="">
            <a:extLst xmlns:a="http://schemas.openxmlformats.org/drawingml/2006/main">
              <a:ext uri="{FF2B5EF4-FFF2-40B4-BE49-F238E27FC236}">
                <a16:creationId xmlns:a16="http://schemas.microsoft.com/office/drawing/2014/main" id="{66140B2F-D110-4B54-9EA3-82EDE9980DAE}"/>
              </a:ext>
            </a:extLst>
          </p:cNvPr>
          <p:cNvSpPr>
            <a:spLocks xmlns:a="http://schemas.openxmlformats.org/drawingml/2006/main" noGrp="1"/>
          </p:cNvSpPr>
          <p:nvPr/>
        </p:nvSpPr>
        <p:spPr>
          <a:xfrm xmlns:a="http://schemas.openxmlformats.org/drawingml/2006/main" rot="0">
            <a:off x="6762750" y="30480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i="0">
                <a:solidFill>
                  <a:srgbClr val="758B6A"/>
                </a:solidFill>
                <a:latin typeface="Aptos"/>
                <a:ea typeface="Aptos"/>
                <a:cs typeface="Aptos"/>
              </a:defRPr>
            </a:pPr>
            <a:r>
              <a:rPr sz="1575" b="1" i="0">
                <a:solidFill>
                  <a:srgbClr val="758B6A"/>
                </a:solidFill>
                <a:latin typeface="Aptos"/>
                <a:ea typeface="Aptos"/>
                <a:cs typeface="Aptos"/>
              </a:rPr>
              <a:t>Blitz</a:t>
            </a:r>
          </a:p>
        </p:txBody>
      </p:sp>
      <p:sp>
        <p:nvSpPr>
          <p:cNvPr id="15" name="">
            <a:extLst xmlns:a="http://schemas.openxmlformats.org/drawingml/2006/main">
              <a:ext uri="{FF2B5EF4-FFF2-40B4-BE49-F238E27FC236}">
                <a16:creationId xmlns:a16="http://schemas.microsoft.com/office/drawing/2014/main" id="{E8B81E0A-6CD4-4EF5-BD43-FCA1E28017AF}"/>
              </a:ext>
            </a:extLst>
          </p:cNvPr>
          <p:cNvSpPr>
            <a:spLocks xmlns:a="http://schemas.openxmlformats.org/drawingml/2006/main" noGrp="1"/>
          </p:cNvSpPr>
          <p:nvPr/>
        </p:nvSpPr>
        <p:spPr>
          <a:xfrm xmlns:a="http://schemas.openxmlformats.org/drawingml/2006/main" rot="0">
            <a:off x="3924300" y="344805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i="0">
                <a:solidFill>
                  <a:srgbClr val="66745F"/>
                </a:solidFill>
                <a:latin typeface="Aptos"/>
                <a:ea typeface="Aptos"/>
                <a:cs typeface="Aptos"/>
              </a:defRPr>
            </a:pPr>
            <a:r>
              <a:rPr sz="1650" b="0" i="0">
                <a:solidFill>
                  <a:srgbClr val="66745F"/>
                </a:solidFill>
                <a:latin typeface="Aptos"/>
                <a:ea typeface="Aptos"/>
                <a:cs typeface="Aptos"/>
              </a:rPr>
              <a:t>Cần thao tác nhanh, tránh lỗi dưới áp lực.</a:t>
            </a:r>
          </a:p>
        </p:txBody>
      </p:sp>
      <p:sp>
        <p:nvSpPr>
          <p:cNvPr id="16" name="">
            <a:extLst xmlns:a="http://schemas.openxmlformats.org/drawingml/2006/main">
              <a:ext uri="{FF2B5EF4-FFF2-40B4-BE49-F238E27FC236}">
                <a16:creationId xmlns:a16="http://schemas.microsoft.com/office/drawing/2014/main" id="{806B7A76-055B-4514-B668-35DAA024C441}"/>
              </a:ext>
            </a:extLst>
          </p:cNvPr>
          <p:cNvSpPr>
            <a:spLocks xmlns:a="http://schemas.openxmlformats.org/drawingml/2006/main" noGrp="1"/>
          </p:cNvSpPr>
          <p:nvPr/>
        </p:nvSpPr>
        <p:spPr>
          <a:xfrm xmlns:a="http://schemas.openxmlformats.org/drawingml/2006/main" rot="0">
            <a:off x="3924300" y="4114800"/>
            <a:ext cx="685800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2C28CF0-C8F6-4D9D-B23D-48A6E0CD9E10}"/>
              </a:ext>
            </a:extLst>
          </p:cNvPr>
          <p:cNvSpPr>
            <a:spLocks xmlns:a="http://schemas.openxmlformats.org/drawingml/2006/main" noGrp="1"/>
          </p:cNvSpPr>
          <p:nvPr/>
        </p:nvSpPr>
        <p:spPr>
          <a:xfrm xmlns:a="http://schemas.openxmlformats.org/drawingml/2006/main" rot="0">
            <a:off x="3924300" y="445770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i="0">
                <a:solidFill>
                  <a:srgbClr val="24332B"/>
                </a:solidFill>
                <a:latin typeface="Aptos"/>
                <a:ea typeface="Aptos"/>
                <a:cs typeface="Aptos"/>
              </a:defRPr>
            </a:pPr>
            <a:r>
              <a:rPr sz="2025" b="1" i="0">
                <a:solidFill>
                  <a:srgbClr val="24332B"/>
                </a:solidFill>
                <a:latin typeface="Aptos"/>
                <a:ea typeface="Aptos"/>
                <a:cs typeface="Aptos"/>
              </a:rPr>
              <a:t>Quỳnh Lê</a:t>
            </a:r>
          </a:p>
        </p:txBody>
      </p:sp>
      <p:sp>
        <p:nvSpPr>
          <p:cNvPr id="18" name="">
            <a:extLst xmlns:a="http://schemas.openxmlformats.org/drawingml/2006/main">
              <a:ext uri="{FF2B5EF4-FFF2-40B4-BE49-F238E27FC236}">
                <a16:creationId xmlns:a16="http://schemas.microsoft.com/office/drawing/2014/main" id="{302177B9-266C-4D02-A49B-2B598996A493}"/>
              </a:ext>
            </a:extLst>
          </p:cNvPr>
          <p:cNvSpPr>
            <a:spLocks xmlns:a="http://schemas.openxmlformats.org/drawingml/2006/main" noGrp="1"/>
          </p:cNvSpPr>
          <p:nvPr/>
        </p:nvSpPr>
        <p:spPr>
          <a:xfrm xmlns:a="http://schemas.openxmlformats.org/drawingml/2006/main" rot="0">
            <a:off x="6762750" y="44577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i="0">
                <a:solidFill>
                  <a:srgbClr val="758B6A"/>
                </a:solidFill>
                <a:latin typeface="Aptos"/>
                <a:ea typeface="Aptos"/>
                <a:cs typeface="Aptos"/>
              </a:defRPr>
            </a:pPr>
            <a:r>
              <a:rPr sz="1575" b="1" i="0">
                <a:solidFill>
                  <a:srgbClr val="758B6A"/>
                </a:solidFill>
                <a:latin typeface="Aptos"/>
                <a:ea typeface="Aptos"/>
                <a:cs typeface="Aptos"/>
              </a:rPr>
              <a:t>Phân tích</a:t>
            </a:r>
          </a:p>
        </p:txBody>
      </p:sp>
      <p:sp>
        <p:nvSpPr>
          <p:cNvPr id="19" name="">
            <a:extLst xmlns:a="http://schemas.openxmlformats.org/drawingml/2006/main">
              <a:ext uri="{FF2B5EF4-FFF2-40B4-BE49-F238E27FC236}">
                <a16:creationId xmlns:a16="http://schemas.microsoft.com/office/drawing/2014/main" id="{8595186E-B93B-4F6E-932E-4A7166902AB2}"/>
              </a:ext>
            </a:extLst>
          </p:cNvPr>
          <p:cNvSpPr>
            <a:spLocks xmlns:a="http://schemas.openxmlformats.org/drawingml/2006/main" noGrp="1"/>
          </p:cNvSpPr>
          <p:nvPr/>
        </p:nvSpPr>
        <p:spPr>
          <a:xfrm xmlns:a="http://schemas.openxmlformats.org/drawingml/2006/main" rot="0">
            <a:off x="3924300" y="4857750"/>
            <a:ext cx="685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i="0">
                <a:solidFill>
                  <a:srgbClr val="66745F"/>
                </a:solidFill>
                <a:latin typeface="Aptos"/>
                <a:ea typeface="Aptos"/>
                <a:cs typeface="Aptos"/>
              </a:defRPr>
            </a:pPr>
            <a:r>
              <a:rPr sz="1650" b="0" i="0">
                <a:solidFill>
                  <a:srgbClr val="66745F"/>
                </a:solidFill>
                <a:latin typeface="Aptos"/>
                <a:ea typeface="Aptos"/>
                <a:cs typeface="Aptos"/>
              </a:rPr>
              <a:t>Cần phản hồi sâu và công cụ nâng cao.</a:t>
            </a:r>
          </a:p>
        </p:txBody>
      </p:sp>
      <p:sp>
        <p:nvSpPr>
          <p:cNvPr id="20" name="">
            <a:extLst xmlns:a="http://schemas.openxmlformats.org/drawingml/2006/main">
              <a:ext uri="{FF2B5EF4-FFF2-40B4-BE49-F238E27FC236}">
                <a16:creationId xmlns:a16="http://schemas.microsoft.com/office/drawing/2014/main" id="{7147F3FB-A5ED-424F-98E8-2F1D96E6291A}"/>
              </a:ext>
            </a:extLst>
          </p:cNvPr>
          <p:cNvSpPr>
            <a:spLocks xmlns:a="http://schemas.openxmlformats.org/drawingml/2006/main" noGrp="1"/>
          </p:cNvSpPr>
          <p:nvPr/>
        </p:nvSpPr>
        <p:spPr>
          <a:xfrm xmlns:a="http://schemas.openxmlformats.org/drawingml/2006/main" rot="0">
            <a:off x="3924300" y="5524500"/>
            <a:ext cx="685800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4E6EA32-1F56-4ED9-BD4E-3C4881F842F0}"/>
              </a:ext>
            </a:extLst>
          </p:cNvPr>
          <p:cNvSpPr>
            <a:spLocks xmlns:a="http://schemas.openxmlformats.org/drawingml/2006/main" noGrp="1"/>
          </p:cNvSpPr>
          <p:nvPr/>
        </p:nvSpPr>
        <p:spPr>
          <a:xfrm xmlns:a="http://schemas.openxmlformats.org/drawingml/2006/main" rot="0">
            <a:off x="3924300" y="5772150"/>
            <a:ext cx="685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i="0">
                <a:solidFill>
                  <a:srgbClr val="24332B"/>
                </a:solidFill>
                <a:latin typeface="Aptos"/>
                <a:ea typeface="Aptos"/>
                <a:cs typeface="Aptos"/>
              </a:defRPr>
            </a:pPr>
            <a:r>
              <a:rPr sz="1725" b="1" i="0">
                <a:solidFill>
                  <a:srgbClr val="24332B"/>
                </a:solidFill>
                <a:latin typeface="Aptos"/>
                <a:ea typeface="Aptos"/>
                <a:cs typeface="Aptos"/>
              </a:rPr>
              <a:t>Độ phức tạp nên được tiết lộ theo nhu cầu và năng lực.</a:t>
            </a:r>
          </a:p>
        </p:txBody>
      </p:sp>
    </p:spTree>
    <p:extLst>
      <p:ext uri="{BB962C8B-B14F-4D97-AF65-F5344CB8AC3E}">
        <p14:creationId xmlns:p14="http://schemas.microsoft.com/office/powerpoint/2010/main" val="764795776"/>
      </p:ext>
    </p:extLst>
  </p:cSld>
</p:sld>
</file>

<file path=ppt/slides/slide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8">
            <a:extLst xmlns:a="http://schemas.openxmlformats.org/drawingml/2006/main">
              <a:ext uri="{FF2B5EF4-FFF2-40B4-BE49-F238E27FC236}">
                <a16:creationId xmlns:a16="http://schemas.microsoft.com/office/drawing/2014/main" id="{CD6D1C6C-9A2B-492F-878B-C0CE2C633683}"/>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USE CASE FIFA.COM</a:t>
            </a:r>
          </a:p>
        </p:txBody>
      </p:sp>
      <p:sp>
        <p:nvSpPr>
          <p:cNvPr id="2" name="title-8">
            <a:extLst xmlns:a="http://schemas.openxmlformats.org/drawingml/2006/main">
              <a:ext uri="{FF2B5EF4-FFF2-40B4-BE49-F238E27FC236}">
                <a16:creationId xmlns:a16="http://schemas.microsoft.com/office/drawing/2014/main" id="{F109DC27-2CDB-49E7-A6B1-70252A95AD64}"/>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FIFA: tìm lịch và tỷ số nhanh hơn</a:t>
            </a:r>
          </a:p>
        </p:txBody>
      </p:sp>
      <p:sp>
        <p:nvSpPr>
          <p:cNvPr id="3" name="">
            <a:extLst xmlns:a="http://schemas.openxmlformats.org/drawingml/2006/main">
              <a:ext uri="{FF2B5EF4-FFF2-40B4-BE49-F238E27FC236}">
                <a16:creationId xmlns:a16="http://schemas.microsoft.com/office/drawing/2014/main" id="{1093D5CB-919B-49A5-AA41-5344E5475D84}"/>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100EAE6-4BE2-4EEE-A6BC-7D68C57E3B70}"/>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054AAF3A-887A-4A9A-BAFA-1BB71ECF00CE}"/>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9B92568A-D9D8-4FBC-8024-C9AD8AC67FC9}"/>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8 / 21</a:t>
            </a:r>
          </a:p>
        </p:txBody>
      </p:sp>
      <p:sp>
        <p:nvSpPr>
          <p:cNvPr id="7" name="">
            <a:extLst xmlns:a="http://schemas.openxmlformats.org/drawingml/2006/main">
              <a:ext uri="{FF2B5EF4-FFF2-40B4-BE49-F238E27FC236}">
                <a16:creationId xmlns:a16="http://schemas.microsoft.com/office/drawing/2014/main" id="{D6CB4627-89E5-44E3-B4EF-B9A7371E78E6}"/>
              </a:ext>
            </a:extLst>
          </p:cNvPr>
          <p:cNvSpPr>
            <a:spLocks xmlns:a="http://schemas.openxmlformats.org/drawingml/2006/main" noGrp="1"/>
          </p:cNvSpPr>
          <p:nvPr/>
        </p:nvSpPr>
        <p:spPr>
          <a:xfrm xmlns:a="http://schemas.openxmlformats.org/drawingml/2006/main" rot="0">
            <a:off x="609600" y="1504950"/>
            <a:ext cx="7810500" cy="4419600"/>
          </a:xfrm>
          <a:prstGeom xmlns:a="http://schemas.openxmlformats.org/drawingml/2006/main" prst="roundRect">
            <a:avLst>
              <a:gd name="adj" fmla="val 4741"/>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d23484ba7df4c0d"/>
          <a:stretch xmlns:a="http://schemas.openxmlformats.org/drawingml/2006/main"/>
        </p:blipFill>
        <p:spPr>
          <a:xfrm xmlns:a="http://schemas.openxmlformats.org/drawingml/2006/main">
            <a:off x="1469898" y="1600200"/>
            <a:ext cx="6089904" cy="4229100"/>
          </a:xfrm>
          <a:prstGeom xmlns:a="http://schemas.openxmlformats.org/drawingml/2006/main" prst="roundRect">
            <a:avLst>
              <a:gd name="adj" fmla="val 3153"/>
            </a:avLst>
          </a:prstGeom>
        </p:spPr>
      </p:pic>
      <p:sp>
        <p:nvSpPr>
          <p:cNvPr id="9" name="">
            <a:extLst xmlns:a="http://schemas.openxmlformats.org/drawingml/2006/main">
              <a:ext uri="{FF2B5EF4-FFF2-40B4-BE49-F238E27FC236}">
                <a16:creationId xmlns:a16="http://schemas.microsoft.com/office/drawing/2014/main" id="{421DDDC6-5723-4F99-A013-A0387CC95BB6}"/>
              </a:ext>
            </a:extLst>
          </p:cNvPr>
          <p:cNvSpPr>
            <a:spLocks xmlns:a="http://schemas.openxmlformats.org/drawingml/2006/main" noGrp="1"/>
          </p:cNvSpPr>
          <p:nvPr/>
        </p:nvSpPr>
        <p:spPr>
          <a:xfrm xmlns:a="http://schemas.openxmlformats.org/drawingml/2006/main" rot="0">
            <a:off x="8763000" y="1504950"/>
            <a:ext cx="2667000" cy="4419600"/>
          </a:xfrm>
          <a:prstGeom xmlns:a="http://schemas.openxmlformats.org/drawingml/2006/main" prst="roundRect">
            <a:avLst>
              <a:gd name="adj" fmla="val 7857"/>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8d3deeb3d8344f2"/>
          <a:stretch xmlns:a="http://schemas.openxmlformats.org/drawingml/2006/main"/>
        </p:blipFill>
        <p:spPr>
          <a:xfrm xmlns:a="http://schemas.openxmlformats.org/drawingml/2006/main">
            <a:off x="9119398" y="1600200"/>
            <a:ext cx="1954205" cy="4229100"/>
          </a:xfrm>
          <a:prstGeom xmlns:a="http://schemas.openxmlformats.org/drawingml/2006/main" prst="roundRect">
            <a:avLst>
              <a:gd name="adj" fmla="val 5385"/>
            </a:avLst>
          </a:prstGeom>
        </p:spPr>
      </p:pic>
      <p:sp>
        <p:nvSpPr>
          <p:cNvPr id="11" name="">
            <a:extLst xmlns:a="http://schemas.openxmlformats.org/drawingml/2006/main">
              <a:ext uri="{FF2B5EF4-FFF2-40B4-BE49-F238E27FC236}">
                <a16:creationId xmlns:a16="http://schemas.microsoft.com/office/drawing/2014/main" id="{661CA28D-746A-4126-8B87-3E11A459EF01}"/>
              </a:ext>
            </a:extLst>
          </p:cNvPr>
          <p:cNvSpPr>
            <a:spLocks xmlns:a="http://schemas.openxmlformats.org/drawingml/2006/main" noGrp="1"/>
          </p:cNvSpPr>
          <p:nvPr/>
        </p:nvSpPr>
        <p:spPr>
          <a:xfrm xmlns:a="http://schemas.openxmlformats.org/drawingml/2006/main" rot="0">
            <a:off x="1428750" y="6057900"/>
            <a:ext cx="933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C77761"/>
                </a:solidFill>
                <a:latin typeface="Aptos"/>
                <a:ea typeface="Aptos"/>
                <a:cs typeface="Aptos"/>
              </a:defRPr>
            </a:pPr>
            <a:r>
              <a:rPr sz="1500" b="1" i="0">
                <a:solidFill>
                  <a:srgbClr val="C77761"/>
                </a:solidFill>
                <a:latin typeface="Aptos"/>
                <a:ea typeface="Aptos"/>
                <a:cs typeface="Aptos"/>
              </a:rPr>
              <a:t>Ý định → giải đấu → trận đấu → trạng thái hiện tại</a:t>
            </a:r>
          </a:p>
        </p:txBody>
      </p:sp>
    </p:spTree>
    <p:extLst>
      <p:ext uri="{BB962C8B-B14F-4D97-AF65-F5344CB8AC3E}">
        <p14:creationId xmlns:p14="http://schemas.microsoft.com/office/powerpoint/2010/main" val="884517200"/>
      </p:ext>
    </p:extLst>
  </p:cSld>
</p:sld>
</file>

<file path=ppt/slides/slide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9">
            <a:extLst xmlns:a="http://schemas.openxmlformats.org/drawingml/2006/main">
              <a:ext uri="{FF2B5EF4-FFF2-40B4-BE49-F238E27FC236}">
                <a16:creationId xmlns:a16="http://schemas.microsoft.com/office/drawing/2014/main" id="{12282BF6-4D85-401C-B6F0-5598AD203B2C}"/>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USE CASE FIFA.COM</a:t>
            </a:r>
          </a:p>
        </p:txBody>
      </p:sp>
      <p:sp>
        <p:nvSpPr>
          <p:cNvPr id="2" name="title-9">
            <a:extLst xmlns:a="http://schemas.openxmlformats.org/drawingml/2006/main">
              <a:ext uri="{FF2B5EF4-FFF2-40B4-BE49-F238E27FC236}">
                <a16:creationId xmlns:a16="http://schemas.microsoft.com/office/drawing/2014/main" id="{8C55CD70-32FD-4D5E-BF80-8804A2EF75C0}"/>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FIFA: đọc tin và theo dõi giải đấu</a:t>
            </a:r>
          </a:p>
        </p:txBody>
      </p:sp>
      <p:sp>
        <p:nvSpPr>
          <p:cNvPr id="3" name="">
            <a:extLst xmlns:a="http://schemas.openxmlformats.org/drawingml/2006/main">
              <a:ext uri="{FF2B5EF4-FFF2-40B4-BE49-F238E27FC236}">
                <a16:creationId xmlns:a16="http://schemas.microsoft.com/office/drawing/2014/main" id="{7989F008-4D74-4AF7-9A7C-CA4007D06BE7}"/>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59599BF-694D-4812-8910-34AB3B5204AD}"/>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13BD1C60-3C7F-4354-B004-D7E0D4DAD69C}"/>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1A917068-0BD4-4298-8490-9740E57CC4BA}"/>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9 / 21</a:t>
            </a:r>
          </a:p>
        </p:txBody>
      </p:sp>
      <p:sp>
        <p:nvSpPr>
          <p:cNvPr id="7" name="">
            <a:extLst xmlns:a="http://schemas.openxmlformats.org/drawingml/2006/main">
              <a:ext uri="{FF2B5EF4-FFF2-40B4-BE49-F238E27FC236}">
                <a16:creationId xmlns:a16="http://schemas.microsoft.com/office/drawing/2014/main" id="{FD28F485-C7C9-4539-A27D-02960477C9E6}"/>
              </a:ext>
            </a:extLst>
          </p:cNvPr>
          <p:cNvSpPr>
            <a:spLocks xmlns:a="http://schemas.openxmlformats.org/drawingml/2006/main" noGrp="1"/>
          </p:cNvSpPr>
          <p:nvPr/>
        </p:nvSpPr>
        <p:spPr>
          <a:xfrm xmlns:a="http://schemas.openxmlformats.org/drawingml/2006/main" rot="0">
            <a:off x="609600" y="1581150"/>
            <a:ext cx="5238750" cy="4095750"/>
          </a:xfrm>
          <a:prstGeom xmlns:a="http://schemas.openxmlformats.org/drawingml/2006/main" prst="roundRect">
            <a:avLst>
              <a:gd name="adj" fmla="val 5116"/>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2038d173f9e84391"/>
          <a:stretch xmlns:a="http://schemas.openxmlformats.org/drawingml/2006/main"/>
        </p:blipFill>
        <p:spPr>
          <a:xfrm xmlns:a="http://schemas.openxmlformats.org/drawingml/2006/main">
            <a:off x="704850" y="1876160"/>
            <a:ext cx="5048250" cy="3505729"/>
          </a:xfrm>
          <a:prstGeom xmlns:a="http://schemas.openxmlformats.org/drawingml/2006/main" prst="roundRect">
            <a:avLst>
              <a:gd name="adj" fmla="val 3415"/>
            </a:avLst>
          </a:prstGeom>
        </p:spPr>
      </p:pic>
      <p:sp>
        <p:nvSpPr>
          <p:cNvPr id="9" name="">
            <a:extLst xmlns:a="http://schemas.openxmlformats.org/drawingml/2006/main">
              <a:ext uri="{FF2B5EF4-FFF2-40B4-BE49-F238E27FC236}">
                <a16:creationId xmlns:a16="http://schemas.microsoft.com/office/drawing/2014/main" id="{BE93CE48-C219-4A29-AB5B-D2E34C94D8AE}"/>
              </a:ext>
            </a:extLst>
          </p:cNvPr>
          <p:cNvSpPr>
            <a:spLocks xmlns:a="http://schemas.openxmlformats.org/drawingml/2006/main" noGrp="1"/>
          </p:cNvSpPr>
          <p:nvPr/>
        </p:nvSpPr>
        <p:spPr>
          <a:xfrm xmlns:a="http://schemas.openxmlformats.org/drawingml/2006/main" rot="0">
            <a:off x="6343650" y="1581150"/>
            <a:ext cx="5238750" cy="4095750"/>
          </a:xfrm>
          <a:prstGeom xmlns:a="http://schemas.openxmlformats.org/drawingml/2006/main" prst="roundRect">
            <a:avLst>
              <a:gd name="adj" fmla="val 5116"/>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c1bbb03bfdb48ca"/>
          <a:stretch xmlns:a="http://schemas.openxmlformats.org/drawingml/2006/main"/>
        </p:blipFill>
        <p:spPr>
          <a:xfrm xmlns:a="http://schemas.openxmlformats.org/drawingml/2006/main">
            <a:off x="6438900" y="1876160"/>
            <a:ext cx="5048250" cy="3505729"/>
          </a:xfrm>
          <a:prstGeom xmlns:a="http://schemas.openxmlformats.org/drawingml/2006/main" prst="roundRect">
            <a:avLst>
              <a:gd name="adj" fmla="val 3415"/>
            </a:avLst>
          </a:prstGeom>
        </p:spPr>
      </p:pic>
      <p:sp>
        <p:nvSpPr>
          <p:cNvPr id="11" name="">
            <a:extLst xmlns:a="http://schemas.openxmlformats.org/drawingml/2006/main">
              <a:ext uri="{FF2B5EF4-FFF2-40B4-BE49-F238E27FC236}">
                <a16:creationId xmlns:a16="http://schemas.microsoft.com/office/drawing/2014/main" id="{23A94123-F750-41DE-8E93-01DD2B8278E9}"/>
              </a:ext>
            </a:extLst>
          </p:cNvPr>
          <p:cNvSpPr>
            <a:spLocks xmlns:a="http://schemas.openxmlformats.org/drawingml/2006/main" noGrp="1"/>
          </p:cNvSpPr>
          <p:nvPr/>
        </p:nvSpPr>
        <p:spPr>
          <a:xfrm xmlns:a="http://schemas.openxmlformats.org/drawingml/2006/main" rot="0">
            <a:off x="609600" y="581025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C77761"/>
                </a:solidFill>
                <a:latin typeface="Aptos"/>
                <a:ea typeface="Aptos"/>
                <a:cs typeface="Aptos"/>
              </a:defRPr>
            </a:pPr>
            <a:r>
              <a:rPr sz="1500" b="1" i="0">
                <a:solidFill>
                  <a:srgbClr val="C77761"/>
                </a:solidFill>
                <a:latin typeface="Aptos"/>
                <a:ea typeface="Aptos"/>
                <a:cs typeface="Aptos"/>
              </a:rPr>
              <a:t>Bài viết chính thức</a:t>
            </a:r>
          </a:p>
        </p:txBody>
      </p:sp>
      <p:sp>
        <p:nvSpPr>
          <p:cNvPr id="12" name="">
            <a:extLst xmlns:a="http://schemas.openxmlformats.org/drawingml/2006/main">
              <a:ext uri="{FF2B5EF4-FFF2-40B4-BE49-F238E27FC236}">
                <a16:creationId xmlns:a16="http://schemas.microsoft.com/office/drawing/2014/main" id="{69C97C3C-ADBA-46CF-8E3F-83639D83CCCD}"/>
              </a:ext>
            </a:extLst>
          </p:cNvPr>
          <p:cNvSpPr>
            <a:spLocks xmlns:a="http://schemas.openxmlformats.org/drawingml/2006/main" noGrp="1"/>
          </p:cNvSpPr>
          <p:nvPr/>
        </p:nvSpPr>
        <p:spPr>
          <a:xfrm xmlns:a="http://schemas.openxmlformats.org/drawingml/2006/main" rot="0">
            <a:off x="6343650" y="581025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C77761"/>
                </a:solidFill>
                <a:latin typeface="Aptos"/>
                <a:ea typeface="Aptos"/>
                <a:cs typeface="Aptos"/>
              </a:defRPr>
            </a:pPr>
            <a:r>
              <a:rPr sz="1500" b="1" i="0">
                <a:solidFill>
                  <a:srgbClr val="C77761"/>
                </a:solidFill>
                <a:latin typeface="Aptos"/>
                <a:ea typeface="Aptos"/>
                <a:cs typeface="Aptos"/>
              </a:rPr>
              <a:t>Thông tin giải đấu</a:t>
            </a:r>
          </a:p>
        </p:txBody>
      </p:sp>
      <p:sp>
        <p:nvSpPr>
          <p:cNvPr id="13" name="">
            <a:extLst xmlns:a="http://schemas.openxmlformats.org/drawingml/2006/main">
              <a:ext uri="{FF2B5EF4-FFF2-40B4-BE49-F238E27FC236}">
                <a16:creationId xmlns:a16="http://schemas.microsoft.com/office/drawing/2014/main" id="{94CD1D6D-8691-4507-A9D4-E8A90631ECB1}"/>
              </a:ext>
            </a:extLst>
          </p:cNvPr>
          <p:cNvSpPr>
            <a:spLocks xmlns:a="http://schemas.openxmlformats.org/drawingml/2006/main" noGrp="1"/>
          </p:cNvSpPr>
          <p:nvPr/>
        </p:nvSpPr>
        <p:spPr>
          <a:xfrm xmlns:a="http://schemas.openxmlformats.org/drawingml/2006/main" rot="0">
            <a:off x="1524000" y="6229350"/>
            <a:ext cx="914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i="0">
                <a:solidFill>
                  <a:srgbClr val="24332B"/>
                </a:solidFill>
                <a:latin typeface="Aptos"/>
                <a:ea typeface="Aptos"/>
                <a:cs typeface="Aptos"/>
              </a:defRPr>
            </a:pPr>
            <a:r>
              <a:rPr sz="1650" b="1" i="0">
                <a:solidFill>
                  <a:srgbClr val="24332B"/>
                </a:solidFill>
                <a:latin typeface="Aptos"/>
                <a:ea typeface="Aptos"/>
                <a:cs typeface="Aptos"/>
              </a:rPr>
              <a:t>Hai tác vụ cần liên kết rõ để người đọc không mất ngữ cảnh.</a:t>
            </a:r>
          </a:p>
        </p:txBody>
      </p:sp>
    </p:spTree>
    <p:extLst>
      <p:ext uri="{BB962C8B-B14F-4D97-AF65-F5344CB8AC3E}">
        <p14:creationId xmlns:p14="http://schemas.microsoft.com/office/powerpoint/2010/main" val="93019961"/>
      </p:ext>
    </p:extLst>
  </p:cSld>
</p:sld>
</file>

<file path=ppt/slides/slide1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10">
            <a:extLst xmlns:a="http://schemas.openxmlformats.org/drawingml/2006/main">
              <a:ext uri="{FF2B5EF4-FFF2-40B4-BE49-F238E27FC236}">
                <a16:creationId xmlns:a16="http://schemas.microsoft.com/office/drawing/2014/main" id="{8A8EF9DD-42F8-4683-8291-DE39425A85E8}"/>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USE CASE CHESS.COM</a:t>
            </a:r>
          </a:p>
        </p:txBody>
      </p:sp>
      <p:sp>
        <p:nvSpPr>
          <p:cNvPr id="2" name="title-10">
            <a:extLst xmlns:a="http://schemas.openxmlformats.org/drawingml/2006/main">
              <a:ext uri="{FF2B5EF4-FFF2-40B4-BE49-F238E27FC236}">
                <a16:creationId xmlns:a16="http://schemas.microsoft.com/office/drawing/2014/main" id="{BC4BBFB0-84A5-4AEA-B5C5-D0B0E74C7C2F}"/>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Chess: bắt đầu ván trong vài giây</a:t>
            </a:r>
          </a:p>
        </p:txBody>
      </p:sp>
      <p:sp>
        <p:nvSpPr>
          <p:cNvPr id="3" name="">
            <a:extLst xmlns:a="http://schemas.openxmlformats.org/drawingml/2006/main">
              <a:ext uri="{FF2B5EF4-FFF2-40B4-BE49-F238E27FC236}">
                <a16:creationId xmlns:a16="http://schemas.microsoft.com/office/drawing/2014/main" id="{811A5195-570D-45A6-AA3D-E55B4F2FCCC4}"/>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EBD9D9B-3F60-452B-BDBB-0A63CF788C76}"/>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E5777CB3-0817-4DE7-8EDD-9387CFD80BB5}"/>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67634500-08EB-49AE-BA4B-6C6739972028}"/>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10 / 21</a:t>
            </a:r>
          </a:p>
        </p:txBody>
      </p:sp>
      <p:sp>
        <p:nvSpPr>
          <p:cNvPr id="7" name="">
            <a:extLst xmlns:a="http://schemas.openxmlformats.org/drawingml/2006/main">
              <a:ext uri="{FF2B5EF4-FFF2-40B4-BE49-F238E27FC236}">
                <a16:creationId xmlns:a16="http://schemas.microsoft.com/office/drawing/2014/main" id="{F9DB9F65-22B8-4C0E-A4B5-5B4320D27493}"/>
              </a:ext>
            </a:extLst>
          </p:cNvPr>
          <p:cNvSpPr>
            <a:spLocks xmlns:a="http://schemas.openxmlformats.org/drawingml/2006/main" noGrp="1"/>
          </p:cNvSpPr>
          <p:nvPr/>
        </p:nvSpPr>
        <p:spPr>
          <a:xfrm xmlns:a="http://schemas.openxmlformats.org/drawingml/2006/main" rot="0">
            <a:off x="609600" y="1504950"/>
            <a:ext cx="7810500" cy="4419600"/>
          </a:xfrm>
          <a:prstGeom xmlns:a="http://schemas.openxmlformats.org/drawingml/2006/main" prst="roundRect">
            <a:avLst>
              <a:gd name="adj" fmla="val 4741"/>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759b55fccba49a0"/>
          <a:stretch xmlns:a="http://schemas.openxmlformats.org/drawingml/2006/main"/>
        </p:blipFill>
        <p:spPr>
          <a:xfrm xmlns:a="http://schemas.openxmlformats.org/drawingml/2006/main">
            <a:off x="1469898" y="1600200"/>
            <a:ext cx="6089904" cy="4229100"/>
          </a:xfrm>
          <a:prstGeom xmlns:a="http://schemas.openxmlformats.org/drawingml/2006/main" prst="roundRect">
            <a:avLst>
              <a:gd name="adj" fmla="val 3153"/>
            </a:avLst>
          </a:prstGeom>
        </p:spPr>
      </p:pic>
      <p:sp>
        <p:nvSpPr>
          <p:cNvPr id="9" name="">
            <a:extLst xmlns:a="http://schemas.openxmlformats.org/drawingml/2006/main">
              <a:ext uri="{FF2B5EF4-FFF2-40B4-BE49-F238E27FC236}">
                <a16:creationId xmlns:a16="http://schemas.microsoft.com/office/drawing/2014/main" id="{0B6D9982-5449-4313-83BD-85A0EC4E17E7}"/>
              </a:ext>
            </a:extLst>
          </p:cNvPr>
          <p:cNvSpPr>
            <a:spLocks xmlns:a="http://schemas.openxmlformats.org/drawingml/2006/main" noGrp="1"/>
          </p:cNvSpPr>
          <p:nvPr/>
        </p:nvSpPr>
        <p:spPr>
          <a:xfrm xmlns:a="http://schemas.openxmlformats.org/drawingml/2006/main" rot="0">
            <a:off x="8763000" y="1504950"/>
            <a:ext cx="2667000" cy="4419600"/>
          </a:xfrm>
          <a:prstGeom xmlns:a="http://schemas.openxmlformats.org/drawingml/2006/main" prst="roundRect">
            <a:avLst>
              <a:gd name="adj" fmla="val 7857"/>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d7fd4fcfe6a4393"/>
          <a:stretch xmlns:a="http://schemas.openxmlformats.org/drawingml/2006/main"/>
        </p:blipFill>
        <p:spPr>
          <a:xfrm xmlns:a="http://schemas.openxmlformats.org/drawingml/2006/main">
            <a:off x="9119398" y="1600200"/>
            <a:ext cx="1954205" cy="4229100"/>
          </a:xfrm>
          <a:prstGeom xmlns:a="http://schemas.openxmlformats.org/drawingml/2006/main" prst="roundRect">
            <a:avLst>
              <a:gd name="adj" fmla="val 5385"/>
            </a:avLst>
          </a:prstGeom>
        </p:spPr>
      </p:pic>
      <p:sp>
        <p:nvSpPr>
          <p:cNvPr id="11" name="">
            <a:extLst xmlns:a="http://schemas.openxmlformats.org/drawingml/2006/main">
              <a:ext uri="{FF2B5EF4-FFF2-40B4-BE49-F238E27FC236}">
                <a16:creationId xmlns:a16="http://schemas.microsoft.com/office/drawing/2014/main" id="{90BE4F0C-E415-4ADB-878D-1C7F9B662286}"/>
              </a:ext>
            </a:extLst>
          </p:cNvPr>
          <p:cNvSpPr>
            <a:spLocks xmlns:a="http://schemas.openxmlformats.org/drawingml/2006/main" noGrp="1"/>
          </p:cNvSpPr>
          <p:nvPr/>
        </p:nvSpPr>
        <p:spPr>
          <a:xfrm xmlns:a="http://schemas.openxmlformats.org/drawingml/2006/main" rot="0">
            <a:off x="1619250" y="6057900"/>
            <a:ext cx="895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758B6A"/>
                </a:solidFill>
                <a:latin typeface="Aptos"/>
                <a:ea typeface="Aptos"/>
                <a:cs typeface="Aptos"/>
              </a:defRPr>
            </a:pPr>
            <a:r>
              <a:rPr sz="1500" b="1" i="0">
                <a:solidFill>
                  <a:srgbClr val="758B6A"/>
                </a:solidFill>
                <a:latin typeface="Aptos"/>
                <a:ea typeface="Aptos"/>
                <a:cs typeface="Aptos"/>
              </a:rPr>
              <a:t>Chọn nhịp → chọn đối thủ → bắt đầu</a:t>
            </a:r>
          </a:p>
        </p:txBody>
      </p:sp>
    </p:spTree>
    <p:extLst>
      <p:ext uri="{BB962C8B-B14F-4D97-AF65-F5344CB8AC3E}">
        <p14:creationId xmlns:p14="http://schemas.microsoft.com/office/powerpoint/2010/main" val="733143860"/>
      </p:ext>
    </p:extLst>
  </p:cSld>
</p:sld>
</file>

<file path=ppt/slides/slide1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11">
            <a:extLst xmlns:a="http://schemas.openxmlformats.org/drawingml/2006/main">
              <a:ext uri="{FF2B5EF4-FFF2-40B4-BE49-F238E27FC236}">
                <a16:creationId xmlns:a16="http://schemas.microsoft.com/office/drawing/2014/main" id="{47BDC107-E462-414A-B895-4D85B60F7FB3}"/>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USE CASE CHESS.COM</a:t>
            </a:r>
          </a:p>
        </p:txBody>
      </p:sp>
      <p:sp>
        <p:nvSpPr>
          <p:cNvPr id="2" name="title-11">
            <a:extLst xmlns:a="http://schemas.openxmlformats.org/drawingml/2006/main">
              <a:ext uri="{FF2B5EF4-FFF2-40B4-BE49-F238E27FC236}">
                <a16:creationId xmlns:a16="http://schemas.microsoft.com/office/drawing/2014/main" id="{0FB83E82-D5AB-4E61-A819-2DEDA74C2F5D}"/>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Chess: học tiếp từ phản hồi</a:t>
            </a:r>
          </a:p>
        </p:txBody>
      </p:sp>
      <p:sp>
        <p:nvSpPr>
          <p:cNvPr id="3" name="">
            <a:extLst xmlns:a="http://schemas.openxmlformats.org/drawingml/2006/main">
              <a:ext uri="{FF2B5EF4-FFF2-40B4-BE49-F238E27FC236}">
                <a16:creationId xmlns:a16="http://schemas.microsoft.com/office/drawing/2014/main" id="{1973E559-2B9D-4C38-A457-55145B13C705}"/>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2084F66-BC5C-4F73-A2BD-466C0D16808F}"/>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11</a:t>
            </a:r>
          </a:p>
        </p:txBody>
      </p:sp>
      <p:sp>
        <p:nvSpPr>
          <p:cNvPr id="5" name="">
            <a:extLst xmlns:a="http://schemas.openxmlformats.org/drawingml/2006/main">
              <a:ext uri="{FF2B5EF4-FFF2-40B4-BE49-F238E27FC236}">
                <a16:creationId xmlns:a16="http://schemas.microsoft.com/office/drawing/2014/main" id="{FB802EA4-7635-491D-BDBB-E23405C627AB}"/>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0C99A626-B355-414A-8178-EEA5CFF58C93}"/>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11 / 21</a:t>
            </a:r>
          </a:p>
        </p:txBody>
      </p:sp>
      <p:sp>
        <p:nvSpPr>
          <p:cNvPr id="7" name="">
            <a:extLst xmlns:a="http://schemas.openxmlformats.org/drawingml/2006/main">
              <a:ext uri="{FF2B5EF4-FFF2-40B4-BE49-F238E27FC236}">
                <a16:creationId xmlns:a16="http://schemas.microsoft.com/office/drawing/2014/main" id="{316AB9E1-09B3-435E-A679-CE8169C36313}"/>
              </a:ext>
            </a:extLst>
          </p:cNvPr>
          <p:cNvSpPr>
            <a:spLocks xmlns:a="http://schemas.openxmlformats.org/drawingml/2006/main" noGrp="1"/>
          </p:cNvSpPr>
          <p:nvPr/>
        </p:nvSpPr>
        <p:spPr>
          <a:xfrm xmlns:a="http://schemas.openxmlformats.org/drawingml/2006/main" rot="0">
            <a:off x="609600" y="1581150"/>
            <a:ext cx="5238750" cy="4095750"/>
          </a:xfrm>
          <a:prstGeom xmlns:a="http://schemas.openxmlformats.org/drawingml/2006/main" prst="roundRect">
            <a:avLst>
              <a:gd name="adj" fmla="val 5116"/>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4c962f974924b90"/>
          <a:stretch xmlns:a="http://schemas.openxmlformats.org/drawingml/2006/main"/>
        </p:blipFill>
        <p:spPr>
          <a:xfrm xmlns:a="http://schemas.openxmlformats.org/drawingml/2006/main">
            <a:off x="704850" y="1876160"/>
            <a:ext cx="5048250" cy="3505729"/>
          </a:xfrm>
          <a:prstGeom xmlns:a="http://schemas.openxmlformats.org/drawingml/2006/main" prst="roundRect">
            <a:avLst>
              <a:gd name="adj" fmla="val 3415"/>
            </a:avLst>
          </a:prstGeom>
        </p:spPr>
      </p:pic>
      <p:sp>
        <p:nvSpPr>
          <p:cNvPr id="9" name="">
            <a:extLst xmlns:a="http://schemas.openxmlformats.org/drawingml/2006/main">
              <a:ext uri="{FF2B5EF4-FFF2-40B4-BE49-F238E27FC236}">
                <a16:creationId xmlns:a16="http://schemas.microsoft.com/office/drawing/2014/main" id="{376E7358-3619-4CF9-ACE7-948F8714EE58}"/>
              </a:ext>
            </a:extLst>
          </p:cNvPr>
          <p:cNvSpPr>
            <a:spLocks xmlns:a="http://schemas.openxmlformats.org/drawingml/2006/main" noGrp="1"/>
          </p:cNvSpPr>
          <p:nvPr/>
        </p:nvSpPr>
        <p:spPr>
          <a:xfrm xmlns:a="http://schemas.openxmlformats.org/drawingml/2006/main" rot="0">
            <a:off x="6343650" y="1581150"/>
            <a:ext cx="5238750" cy="4095750"/>
          </a:xfrm>
          <a:prstGeom xmlns:a="http://schemas.openxmlformats.org/drawingml/2006/main" prst="roundRect">
            <a:avLst>
              <a:gd name="adj" fmla="val 5116"/>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93d01f793244eac"/>
          <a:stretch xmlns:a="http://schemas.openxmlformats.org/drawingml/2006/main"/>
        </p:blipFill>
        <p:spPr>
          <a:xfrm xmlns:a="http://schemas.openxmlformats.org/drawingml/2006/main">
            <a:off x="6438900" y="1876160"/>
            <a:ext cx="5048250" cy="3505729"/>
          </a:xfrm>
          <a:prstGeom xmlns:a="http://schemas.openxmlformats.org/drawingml/2006/main" prst="roundRect">
            <a:avLst>
              <a:gd name="adj" fmla="val 3415"/>
            </a:avLst>
          </a:prstGeom>
        </p:spPr>
      </p:pic>
      <p:sp>
        <p:nvSpPr>
          <p:cNvPr id="11" name="">
            <a:extLst xmlns:a="http://schemas.openxmlformats.org/drawingml/2006/main">
              <a:ext uri="{FF2B5EF4-FFF2-40B4-BE49-F238E27FC236}">
                <a16:creationId xmlns:a16="http://schemas.microsoft.com/office/drawing/2014/main" id="{BF1EF5F6-B4D8-49F2-8576-B17CD7EF7106}"/>
              </a:ext>
            </a:extLst>
          </p:cNvPr>
          <p:cNvSpPr>
            <a:spLocks xmlns:a="http://schemas.openxmlformats.org/drawingml/2006/main" noGrp="1"/>
          </p:cNvSpPr>
          <p:nvPr/>
        </p:nvSpPr>
        <p:spPr>
          <a:xfrm xmlns:a="http://schemas.openxmlformats.org/drawingml/2006/main" rot="0">
            <a:off x="609600" y="581025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758B6A"/>
                </a:solidFill>
                <a:latin typeface="Aptos"/>
                <a:ea typeface="Aptos"/>
                <a:cs typeface="Aptos"/>
              </a:defRPr>
            </a:pPr>
            <a:r>
              <a:rPr sz="1500" b="1" i="0">
                <a:solidFill>
                  <a:srgbClr val="758B6A"/>
                </a:solidFill>
                <a:latin typeface="Aptos"/>
                <a:ea typeface="Aptos"/>
                <a:cs typeface="Aptos"/>
              </a:rPr>
              <a:t>Thử và nhận phản hồi</a:t>
            </a:r>
          </a:p>
        </p:txBody>
      </p:sp>
      <p:sp>
        <p:nvSpPr>
          <p:cNvPr id="12" name="">
            <a:extLst xmlns:a="http://schemas.openxmlformats.org/drawingml/2006/main">
              <a:ext uri="{FF2B5EF4-FFF2-40B4-BE49-F238E27FC236}">
                <a16:creationId xmlns:a16="http://schemas.microsoft.com/office/drawing/2014/main" id="{EB2D92B2-D01C-40A7-BBDE-B781E1ABBBC2}"/>
              </a:ext>
            </a:extLst>
          </p:cNvPr>
          <p:cNvSpPr>
            <a:spLocks xmlns:a="http://schemas.openxmlformats.org/drawingml/2006/main" noGrp="1"/>
          </p:cNvSpPr>
          <p:nvPr/>
        </p:nvSpPr>
        <p:spPr>
          <a:xfrm xmlns:a="http://schemas.openxmlformats.org/drawingml/2006/main" rot="0">
            <a:off x="6343650" y="581025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758B6A"/>
                </a:solidFill>
                <a:latin typeface="Aptos"/>
                <a:ea typeface="Aptos"/>
                <a:cs typeface="Aptos"/>
              </a:defRPr>
            </a:pPr>
            <a:r>
              <a:rPr sz="1500" b="1" i="0">
                <a:solidFill>
                  <a:srgbClr val="758B6A"/>
                </a:solidFill>
                <a:latin typeface="Aptos"/>
                <a:ea typeface="Aptos"/>
                <a:cs typeface="Aptos"/>
              </a:rPr>
              <a:t>Tiếp tục theo trình độ</a:t>
            </a:r>
          </a:p>
        </p:txBody>
      </p:sp>
      <p:sp>
        <p:nvSpPr>
          <p:cNvPr id="13" name="">
            <a:extLst xmlns:a="http://schemas.openxmlformats.org/drawingml/2006/main">
              <a:ext uri="{FF2B5EF4-FFF2-40B4-BE49-F238E27FC236}">
                <a16:creationId xmlns:a16="http://schemas.microsoft.com/office/drawing/2014/main" id="{AE4EAFFF-1383-43F7-A9BC-969AA7B75B9A}"/>
              </a:ext>
            </a:extLst>
          </p:cNvPr>
          <p:cNvSpPr>
            <a:spLocks xmlns:a="http://schemas.openxmlformats.org/drawingml/2006/main" noGrp="1"/>
          </p:cNvSpPr>
          <p:nvPr/>
        </p:nvSpPr>
        <p:spPr>
          <a:xfrm xmlns:a="http://schemas.openxmlformats.org/drawingml/2006/main" rot="0">
            <a:off x="1428750" y="62293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i="0">
                <a:solidFill>
                  <a:srgbClr val="24332B"/>
                </a:solidFill>
                <a:latin typeface="Aptos"/>
                <a:ea typeface="Aptos"/>
                <a:cs typeface="Aptos"/>
              </a:defRPr>
            </a:pPr>
            <a:r>
              <a:rPr sz="1650" b="1" i="0">
                <a:solidFill>
                  <a:srgbClr val="24332B"/>
                </a:solidFill>
                <a:latin typeface="Aptos"/>
                <a:ea typeface="Aptos"/>
                <a:cs typeface="Aptos"/>
              </a:rPr>
              <a:t>Vòng lặp tốt: PLAY → REVIEW → LEARN → PLAY BETTER</a:t>
            </a:r>
          </a:p>
        </p:txBody>
      </p:sp>
    </p:spTree>
    <p:extLst>
      <p:ext uri="{BB962C8B-B14F-4D97-AF65-F5344CB8AC3E}">
        <p14:creationId xmlns:p14="http://schemas.microsoft.com/office/powerpoint/2010/main" val="86785366"/>
      </p:ext>
    </p:extLst>
  </p:cSld>
</p:sld>
</file>

<file path=ppt/slides/slide1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12">
            <a:extLst xmlns:a="http://schemas.openxmlformats.org/drawingml/2006/main">
              <a:ext uri="{FF2B5EF4-FFF2-40B4-BE49-F238E27FC236}">
                <a16:creationId xmlns:a16="http://schemas.microsoft.com/office/drawing/2014/main" id="{356AD159-3180-437D-BF43-3B1A2F192B67}"/>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PHÁT HIỆN HCI FIFA.COM</a:t>
            </a:r>
          </a:p>
        </p:txBody>
      </p:sp>
      <p:sp>
        <p:nvSpPr>
          <p:cNvPr id="2" name="title-12">
            <a:extLst xmlns:a="http://schemas.openxmlformats.org/drawingml/2006/main">
              <a:ext uri="{FF2B5EF4-FFF2-40B4-BE49-F238E27FC236}">
                <a16:creationId xmlns:a16="http://schemas.microsoft.com/office/drawing/2014/main" id="{7DE97F70-7504-454C-85D7-336B88CA7B14}"/>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FIFA mạnh về uy tín và độ phủ</a:t>
            </a:r>
          </a:p>
        </p:txBody>
      </p:sp>
      <p:sp>
        <p:nvSpPr>
          <p:cNvPr id="3" name="">
            <a:extLst xmlns:a="http://schemas.openxmlformats.org/drawingml/2006/main">
              <a:ext uri="{FF2B5EF4-FFF2-40B4-BE49-F238E27FC236}">
                <a16:creationId xmlns:a16="http://schemas.microsoft.com/office/drawing/2014/main" id="{D2847F54-2148-4C5E-AB2F-7FEA918E17C8}"/>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E3BAF85-0CE3-4D88-A404-D79ABA4B19FB}"/>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12</a:t>
            </a:r>
          </a:p>
        </p:txBody>
      </p:sp>
      <p:sp>
        <p:nvSpPr>
          <p:cNvPr id="5" name="">
            <a:extLst xmlns:a="http://schemas.openxmlformats.org/drawingml/2006/main">
              <a:ext uri="{FF2B5EF4-FFF2-40B4-BE49-F238E27FC236}">
                <a16:creationId xmlns:a16="http://schemas.microsoft.com/office/drawing/2014/main" id="{1966CB7A-1127-48DD-B310-07E3B9CB1323}"/>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AC60B98C-AA23-46E8-9DD1-87BBD39849AC}"/>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12 / 21</a:t>
            </a:r>
          </a:p>
        </p:txBody>
      </p:sp>
      <p:sp>
        <p:nvSpPr>
          <p:cNvPr id="7" name="">
            <a:extLst xmlns:a="http://schemas.openxmlformats.org/drawingml/2006/main">
              <a:ext uri="{FF2B5EF4-FFF2-40B4-BE49-F238E27FC236}">
                <a16:creationId xmlns:a16="http://schemas.microsoft.com/office/drawing/2014/main" id="{78ED06A1-F129-4376-A7DD-8493C2BC4D5D}"/>
              </a:ext>
            </a:extLst>
          </p:cNvPr>
          <p:cNvSpPr>
            <a:spLocks xmlns:a="http://schemas.openxmlformats.org/drawingml/2006/main" noGrp="1"/>
          </p:cNvSpPr>
          <p:nvPr/>
        </p:nvSpPr>
        <p:spPr>
          <a:xfrm xmlns:a="http://schemas.openxmlformats.org/drawingml/2006/main" rot="0">
            <a:off x="609600" y="1504950"/>
            <a:ext cx="10820400" cy="3752850"/>
          </a:xfrm>
          <a:prstGeom xmlns:a="http://schemas.openxmlformats.org/drawingml/2006/main" prst="roundRect">
            <a:avLst>
              <a:gd name="adj" fmla="val 5584"/>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a09f2a7ec7e45e5"/>
          <a:stretch xmlns:a="http://schemas.openxmlformats.org/drawingml/2006/main"/>
        </p:blipFill>
        <p:spPr>
          <a:xfrm xmlns:a="http://schemas.openxmlformats.org/drawingml/2006/main">
            <a:off x="3454908" y="1600200"/>
            <a:ext cx="5129784" cy="3562350"/>
          </a:xfrm>
          <a:prstGeom xmlns:a="http://schemas.openxmlformats.org/drawingml/2006/main" prst="roundRect">
            <a:avLst>
              <a:gd name="adj" fmla="val 3743"/>
            </a:avLst>
          </a:prstGeom>
        </p:spPr>
      </p:pic>
      <p:sp>
        <p:nvSpPr>
          <p:cNvPr id="9" name="">
            <a:extLst xmlns:a="http://schemas.openxmlformats.org/drawingml/2006/main">
              <a:ext uri="{FF2B5EF4-FFF2-40B4-BE49-F238E27FC236}">
                <a16:creationId xmlns:a16="http://schemas.microsoft.com/office/drawing/2014/main" id="{B31011D5-1ED4-45D9-B848-4CD40EDD2665}"/>
              </a:ext>
            </a:extLst>
          </p:cNvPr>
          <p:cNvSpPr>
            <a:spLocks xmlns:a="http://schemas.openxmlformats.org/drawingml/2006/main" noGrp="1"/>
          </p:cNvSpPr>
          <p:nvPr/>
        </p:nvSpPr>
        <p:spPr>
          <a:xfrm xmlns:a="http://schemas.openxmlformats.org/drawingml/2006/main" rot="0">
            <a:off x="1143000" y="5591175"/>
            <a:ext cx="133350" cy="133350"/>
          </a:xfrm>
          <a:prstGeom xmlns:a="http://schemas.openxmlformats.org/drawingml/2006/main" prst="ellipse">
            <a:avLst/>
          </a:prstGeom>
          <a:solidFill xmlns:a="http://schemas.openxmlformats.org/drawingml/2006/main">
            <a:srgbClr val="C7776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5FB40D6-B0F7-4DA9-838C-79C9FD6FED7D}"/>
              </a:ext>
            </a:extLst>
          </p:cNvPr>
          <p:cNvSpPr>
            <a:spLocks xmlns:a="http://schemas.openxmlformats.org/drawingml/2006/main" noGrp="1"/>
          </p:cNvSpPr>
          <p:nvPr/>
        </p:nvSpPr>
        <p:spPr>
          <a:xfrm xmlns:a="http://schemas.openxmlformats.org/drawingml/2006/main" rot="0">
            <a:off x="1409700" y="5543550"/>
            <a:ext cx="4019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i="0">
                <a:solidFill>
                  <a:srgbClr val="24332B"/>
                </a:solidFill>
                <a:latin typeface="Aptos"/>
                <a:ea typeface="Aptos"/>
                <a:cs typeface="Aptos"/>
              </a:defRPr>
            </a:pPr>
            <a:r>
              <a:rPr sz="1725" b="1" i="0">
                <a:solidFill>
                  <a:srgbClr val="24332B"/>
                </a:solidFill>
                <a:latin typeface="Aptos"/>
                <a:ea typeface="Aptos"/>
                <a:cs typeface="Aptos"/>
              </a:rPr>
              <a:t>Uy tín nguồn chính thức</a:t>
            </a:r>
          </a:p>
        </p:txBody>
      </p:sp>
      <p:sp>
        <p:nvSpPr>
          <p:cNvPr id="11" name="">
            <a:extLst xmlns:a="http://schemas.openxmlformats.org/drawingml/2006/main">
              <a:ext uri="{FF2B5EF4-FFF2-40B4-BE49-F238E27FC236}">
                <a16:creationId xmlns:a16="http://schemas.microsoft.com/office/drawing/2014/main" id="{35A1BC6F-ABCE-433B-8419-992177DDAC65}"/>
              </a:ext>
            </a:extLst>
          </p:cNvPr>
          <p:cNvSpPr>
            <a:spLocks xmlns:a="http://schemas.openxmlformats.org/drawingml/2006/main" noGrp="1"/>
          </p:cNvSpPr>
          <p:nvPr/>
        </p:nvSpPr>
        <p:spPr>
          <a:xfrm xmlns:a="http://schemas.openxmlformats.org/drawingml/2006/main" rot="0">
            <a:off x="1409700" y="5867400"/>
            <a:ext cx="4019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i="0">
                <a:solidFill>
                  <a:srgbClr val="66745F"/>
                </a:solidFill>
                <a:latin typeface="Aptos"/>
                <a:ea typeface="Aptos"/>
                <a:cs typeface="Aptos"/>
              </a:defRPr>
            </a:pPr>
            <a:r>
              <a:rPr sz="1500" b="0" i="0">
                <a:solidFill>
                  <a:srgbClr val="66745F"/>
                </a:solidFill>
                <a:latin typeface="Aptos"/>
                <a:ea typeface="Aptos"/>
                <a:cs typeface="Aptos"/>
              </a:rPr>
              <a:t>Thương hiệu và nội dung tạo niềm tin cao.</a:t>
            </a:r>
          </a:p>
        </p:txBody>
      </p:sp>
      <p:sp>
        <p:nvSpPr>
          <p:cNvPr id="12" name="">
            <a:extLst xmlns:a="http://schemas.openxmlformats.org/drawingml/2006/main">
              <a:ext uri="{FF2B5EF4-FFF2-40B4-BE49-F238E27FC236}">
                <a16:creationId xmlns:a16="http://schemas.microsoft.com/office/drawing/2014/main" id="{90628C2D-D410-4069-B22D-93D242D520F0}"/>
              </a:ext>
            </a:extLst>
          </p:cNvPr>
          <p:cNvSpPr>
            <a:spLocks xmlns:a="http://schemas.openxmlformats.org/drawingml/2006/main" noGrp="1"/>
          </p:cNvSpPr>
          <p:nvPr/>
        </p:nvSpPr>
        <p:spPr>
          <a:xfrm xmlns:a="http://schemas.openxmlformats.org/drawingml/2006/main" rot="0">
            <a:off x="6477000" y="5591175"/>
            <a:ext cx="133350" cy="133350"/>
          </a:xfrm>
          <a:prstGeom xmlns:a="http://schemas.openxmlformats.org/drawingml/2006/main" prst="ellipse">
            <a:avLst/>
          </a:prstGeom>
          <a:solidFill xmlns:a="http://schemas.openxmlformats.org/drawingml/2006/main">
            <a:srgbClr val="8C9A8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F56203F-A734-404A-B2CE-E19CFFB5E057}"/>
              </a:ext>
            </a:extLst>
          </p:cNvPr>
          <p:cNvSpPr>
            <a:spLocks xmlns:a="http://schemas.openxmlformats.org/drawingml/2006/main" noGrp="1"/>
          </p:cNvSpPr>
          <p:nvPr/>
        </p:nvSpPr>
        <p:spPr>
          <a:xfrm xmlns:a="http://schemas.openxmlformats.org/drawingml/2006/main" rot="0">
            <a:off x="6743700" y="5543550"/>
            <a:ext cx="421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i="0">
                <a:solidFill>
                  <a:srgbClr val="24332B"/>
                </a:solidFill>
                <a:latin typeface="Aptos"/>
                <a:ea typeface="Aptos"/>
                <a:cs typeface="Aptos"/>
              </a:defRPr>
            </a:pPr>
            <a:r>
              <a:rPr sz="1725" b="1" i="0">
                <a:solidFill>
                  <a:srgbClr val="24332B"/>
                </a:solidFill>
                <a:latin typeface="Aptos"/>
                <a:ea typeface="Aptos"/>
                <a:cs typeface="Aptos"/>
              </a:rPr>
              <a:t>Độ phủ nội dung</a:t>
            </a:r>
          </a:p>
        </p:txBody>
      </p:sp>
      <p:sp>
        <p:nvSpPr>
          <p:cNvPr id="14" name="">
            <a:extLst xmlns:a="http://schemas.openxmlformats.org/drawingml/2006/main">
              <a:ext uri="{FF2B5EF4-FFF2-40B4-BE49-F238E27FC236}">
                <a16:creationId xmlns:a16="http://schemas.microsoft.com/office/drawing/2014/main" id="{CAC8EED5-DC31-4A84-B11C-1188C7658675}"/>
              </a:ext>
            </a:extLst>
          </p:cNvPr>
          <p:cNvSpPr>
            <a:spLocks xmlns:a="http://schemas.openxmlformats.org/drawingml/2006/main" noGrp="1"/>
          </p:cNvSpPr>
          <p:nvPr/>
        </p:nvSpPr>
        <p:spPr>
          <a:xfrm xmlns:a="http://schemas.openxmlformats.org/drawingml/2006/main" rot="0">
            <a:off x="6743700" y="5867400"/>
            <a:ext cx="4210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i="0">
                <a:solidFill>
                  <a:srgbClr val="66745F"/>
                </a:solidFill>
                <a:latin typeface="Aptos"/>
                <a:ea typeface="Aptos"/>
                <a:cs typeface="Aptos"/>
              </a:defRPr>
            </a:pPr>
            <a:r>
              <a:rPr sz="1500" b="0" i="0">
                <a:solidFill>
                  <a:srgbClr val="66745F"/>
                </a:solidFill>
                <a:latin typeface="Aptos"/>
                <a:ea typeface="Aptos"/>
                <a:cs typeface="Aptos"/>
              </a:rPr>
              <a:t>Tin, giải đấu, vé và media nằm trong cùng hệ sinh thái.</a:t>
            </a:r>
          </a:p>
        </p:txBody>
      </p:sp>
    </p:spTree>
    <p:extLst>
      <p:ext uri="{BB962C8B-B14F-4D97-AF65-F5344CB8AC3E}">
        <p14:creationId xmlns:p14="http://schemas.microsoft.com/office/powerpoint/2010/main" val="159211087"/>
      </p:ext>
    </p:extLst>
  </p:cSld>
</p:sld>
</file>

<file path=ppt/slides/slide1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13">
            <a:extLst xmlns:a="http://schemas.openxmlformats.org/drawingml/2006/main">
              <a:ext uri="{FF2B5EF4-FFF2-40B4-BE49-F238E27FC236}">
                <a16:creationId xmlns:a16="http://schemas.microsoft.com/office/drawing/2014/main" id="{6252E7BC-DC52-4A69-9FCE-4748E3343CA5}"/>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PHÁT HIỆN HCI FIFA.COM</a:t>
            </a:r>
          </a:p>
        </p:txBody>
      </p:sp>
      <p:sp>
        <p:nvSpPr>
          <p:cNvPr id="2" name="title-13">
            <a:extLst xmlns:a="http://schemas.openxmlformats.org/drawingml/2006/main">
              <a:ext uri="{FF2B5EF4-FFF2-40B4-BE49-F238E27FC236}">
                <a16:creationId xmlns:a16="http://schemas.microsoft.com/office/drawing/2014/main" id="{36B8B3AC-3CEB-4B61-A5B3-D6F7A0D9BB35}"/>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FIFA cần làm rõ điểm chuyển ngữ cảnh</a:t>
            </a:r>
          </a:p>
        </p:txBody>
      </p:sp>
      <p:sp>
        <p:nvSpPr>
          <p:cNvPr id="3" name="">
            <a:extLst xmlns:a="http://schemas.openxmlformats.org/drawingml/2006/main">
              <a:ext uri="{FF2B5EF4-FFF2-40B4-BE49-F238E27FC236}">
                <a16:creationId xmlns:a16="http://schemas.microsoft.com/office/drawing/2014/main" id="{BA3585E0-4BC8-4D7F-9D11-C6FF61909E3C}"/>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3859FEC-5499-4183-9B0C-9E819A781400}"/>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13</a:t>
            </a:r>
          </a:p>
        </p:txBody>
      </p:sp>
      <p:sp>
        <p:nvSpPr>
          <p:cNvPr id="5" name="">
            <a:extLst xmlns:a="http://schemas.openxmlformats.org/drawingml/2006/main">
              <a:ext uri="{FF2B5EF4-FFF2-40B4-BE49-F238E27FC236}">
                <a16:creationId xmlns:a16="http://schemas.microsoft.com/office/drawing/2014/main" id="{B345635E-39A4-4355-82C6-C70E803FD795}"/>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05743505-FC7D-425F-9A0A-C4C05A38BFF8}"/>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13 / 21</a:t>
            </a:r>
          </a:p>
        </p:txBody>
      </p:sp>
      <p:sp>
        <p:nvSpPr>
          <p:cNvPr id="7" name="">
            <a:extLst xmlns:a="http://schemas.openxmlformats.org/drawingml/2006/main">
              <a:ext uri="{FF2B5EF4-FFF2-40B4-BE49-F238E27FC236}">
                <a16:creationId xmlns:a16="http://schemas.microsoft.com/office/drawing/2014/main" id="{DA5055CB-1CB7-44F8-B55F-85136AC48B06}"/>
              </a:ext>
            </a:extLst>
          </p:cNvPr>
          <p:cNvSpPr>
            <a:spLocks xmlns:a="http://schemas.openxmlformats.org/drawingml/2006/main" noGrp="1"/>
          </p:cNvSpPr>
          <p:nvPr/>
        </p:nvSpPr>
        <p:spPr>
          <a:xfrm xmlns:a="http://schemas.openxmlformats.org/drawingml/2006/main" rot="0">
            <a:off x="609600" y="1504950"/>
            <a:ext cx="6858000" cy="3810000"/>
          </a:xfrm>
          <a:prstGeom xmlns:a="http://schemas.openxmlformats.org/drawingml/2006/main" prst="roundRect">
            <a:avLst>
              <a:gd name="adj" fmla="val 5500"/>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e226ab18d8d48d1"/>
          <a:stretch xmlns:a="http://schemas.openxmlformats.org/drawingml/2006/main"/>
        </p:blipFill>
        <p:spPr>
          <a:xfrm xmlns:a="http://schemas.openxmlformats.org/drawingml/2006/main">
            <a:off x="1432560" y="1600200"/>
            <a:ext cx="5212080" cy="3619500"/>
          </a:xfrm>
          <a:prstGeom xmlns:a="http://schemas.openxmlformats.org/drawingml/2006/main" prst="roundRect">
            <a:avLst>
              <a:gd name="adj" fmla="val 3684"/>
            </a:avLst>
          </a:prstGeom>
        </p:spPr>
      </p:pic>
      <p:sp>
        <p:nvSpPr>
          <p:cNvPr id="9" name="">
            <a:extLst xmlns:a="http://schemas.openxmlformats.org/drawingml/2006/main">
              <a:ext uri="{FF2B5EF4-FFF2-40B4-BE49-F238E27FC236}">
                <a16:creationId xmlns:a16="http://schemas.microsoft.com/office/drawing/2014/main" id="{5B0FB0B3-1DD3-490A-9078-71977170C9C0}"/>
              </a:ext>
            </a:extLst>
          </p:cNvPr>
          <p:cNvSpPr>
            <a:spLocks xmlns:a="http://schemas.openxmlformats.org/drawingml/2006/main" noGrp="1"/>
          </p:cNvSpPr>
          <p:nvPr/>
        </p:nvSpPr>
        <p:spPr>
          <a:xfrm xmlns:a="http://schemas.openxmlformats.org/drawingml/2006/main" rot="0">
            <a:off x="7848600" y="1504950"/>
            <a:ext cx="3581400" cy="3810000"/>
          </a:xfrm>
          <a:prstGeom xmlns:a="http://schemas.openxmlformats.org/drawingml/2006/main" prst="roundRect">
            <a:avLst>
              <a:gd name="adj" fmla="val 5851"/>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ecf48d077def4f92"/>
          <a:stretch xmlns:a="http://schemas.openxmlformats.org/drawingml/2006/main"/>
        </p:blipFill>
        <p:spPr>
          <a:xfrm xmlns:a="http://schemas.openxmlformats.org/drawingml/2006/main">
            <a:off x="7943850" y="2232554"/>
            <a:ext cx="3390900" cy="2354792"/>
          </a:xfrm>
          <a:prstGeom xmlns:a="http://schemas.openxmlformats.org/drawingml/2006/main" prst="roundRect">
            <a:avLst>
              <a:gd name="adj" fmla="val 3933"/>
            </a:avLst>
          </a:prstGeom>
        </p:spPr>
      </p:pic>
      <p:sp>
        <p:nvSpPr>
          <p:cNvPr id="11" name="">
            <a:extLst xmlns:a="http://schemas.openxmlformats.org/drawingml/2006/main">
              <a:ext uri="{FF2B5EF4-FFF2-40B4-BE49-F238E27FC236}">
                <a16:creationId xmlns:a16="http://schemas.microsoft.com/office/drawing/2014/main" id="{0C818287-07C5-4060-B5D7-B354EE41DB41}"/>
              </a:ext>
            </a:extLst>
          </p:cNvPr>
          <p:cNvSpPr>
            <a:spLocks xmlns:a="http://schemas.openxmlformats.org/drawingml/2006/main" noGrp="1"/>
          </p:cNvSpPr>
          <p:nvPr/>
        </p:nvSpPr>
        <p:spPr>
          <a:xfrm xmlns:a="http://schemas.openxmlformats.org/drawingml/2006/main" rot="0">
            <a:off x="1047750" y="5667375"/>
            <a:ext cx="133350" cy="133350"/>
          </a:xfrm>
          <a:prstGeom xmlns:a="http://schemas.openxmlformats.org/drawingml/2006/main" prst="ellipse">
            <a:avLst/>
          </a:prstGeom>
          <a:solidFill xmlns:a="http://schemas.openxmlformats.org/drawingml/2006/main">
            <a:srgbClr val="C7776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C89045E-F140-4C57-9785-F9CA10431FF9}"/>
              </a:ext>
            </a:extLst>
          </p:cNvPr>
          <p:cNvSpPr>
            <a:spLocks xmlns:a="http://schemas.openxmlformats.org/drawingml/2006/main" noGrp="1"/>
          </p:cNvSpPr>
          <p:nvPr/>
        </p:nvSpPr>
        <p:spPr>
          <a:xfrm xmlns:a="http://schemas.openxmlformats.org/drawingml/2006/main" rot="0">
            <a:off x="1314450" y="56197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i="0">
                <a:solidFill>
                  <a:srgbClr val="24332B"/>
                </a:solidFill>
                <a:latin typeface="Aptos"/>
                <a:ea typeface="Aptos"/>
                <a:cs typeface="Aptos"/>
              </a:defRPr>
            </a:pPr>
            <a:r>
              <a:rPr sz="1725" b="1" i="0">
                <a:solidFill>
                  <a:srgbClr val="24332B"/>
                </a:solidFill>
                <a:latin typeface="Aptos"/>
                <a:ea typeface="Aptos"/>
                <a:cs typeface="Aptos"/>
              </a:rPr>
              <a:t>Lối vào phải nói rõ đích đến</a:t>
            </a:r>
          </a:p>
        </p:txBody>
      </p:sp>
      <p:sp>
        <p:nvSpPr>
          <p:cNvPr id="13" name="">
            <a:extLst xmlns:a="http://schemas.openxmlformats.org/drawingml/2006/main">
              <a:ext uri="{FF2B5EF4-FFF2-40B4-BE49-F238E27FC236}">
                <a16:creationId xmlns:a16="http://schemas.microsoft.com/office/drawing/2014/main" id="{E00E8004-DC9B-4FC2-A844-8C4ABB4B403C}"/>
              </a:ext>
            </a:extLst>
          </p:cNvPr>
          <p:cNvSpPr>
            <a:spLocks xmlns:a="http://schemas.openxmlformats.org/drawingml/2006/main" noGrp="1"/>
          </p:cNvSpPr>
          <p:nvPr/>
        </p:nvSpPr>
        <p:spPr>
          <a:xfrm xmlns:a="http://schemas.openxmlformats.org/drawingml/2006/main" rot="0">
            <a:off x="1314450" y="5943600"/>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i="0">
                <a:solidFill>
                  <a:srgbClr val="66745F"/>
                </a:solidFill>
                <a:latin typeface="Aptos"/>
                <a:ea typeface="Aptos"/>
                <a:cs typeface="Aptos"/>
              </a:defRPr>
            </a:pPr>
            <a:r>
              <a:rPr sz="1500" b="0" i="0">
                <a:solidFill>
                  <a:srgbClr val="66745F"/>
                </a:solidFill>
                <a:latin typeface="Aptos"/>
                <a:ea typeface="Aptos"/>
                <a:cs typeface="Aptos"/>
              </a:rPr>
              <a:t>CTA cần cho biết người dùng sẽ chuyển sang ngữ cảnh World Cup.</a:t>
            </a:r>
          </a:p>
        </p:txBody>
      </p:sp>
      <p:sp>
        <p:nvSpPr>
          <p:cNvPr id="14" name="">
            <a:extLst xmlns:a="http://schemas.openxmlformats.org/drawingml/2006/main">
              <a:ext uri="{FF2B5EF4-FFF2-40B4-BE49-F238E27FC236}">
                <a16:creationId xmlns:a16="http://schemas.microsoft.com/office/drawing/2014/main" id="{46BE8FD7-CAD1-4CD6-B6BF-B434899D7EB2}"/>
              </a:ext>
            </a:extLst>
          </p:cNvPr>
          <p:cNvSpPr>
            <a:spLocks xmlns:a="http://schemas.openxmlformats.org/drawingml/2006/main" noGrp="1"/>
          </p:cNvSpPr>
          <p:nvPr/>
        </p:nvSpPr>
        <p:spPr>
          <a:xfrm xmlns:a="http://schemas.openxmlformats.org/drawingml/2006/main" rot="0">
            <a:off x="6400800" y="5667375"/>
            <a:ext cx="133350" cy="133350"/>
          </a:xfrm>
          <a:prstGeom xmlns:a="http://schemas.openxmlformats.org/drawingml/2006/main" prst="ellipse">
            <a:avLst/>
          </a:prstGeom>
          <a:solidFill xmlns:a="http://schemas.openxmlformats.org/drawingml/2006/main">
            <a:srgbClr val="8C9A8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52B69FF-0911-4571-AA3C-07FB6E51C23A}"/>
              </a:ext>
            </a:extLst>
          </p:cNvPr>
          <p:cNvSpPr>
            <a:spLocks xmlns:a="http://schemas.openxmlformats.org/drawingml/2006/main" noGrp="1"/>
          </p:cNvSpPr>
          <p:nvPr/>
        </p:nvSpPr>
        <p:spPr>
          <a:xfrm xmlns:a="http://schemas.openxmlformats.org/drawingml/2006/main" rot="0">
            <a:off x="6667500" y="56197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i="0">
                <a:solidFill>
                  <a:srgbClr val="24332B"/>
                </a:solidFill>
                <a:latin typeface="Aptos"/>
                <a:ea typeface="Aptos"/>
                <a:cs typeface="Aptos"/>
              </a:defRPr>
            </a:pPr>
            <a:r>
              <a:rPr sz="1725" b="1" i="0">
                <a:solidFill>
                  <a:srgbClr val="24332B"/>
                </a:solidFill>
                <a:latin typeface="Aptos"/>
                <a:ea typeface="Aptos"/>
                <a:cs typeface="Aptos"/>
              </a:rPr>
              <a:t>Điều hướng phải giữ dấu vết</a:t>
            </a:r>
          </a:p>
        </p:txBody>
      </p:sp>
      <p:sp>
        <p:nvSpPr>
          <p:cNvPr id="16" name="">
            <a:extLst xmlns:a="http://schemas.openxmlformats.org/drawingml/2006/main">
              <a:ext uri="{FF2B5EF4-FFF2-40B4-BE49-F238E27FC236}">
                <a16:creationId xmlns:a16="http://schemas.microsoft.com/office/drawing/2014/main" id="{E2650661-1748-485B-89B4-6AC48CA6A941}"/>
              </a:ext>
            </a:extLst>
          </p:cNvPr>
          <p:cNvSpPr>
            <a:spLocks xmlns:a="http://schemas.openxmlformats.org/drawingml/2006/main" noGrp="1"/>
          </p:cNvSpPr>
          <p:nvPr/>
        </p:nvSpPr>
        <p:spPr>
          <a:xfrm xmlns:a="http://schemas.openxmlformats.org/drawingml/2006/main" rot="0">
            <a:off x="6667500" y="5943600"/>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i="0">
                <a:solidFill>
                  <a:srgbClr val="66745F"/>
                </a:solidFill>
                <a:latin typeface="Aptos"/>
                <a:ea typeface="Aptos"/>
                <a:cs typeface="Aptos"/>
              </a:defRPr>
            </a:pPr>
            <a:r>
              <a:rPr sz="1500" b="0" i="0">
                <a:solidFill>
                  <a:srgbClr val="66745F"/>
                </a:solidFill>
                <a:latin typeface="Aptos"/>
                <a:ea typeface="Aptos"/>
                <a:cs typeface="Aptos"/>
              </a:rPr>
              <a:t>Trang đích cần giữ nhãn giải đấu và đường quay lại dễ nhận biết.</a:t>
            </a:r>
          </a:p>
        </p:txBody>
      </p:sp>
    </p:spTree>
    <p:extLst>
      <p:ext uri="{BB962C8B-B14F-4D97-AF65-F5344CB8AC3E}">
        <p14:creationId xmlns:p14="http://schemas.microsoft.com/office/powerpoint/2010/main" val="106595092"/>
      </p:ext>
    </p:extLst>
  </p:cSld>
</p:sld>
</file>

<file path=ppt/slides/slide1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14">
            <a:extLst xmlns:a="http://schemas.openxmlformats.org/drawingml/2006/main">
              <a:ext uri="{FF2B5EF4-FFF2-40B4-BE49-F238E27FC236}">
                <a16:creationId xmlns:a16="http://schemas.microsoft.com/office/drawing/2014/main" id="{900FA022-571B-423D-B64C-69C369532E1C}"/>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PHÁT HIỆN HCI CHESS.COM</a:t>
            </a:r>
          </a:p>
        </p:txBody>
      </p:sp>
      <p:sp>
        <p:nvSpPr>
          <p:cNvPr id="2" name="title-14">
            <a:extLst xmlns:a="http://schemas.openxmlformats.org/drawingml/2006/main">
              <a:ext uri="{FF2B5EF4-FFF2-40B4-BE49-F238E27FC236}">
                <a16:creationId xmlns:a16="http://schemas.microsoft.com/office/drawing/2014/main" id="{9B52FC50-32A0-45CA-BB2E-D52EBD1AFE58}"/>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Chess mạnh về vòng phản hồi</a:t>
            </a:r>
          </a:p>
        </p:txBody>
      </p:sp>
      <p:sp>
        <p:nvSpPr>
          <p:cNvPr id="3" name="">
            <a:extLst xmlns:a="http://schemas.openxmlformats.org/drawingml/2006/main">
              <a:ext uri="{FF2B5EF4-FFF2-40B4-BE49-F238E27FC236}">
                <a16:creationId xmlns:a16="http://schemas.microsoft.com/office/drawing/2014/main" id="{2B9121E5-58C7-442B-8310-B2F857D6F7C0}"/>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CE9EBE1-9309-4518-BE2E-9423979C2D3D}"/>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14</a:t>
            </a:r>
          </a:p>
        </p:txBody>
      </p:sp>
      <p:sp>
        <p:nvSpPr>
          <p:cNvPr id="5" name="">
            <a:extLst xmlns:a="http://schemas.openxmlformats.org/drawingml/2006/main">
              <a:ext uri="{FF2B5EF4-FFF2-40B4-BE49-F238E27FC236}">
                <a16:creationId xmlns:a16="http://schemas.microsoft.com/office/drawing/2014/main" id="{DAC8F4DB-CB5D-4D00-82A4-75A042861BDE}"/>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5EBE2110-75CC-4D12-80B1-C55BDE052158}"/>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14 / 21</a:t>
            </a:r>
          </a:p>
        </p:txBody>
      </p:sp>
      <p:sp>
        <p:nvSpPr>
          <p:cNvPr id="7" name="">
            <a:extLst xmlns:a="http://schemas.openxmlformats.org/drawingml/2006/main">
              <a:ext uri="{FF2B5EF4-FFF2-40B4-BE49-F238E27FC236}">
                <a16:creationId xmlns:a16="http://schemas.microsoft.com/office/drawing/2014/main" id="{877C7E70-D91F-451E-A33B-F01415A1B0BC}"/>
              </a:ext>
            </a:extLst>
          </p:cNvPr>
          <p:cNvSpPr>
            <a:spLocks xmlns:a="http://schemas.openxmlformats.org/drawingml/2006/main" noGrp="1"/>
          </p:cNvSpPr>
          <p:nvPr/>
        </p:nvSpPr>
        <p:spPr>
          <a:xfrm xmlns:a="http://schemas.openxmlformats.org/drawingml/2006/main" rot="0">
            <a:off x="609600" y="1504950"/>
            <a:ext cx="7810500" cy="4419600"/>
          </a:xfrm>
          <a:prstGeom xmlns:a="http://schemas.openxmlformats.org/drawingml/2006/main" prst="roundRect">
            <a:avLst>
              <a:gd name="adj" fmla="val 4741"/>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be3e9938b81493a"/>
          <a:stretch xmlns:a="http://schemas.openxmlformats.org/drawingml/2006/main"/>
        </p:blipFill>
        <p:spPr>
          <a:xfrm xmlns:a="http://schemas.openxmlformats.org/drawingml/2006/main">
            <a:off x="1469898" y="1600200"/>
            <a:ext cx="6089904" cy="4229100"/>
          </a:xfrm>
          <a:prstGeom xmlns:a="http://schemas.openxmlformats.org/drawingml/2006/main" prst="roundRect">
            <a:avLst>
              <a:gd name="adj" fmla="val 3153"/>
            </a:avLst>
          </a:prstGeom>
        </p:spPr>
      </p:pic>
      <p:sp>
        <p:nvSpPr>
          <p:cNvPr id="9" name="">
            <a:extLst xmlns:a="http://schemas.openxmlformats.org/drawingml/2006/main">
              <a:ext uri="{FF2B5EF4-FFF2-40B4-BE49-F238E27FC236}">
                <a16:creationId xmlns:a16="http://schemas.microsoft.com/office/drawing/2014/main" id="{62BD34A1-4999-4AE9-B8D2-8F4559D9E41D}"/>
              </a:ext>
            </a:extLst>
          </p:cNvPr>
          <p:cNvSpPr>
            <a:spLocks xmlns:a="http://schemas.openxmlformats.org/drawingml/2006/main" noGrp="1"/>
          </p:cNvSpPr>
          <p:nvPr/>
        </p:nvSpPr>
        <p:spPr>
          <a:xfrm xmlns:a="http://schemas.openxmlformats.org/drawingml/2006/main" rot="0">
            <a:off x="8763000" y="1504950"/>
            <a:ext cx="2667000" cy="4419600"/>
          </a:xfrm>
          <a:prstGeom xmlns:a="http://schemas.openxmlformats.org/drawingml/2006/main" prst="roundRect">
            <a:avLst>
              <a:gd name="adj" fmla="val 7857"/>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7776608fbbe45d4"/>
          <a:stretch xmlns:a="http://schemas.openxmlformats.org/drawingml/2006/main"/>
        </p:blipFill>
        <p:spPr>
          <a:xfrm xmlns:a="http://schemas.openxmlformats.org/drawingml/2006/main">
            <a:off x="9119398" y="1600200"/>
            <a:ext cx="1954205" cy="4229100"/>
          </a:xfrm>
          <a:prstGeom xmlns:a="http://schemas.openxmlformats.org/drawingml/2006/main" prst="roundRect">
            <a:avLst>
              <a:gd name="adj" fmla="val 5385"/>
            </a:avLst>
          </a:prstGeom>
        </p:spPr>
      </p:pic>
      <p:sp>
        <p:nvSpPr>
          <p:cNvPr id="11" name="">
            <a:extLst xmlns:a="http://schemas.openxmlformats.org/drawingml/2006/main">
              <a:ext uri="{FF2B5EF4-FFF2-40B4-BE49-F238E27FC236}">
                <a16:creationId xmlns:a16="http://schemas.microsoft.com/office/drawing/2014/main" id="{FCFE39C2-38FE-40A9-BD1B-99009DBD4E81}"/>
              </a:ext>
            </a:extLst>
          </p:cNvPr>
          <p:cNvSpPr>
            <a:spLocks xmlns:a="http://schemas.openxmlformats.org/drawingml/2006/main" noGrp="1"/>
          </p:cNvSpPr>
          <p:nvPr/>
        </p:nvSpPr>
        <p:spPr>
          <a:xfrm xmlns:a="http://schemas.openxmlformats.org/drawingml/2006/main" rot="0">
            <a:off x="1238250" y="6057900"/>
            <a:ext cx="971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758B6A"/>
                </a:solidFill>
                <a:latin typeface="Aptos"/>
                <a:ea typeface="Aptos"/>
                <a:cs typeface="Aptos"/>
              </a:defRPr>
            </a:pPr>
            <a:r>
              <a:rPr sz="1500" b="1" i="0">
                <a:solidFill>
                  <a:srgbClr val="758B6A"/>
                </a:solidFill>
                <a:latin typeface="Aptos"/>
                <a:ea typeface="Aptos"/>
                <a:cs typeface="Aptos"/>
              </a:rPr>
              <a:t>Thao tác trực tiếp • trạng thái rõ • phản hồi nhanh</a:t>
            </a:r>
          </a:p>
        </p:txBody>
      </p:sp>
    </p:spTree>
    <p:extLst>
      <p:ext uri="{BB962C8B-B14F-4D97-AF65-F5344CB8AC3E}">
        <p14:creationId xmlns:p14="http://schemas.microsoft.com/office/powerpoint/2010/main" val="1295788419"/>
      </p:ext>
    </p:extLst>
  </p:cSld>
</p:sld>
</file>

<file path=ppt/slides/slide1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15">
            <a:extLst xmlns:a="http://schemas.openxmlformats.org/drawingml/2006/main">
              <a:ext uri="{FF2B5EF4-FFF2-40B4-BE49-F238E27FC236}">
                <a16:creationId xmlns:a16="http://schemas.microsoft.com/office/drawing/2014/main" id="{02EA63EA-B63F-4719-856B-BFF8DB9B378E}"/>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PHÁT HIỆN HCI CHESS.COM</a:t>
            </a:r>
          </a:p>
        </p:txBody>
      </p:sp>
      <p:sp>
        <p:nvSpPr>
          <p:cNvPr id="2" name="title-15">
            <a:extLst xmlns:a="http://schemas.openxmlformats.org/drawingml/2006/main">
              <a:ext uri="{FF2B5EF4-FFF2-40B4-BE49-F238E27FC236}">
                <a16:creationId xmlns:a16="http://schemas.microsoft.com/office/drawing/2014/main" id="{89E2D026-9129-43A4-8BF0-2987C0FDAA70}"/>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Chess dễ gây quá tải cho người mới</a:t>
            </a:r>
          </a:p>
        </p:txBody>
      </p:sp>
      <p:sp>
        <p:nvSpPr>
          <p:cNvPr id="3" name="">
            <a:extLst xmlns:a="http://schemas.openxmlformats.org/drawingml/2006/main">
              <a:ext uri="{FF2B5EF4-FFF2-40B4-BE49-F238E27FC236}">
                <a16:creationId xmlns:a16="http://schemas.microsoft.com/office/drawing/2014/main" id="{97936BA7-26DF-4E89-9B85-3DAE2EFD00D8}"/>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360C5E6-5567-4237-88CA-29D601F0FDB0}"/>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15</a:t>
            </a:r>
          </a:p>
        </p:txBody>
      </p:sp>
      <p:sp>
        <p:nvSpPr>
          <p:cNvPr id="5" name="">
            <a:extLst xmlns:a="http://schemas.openxmlformats.org/drawingml/2006/main">
              <a:ext uri="{FF2B5EF4-FFF2-40B4-BE49-F238E27FC236}">
                <a16:creationId xmlns:a16="http://schemas.microsoft.com/office/drawing/2014/main" id="{64C6D296-2616-4AD6-A01F-3E5E4984F413}"/>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83ECEF1B-5735-4CEC-9D66-0DFFCCE6074C}"/>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15 / 21</a:t>
            </a:r>
          </a:p>
        </p:txBody>
      </p:sp>
      <p:sp>
        <p:nvSpPr>
          <p:cNvPr id="7" name="">
            <a:extLst xmlns:a="http://schemas.openxmlformats.org/drawingml/2006/main">
              <a:ext uri="{FF2B5EF4-FFF2-40B4-BE49-F238E27FC236}">
                <a16:creationId xmlns:a16="http://schemas.microsoft.com/office/drawing/2014/main" id="{F4A1F25E-2962-48FE-8DB6-FDF3437F9BED}"/>
              </a:ext>
            </a:extLst>
          </p:cNvPr>
          <p:cNvSpPr>
            <a:spLocks xmlns:a="http://schemas.openxmlformats.org/drawingml/2006/main" noGrp="1"/>
          </p:cNvSpPr>
          <p:nvPr/>
        </p:nvSpPr>
        <p:spPr>
          <a:xfrm xmlns:a="http://schemas.openxmlformats.org/drawingml/2006/main" rot="0">
            <a:off x="609600" y="1504950"/>
            <a:ext cx="6858000" cy="3810000"/>
          </a:xfrm>
          <a:prstGeom xmlns:a="http://schemas.openxmlformats.org/drawingml/2006/main" prst="roundRect">
            <a:avLst>
              <a:gd name="adj" fmla="val 5500"/>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52a5f2909c04387"/>
          <a:stretch xmlns:a="http://schemas.openxmlformats.org/drawingml/2006/main"/>
        </p:blipFill>
        <p:spPr>
          <a:xfrm xmlns:a="http://schemas.openxmlformats.org/drawingml/2006/main">
            <a:off x="1432560" y="1600200"/>
            <a:ext cx="5212080" cy="3619500"/>
          </a:xfrm>
          <a:prstGeom xmlns:a="http://schemas.openxmlformats.org/drawingml/2006/main" prst="roundRect">
            <a:avLst>
              <a:gd name="adj" fmla="val 3684"/>
            </a:avLst>
          </a:prstGeom>
        </p:spPr>
      </p:pic>
      <p:sp>
        <p:nvSpPr>
          <p:cNvPr id="9" name="">
            <a:extLst xmlns:a="http://schemas.openxmlformats.org/drawingml/2006/main">
              <a:ext uri="{FF2B5EF4-FFF2-40B4-BE49-F238E27FC236}">
                <a16:creationId xmlns:a16="http://schemas.microsoft.com/office/drawing/2014/main" id="{FD18BD18-F297-4B25-BAD4-13AC96836A8B}"/>
              </a:ext>
            </a:extLst>
          </p:cNvPr>
          <p:cNvSpPr>
            <a:spLocks xmlns:a="http://schemas.openxmlformats.org/drawingml/2006/main" noGrp="1"/>
          </p:cNvSpPr>
          <p:nvPr/>
        </p:nvSpPr>
        <p:spPr>
          <a:xfrm xmlns:a="http://schemas.openxmlformats.org/drawingml/2006/main" rot="0">
            <a:off x="7848600" y="1504950"/>
            <a:ext cx="3581400" cy="3810000"/>
          </a:xfrm>
          <a:prstGeom xmlns:a="http://schemas.openxmlformats.org/drawingml/2006/main" prst="roundRect">
            <a:avLst>
              <a:gd name="adj" fmla="val 5851"/>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065f8a1ed8b4592"/>
          <a:stretch xmlns:a="http://schemas.openxmlformats.org/drawingml/2006/main"/>
        </p:blipFill>
        <p:spPr>
          <a:xfrm xmlns:a="http://schemas.openxmlformats.org/drawingml/2006/main">
            <a:off x="7943850" y="2232554"/>
            <a:ext cx="3390900" cy="2354792"/>
          </a:xfrm>
          <a:prstGeom xmlns:a="http://schemas.openxmlformats.org/drawingml/2006/main" prst="roundRect">
            <a:avLst>
              <a:gd name="adj" fmla="val 3933"/>
            </a:avLst>
          </a:prstGeom>
        </p:spPr>
      </p:pic>
      <p:sp>
        <p:nvSpPr>
          <p:cNvPr id="11" name="">
            <a:extLst xmlns:a="http://schemas.openxmlformats.org/drawingml/2006/main">
              <a:ext uri="{FF2B5EF4-FFF2-40B4-BE49-F238E27FC236}">
                <a16:creationId xmlns:a16="http://schemas.microsoft.com/office/drawing/2014/main" id="{B90215CD-C798-4EE9-AB3A-A79DD19D5A46}"/>
              </a:ext>
            </a:extLst>
          </p:cNvPr>
          <p:cNvSpPr>
            <a:spLocks xmlns:a="http://schemas.openxmlformats.org/drawingml/2006/main" noGrp="1"/>
          </p:cNvSpPr>
          <p:nvPr/>
        </p:nvSpPr>
        <p:spPr>
          <a:xfrm xmlns:a="http://schemas.openxmlformats.org/drawingml/2006/main" rot="0">
            <a:off x="1047750" y="5667375"/>
            <a:ext cx="133350" cy="133350"/>
          </a:xfrm>
          <a:prstGeom xmlns:a="http://schemas.openxmlformats.org/drawingml/2006/main" prst="ellipse">
            <a:avLst/>
          </a:prstGeom>
          <a:solidFill xmlns:a="http://schemas.openxmlformats.org/drawingml/2006/main">
            <a:srgbClr val="758B6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B4FD7F2-64E7-4A75-B590-4B4A5EC612DB}"/>
              </a:ext>
            </a:extLst>
          </p:cNvPr>
          <p:cNvSpPr>
            <a:spLocks xmlns:a="http://schemas.openxmlformats.org/drawingml/2006/main" noGrp="1"/>
          </p:cNvSpPr>
          <p:nvPr/>
        </p:nvSpPr>
        <p:spPr>
          <a:xfrm xmlns:a="http://schemas.openxmlformats.org/drawingml/2006/main" rot="0">
            <a:off x="1314450" y="56197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i="0">
                <a:solidFill>
                  <a:srgbClr val="24332B"/>
                </a:solidFill>
                <a:latin typeface="Aptos"/>
                <a:ea typeface="Aptos"/>
                <a:cs typeface="Aptos"/>
              </a:defRPr>
            </a:pPr>
            <a:r>
              <a:rPr sz="1725" b="1" i="0">
                <a:solidFill>
                  <a:srgbClr val="24332B"/>
                </a:solidFill>
                <a:latin typeface="Aptos"/>
                <a:ea typeface="Aptos"/>
                <a:cs typeface="Aptos"/>
              </a:rPr>
              <a:t>Nhiều tính năng cùng xuất hiện</a:t>
            </a:r>
          </a:p>
        </p:txBody>
      </p:sp>
      <p:sp>
        <p:nvSpPr>
          <p:cNvPr id="13" name="">
            <a:extLst xmlns:a="http://schemas.openxmlformats.org/drawingml/2006/main">
              <a:ext uri="{FF2B5EF4-FFF2-40B4-BE49-F238E27FC236}">
                <a16:creationId xmlns:a16="http://schemas.microsoft.com/office/drawing/2014/main" id="{359EED30-26DE-4CC8-829C-8CB8600DE744}"/>
              </a:ext>
            </a:extLst>
          </p:cNvPr>
          <p:cNvSpPr>
            <a:spLocks xmlns:a="http://schemas.openxmlformats.org/drawingml/2006/main" noGrp="1"/>
          </p:cNvSpPr>
          <p:nvPr/>
        </p:nvSpPr>
        <p:spPr>
          <a:xfrm xmlns:a="http://schemas.openxmlformats.org/drawingml/2006/main" rot="0">
            <a:off x="1314450" y="5943600"/>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i="0">
                <a:solidFill>
                  <a:srgbClr val="66745F"/>
                </a:solidFill>
                <a:latin typeface="Aptos"/>
                <a:ea typeface="Aptos"/>
                <a:cs typeface="Aptos"/>
              </a:defRPr>
            </a:pPr>
            <a:r>
              <a:rPr sz="1500" b="0" i="0">
                <a:solidFill>
                  <a:srgbClr val="66745F"/>
                </a:solidFill>
                <a:latin typeface="Aptos"/>
                <a:ea typeface="Aptos"/>
                <a:cs typeface="Aptos"/>
              </a:rPr>
              <a:t>Người mới khó xác định bước đầu tiên.</a:t>
            </a:r>
          </a:p>
        </p:txBody>
      </p:sp>
      <p:sp>
        <p:nvSpPr>
          <p:cNvPr id="14" name="">
            <a:extLst xmlns:a="http://schemas.openxmlformats.org/drawingml/2006/main">
              <a:ext uri="{FF2B5EF4-FFF2-40B4-BE49-F238E27FC236}">
                <a16:creationId xmlns:a16="http://schemas.microsoft.com/office/drawing/2014/main" id="{9F62A171-AC52-4614-8DF6-2283CFDBE230}"/>
              </a:ext>
            </a:extLst>
          </p:cNvPr>
          <p:cNvSpPr>
            <a:spLocks xmlns:a="http://schemas.openxmlformats.org/drawingml/2006/main" noGrp="1"/>
          </p:cNvSpPr>
          <p:nvPr/>
        </p:nvSpPr>
        <p:spPr>
          <a:xfrm xmlns:a="http://schemas.openxmlformats.org/drawingml/2006/main" rot="0">
            <a:off x="6400800" y="5667375"/>
            <a:ext cx="133350" cy="133350"/>
          </a:xfrm>
          <a:prstGeom xmlns:a="http://schemas.openxmlformats.org/drawingml/2006/main" prst="ellipse">
            <a:avLst/>
          </a:prstGeom>
          <a:solidFill xmlns:a="http://schemas.openxmlformats.org/drawingml/2006/main">
            <a:srgbClr val="C7776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BDF0DEE-0843-4B21-8CF2-1909A6C082FA}"/>
              </a:ext>
            </a:extLst>
          </p:cNvPr>
          <p:cNvSpPr>
            <a:spLocks xmlns:a="http://schemas.openxmlformats.org/drawingml/2006/main" noGrp="1"/>
          </p:cNvSpPr>
          <p:nvPr/>
        </p:nvSpPr>
        <p:spPr>
          <a:xfrm xmlns:a="http://schemas.openxmlformats.org/drawingml/2006/main" rot="0">
            <a:off x="6667500" y="5619750"/>
            <a:ext cx="4495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i="0">
                <a:solidFill>
                  <a:srgbClr val="24332B"/>
                </a:solidFill>
                <a:latin typeface="Aptos"/>
                <a:ea typeface="Aptos"/>
                <a:cs typeface="Aptos"/>
              </a:defRPr>
            </a:pPr>
            <a:r>
              <a:rPr sz="1725" b="1" i="0">
                <a:solidFill>
                  <a:srgbClr val="24332B"/>
                </a:solidFill>
                <a:latin typeface="Aptos"/>
                <a:ea typeface="Aptos"/>
                <a:cs typeface="Aptos"/>
              </a:rPr>
              <a:t>Prompt có thể ngắt nhịp</a:t>
            </a:r>
          </a:p>
        </p:txBody>
      </p:sp>
      <p:sp>
        <p:nvSpPr>
          <p:cNvPr id="16" name="">
            <a:extLst xmlns:a="http://schemas.openxmlformats.org/drawingml/2006/main">
              <a:ext uri="{FF2B5EF4-FFF2-40B4-BE49-F238E27FC236}">
                <a16:creationId xmlns:a16="http://schemas.microsoft.com/office/drawing/2014/main" id="{3672B81B-C974-4D0F-8BEF-9F253615C05E}"/>
              </a:ext>
            </a:extLst>
          </p:cNvPr>
          <p:cNvSpPr>
            <a:spLocks xmlns:a="http://schemas.openxmlformats.org/drawingml/2006/main" noGrp="1"/>
          </p:cNvSpPr>
          <p:nvPr/>
        </p:nvSpPr>
        <p:spPr>
          <a:xfrm xmlns:a="http://schemas.openxmlformats.org/drawingml/2006/main" rot="0">
            <a:off x="6667500" y="5943600"/>
            <a:ext cx="449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i="0">
                <a:solidFill>
                  <a:srgbClr val="66745F"/>
                </a:solidFill>
                <a:latin typeface="Aptos"/>
                <a:ea typeface="Aptos"/>
                <a:cs typeface="Aptos"/>
              </a:defRPr>
            </a:pPr>
            <a:r>
              <a:rPr sz="1500" b="0" i="0">
                <a:solidFill>
                  <a:srgbClr val="66745F"/>
                </a:solidFill>
                <a:latin typeface="Aptos"/>
                <a:ea typeface="Aptos"/>
                <a:cs typeface="Aptos"/>
              </a:rPr>
              <a:t>Kỳ vọng truy cập và lợi ích tài khoản cần rõ hơn.</a:t>
            </a:r>
          </a:p>
        </p:txBody>
      </p:sp>
    </p:spTree>
    <p:extLst>
      <p:ext uri="{BB962C8B-B14F-4D97-AF65-F5344CB8AC3E}">
        <p14:creationId xmlns:p14="http://schemas.microsoft.com/office/powerpoint/2010/main" val="2070139743"/>
      </p:ext>
    </p:extLst>
  </p:cSld>
</p:sld>
</file>

<file path=ppt/slides/slide1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16">
            <a:extLst xmlns:a="http://schemas.openxmlformats.org/drawingml/2006/main">
              <a:ext uri="{FF2B5EF4-FFF2-40B4-BE49-F238E27FC236}">
                <a16:creationId xmlns:a16="http://schemas.microsoft.com/office/drawing/2014/main" id="{3F391F82-5688-499D-884A-7B234A11F507}"/>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HẠN CHẾ CHÍNH</a:t>
            </a:r>
          </a:p>
        </p:txBody>
      </p:sp>
      <p:sp>
        <p:nvSpPr>
          <p:cNvPr id="2" name="title-16">
            <a:extLst xmlns:a="http://schemas.openxmlformats.org/drawingml/2006/main">
              <a:ext uri="{FF2B5EF4-FFF2-40B4-BE49-F238E27FC236}">
                <a16:creationId xmlns:a16="http://schemas.microsoft.com/office/drawing/2014/main" id="{866C827C-E088-450D-88E1-66F336B28393}"/>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Hai nhóm hạn chế cần xử lý</a:t>
            </a:r>
          </a:p>
        </p:txBody>
      </p:sp>
      <p:sp>
        <p:nvSpPr>
          <p:cNvPr id="3" name="">
            <a:extLst xmlns:a="http://schemas.openxmlformats.org/drawingml/2006/main">
              <a:ext uri="{FF2B5EF4-FFF2-40B4-BE49-F238E27FC236}">
                <a16:creationId xmlns:a16="http://schemas.microsoft.com/office/drawing/2014/main" id="{07C279CB-CDCE-45A8-B7A3-B3AD03EDFAE4}"/>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9DD63BD-E3E2-4196-B92D-C1627BF5702A}"/>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16</a:t>
            </a:r>
          </a:p>
        </p:txBody>
      </p:sp>
      <p:sp>
        <p:nvSpPr>
          <p:cNvPr id="5" name="">
            <a:extLst xmlns:a="http://schemas.openxmlformats.org/drawingml/2006/main">
              <a:ext uri="{FF2B5EF4-FFF2-40B4-BE49-F238E27FC236}">
                <a16:creationId xmlns:a16="http://schemas.microsoft.com/office/drawing/2014/main" id="{18271D6A-B35F-4E7F-AF7E-3D41C96EBF7C}"/>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711B6630-6025-4784-B680-B738829CBA32}"/>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16 / 21</a:t>
            </a:r>
          </a:p>
        </p:txBody>
      </p:sp>
      <p:sp>
        <p:nvSpPr>
          <p:cNvPr id="7" name="">
            <a:extLst xmlns:a="http://schemas.openxmlformats.org/drawingml/2006/main">
              <a:ext uri="{FF2B5EF4-FFF2-40B4-BE49-F238E27FC236}">
                <a16:creationId xmlns:a16="http://schemas.microsoft.com/office/drawing/2014/main" id="{174E7E27-F5F7-4775-AB02-B118F60DFFBC}"/>
              </a:ext>
            </a:extLst>
          </p:cNvPr>
          <p:cNvSpPr>
            <a:spLocks xmlns:a="http://schemas.openxmlformats.org/drawingml/2006/main" noGrp="1"/>
          </p:cNvSpPr>
          <p:nvPr/>
        </p:nvSpPr>
        <p:spPr>
          <a:xfrm xmlns:a="http://schemas.openxmlformats.org/drawingml/2006/main" rot="0">
            <a:off x="609600" y="1504950"/>
            <a:ext cx="5238750" cy="3429000"/>
          </a:xfrm>
          <a:prstGeom xmlns:a="http://schemas.openxmlformats.org/drawingml/2006/main" prst="roundRect">
            <a:avLst>
              <a:gd name="adj" fmla="val 6111"/>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807f2414edf4964"/>
          <a:stretch xmlns:a="http://schemas.openxmlformats.org/drawingml/2006/main"/>
        </p:blipFill>
        <p:spPr>
          <a:xfrm xmlns:a="http://schemas.openxmlformats.org/drawingml/2006/main">
            <a:off x="897255" y="1600200"/>
            <a:ext cx="4663440" cy="3238500"/>
          </a:xfrm>
          <a:prstGeom xmlns:a="http://schemas.openxmlformats.org/drawingml/2006/main" prst="roundRect">
            <a:avLst>
              <a:gd name="adj" fmla="val 4118"/>
            </a:avLst>
          </a:prstGeom>
        </p:spPr>
      </p:pic>
      <p:sp>
        <p:nvSpPr>
          <p:cNvPr id="9" name="">
            <a:extLst xmlns:a="http://schemas.openxmlformats.org/drawingml/2006/main">
              <a:ext uri="{FF2B5EF4-FFF2-40B4-BE49-F238E27FC236}">
                <a16:creationId xmlns:a16="http://schemas.microsoft.com/office/drawing/2014/main" id="{C83BD973-82F3-4D72-90CF-55751FAD0B52}"/>
              </a:ext>
            </a:extLst>
          </p:cNvPr>
          <p:cNvSpPr>
            <a:spLocks xmlns:a="http://schemas.openxmlformats.org/drawingml/2006/main" noGrp="1"/>
          </p:cNvSpPr>
          <p:nvPr/>
        </p:nvSpPr>
        <p:spPr>
          <a:xfrm xmlns:a="http://schemas.openxmlformats.org/drawingml/2006/main" rot="0">
            <a:off x="6343650" y="1504950"/>
            <a:ext cx="5238750" cy="3429000"/>
          </a:xfrm>
          <a:prstGeom xmlns:a="http://schemas.openxmlformats.org/drawingml/2006/main" prst="roundRect">
            <a:avLst>
              <a:gd name="adj" fmla="val 6111"/>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ea69ded641a451b"/>
          <a:stretch xmlns:a="http://schemas.openxmlformats.org/drawingml/2006/main"/>
        </p:blipFill>
        <p:spPr>
          <a:xfrm xmlns:a="http://schemas.openxmlformats.org/drawingml/2006/main">
            <a:off x="6631305" y="1600200"/>
            <a:ext cx="4663440" cy="3238500"/>
          </a:xfrm>
          <a:prstGeom xmlns:a="http://schemas.openxmlformats.org/drawingml/2006/main" prst="roundRect">
            <a:avLst>
              <a:gd name="adj" fmla="val 4118"/>
            </a:avLst>
          </a:prstGeom>
        </p:spPr>
      </p:pic>
      <p:sp>
        <p:nvSpPr>
          <p:cNvPr id="11" name="">
            <a:extLst xmlns:a="http://schemas.openxmlformats.org/drawingml/2006/main">
              <a:ext uri="{FF2B5EF4-FFF2-40B4-BE49-F238E27FC236}">
                <a16:creationId xmlns:a16="http://schemas.microsoft.com/office/drawing/2014/main" id="{243582F1-5A19-4A84-B4A2-AA88CC96D445}"/>
              </a:ext>
            </a:extLst>
          </p:cNvPr>
          <p:cNvSpPr>
            <a:spLocks xmlns:a="http://schemas.openxmlformats.org/drawingml/2006/main" noGrp="1"/>
          </p:cNvSpPr>
          <p:nvPr/>
        </p:nvSpPr>
        <p:spPr>
          <a:xfrm xmlns:a="http://schemas.openxmlformats.org/drawingml/2006/main" rot="0">
            <a:off x="609600" y="5086350"/>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i="0">
                <a:solidFill>
                  <a:srgbClr val="C77761"/>
                </a:solidFill>
                <a:latin typeface="Aptos"/>
                <a:ea typeface="Aptos"/>
                <a:cs typeface="Aptos"/>
              </a:defRPr>
            </a:pPr>
            <a:r>
              <a:rPr sz="1950" b="1" i="0">
                <a:solidFill>
                  <a:srgbClr val="C77761"/>
                </a:solidFill>
                <a:latin typeface="Aptos"/>
                <a:ea typeface="Aptos"/>
                <a:cs typeface="Aptos"/>
              </a:rPr>
              <a:t>FIFA.com</a:t>
            </a:r>
          </a:p>
        </p:txBody>
      </p:sp>
      <p:sp>
        <p:nvSpPr>
          <p:cNvPr id="12" name="">
            <a:extLst xmlns:a="http://schemas.openxmlformats.org/drawingml/2006/main">
              <a:ext uri="{FF2B5EF4-FFF2-40B4-BE49-F238E27FC236}">
                <a16:creationId xmlns:a16="http://schemas.microsoft.com/office/drawing/2014/main" id="{67260670-AC7C-49AF-902E-074D5A9EA6EA}"/>
              </a:ext>
            </a:extLst>
          </p:cNvPr>
          <p:cNvSpPr>
            <a:spLocks xmlns:a="http://schemas.openxmlformats.org/drawingml/2006/main" noGrp="1"/>
          </p:cNvSpPr>
          <p:nvPr/>
        </p:nvSpPr>
        <p:spPr>
          <a:xfrm xmlns:a="http://schemas.openxmlformats.org/drawingml/2006/main" rot="0">
            <a:off x="876300" y="5467350"/>
            <a:ext cx="4705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i="0">
                <a:solidFill>
                  <a:srgbClr val="24332B"/>
                </a:solidFill>
                <a:latin typeface="Aptos"/>
                <a:ea typeface="Aptos"/>
                <a:cs typeface="Aptos"/>
              </a:defRPr>
            </a:pPr>
            <a:r>
              <a:rPr sz="1650" b="1" i="0">
                <a:solidFill>
                  <a:srgbClr val="24332B"/>
                </a:solidFill>
                <a:latin typeface="Aptos"/>
                <a:ea typeface="Aptos"/>
                <a:cs typeface="Aptos"/>
              </a:rPr>
              <a:t>Đường đi phân tán • handoff thiếu giải thích • tải quét cao</a:t>
            </a:r>
          </a:p>
        </p:txBody>
      </p:sp>
      <p:sp>
        <p:nvSpPr>
          <p:cNvPr id="13" name="">
            <a:extLst xmlns:a="http://schemas.openxmlformats.org/drawingml/2006/main">
              <a:ext uri="{FF2B5EF4-FFF2-40B4-BE49-F238E27FC236}">
                <a16:creationId xmlns:a16="http://schemas.microsoft.com/office/drawing/2014/main" id="{37AA816F-C99E-46C2-94DE-B6C099091A78}"/>
              </a:ext>
            </a:extLst>
          </p:cNvPr>
          <p:cNvSpPr>
            <a:spLocks xmlns:a="http://schemas.openxmlformats.org/drawingml/2006/main" noGrp="1"/>
          </p:cNvSpPr>
          <p:nvPr/>
        </p:nvSpPr>
        <p:spPr>
          <a:xfrm xmlns:a="http://schemas.openxmlformats.org/drawingml/2006/main" rot="0">
            <a:off x="6343650" y="5086350"/>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i="0">
                <a:solidFill>
                  <a:srgbClr val="758B6A"/>
                </a:solidFill>
                <a:latin typeface="Aptos"/>
                <a:ea typeface="Aptos"/>
                <a:cs typeface="Aptos"/>
              </a:defRPr>
            </a:pPr>
            <a:r>
              <a:rPr sz="1950" b="1" i="0">
                <a:solidFill>
                  <a:srgbClr val="758B6A"/>
                </a:solidFill>
                <a:latin typeface="Aptos"/>
                <a:ea typeface="Aptos"/>
                <a:cs typeface="Aptos"/>
              </a:rPr>
              <a:t>Chess.com</a:t>
            </a:r>
          </a:p>
        </p:txBody>
      </p:sp>
      <p:sp>
        <p:nvSpPr>
          <p:cNvPr id="14" name="">
            <a:extLst xmlns:a="http://schemas.openxmlformats.org/drawingml/2006/main">
              <a:ext uri="{FF2B5EF4-FFF2-40B4-BE49-F238E27FC236}">
                <a16:creationId xmlns:a16="http://schemas.microsoft.com/office/drawing/2014/main" id="{D69D6582-6233-4C82-AF46-AB2376383D15}"/>
              </a:ext>
            </a:extLst>
          </p:cNvPr>
          <p:cNvSpPr>
            <a:spLocks xmlns:a="http://schemas.openxmlformats.org/drawingml/2006/main" noGrp="1"/>
          </p:cNvSpPr>
          <p:nvPr/>
        </p:nvSpPr>
        <p:spPr>
          <a:xfrm xmlns:a="http://schemas.openxmlformats.org/drawingml/2006/main" rot="0">
            <a:off x="6610350" y="5467350"/>
            <a:ext cx="4705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i="0">
                <a:solidFill>
                  <a:srgbClr val="24332B"/>
                </a:solidFill>
                <a:latin typeface="Aptos"/>
                <a:ea typeface="Aptos"/>
                <a:cs typeface="Aptos"/>
              </a:defRPr>
            </a:pPr>
            <a:r>
              <a:rPr sz="1650" b="1" i="0">
                <a:solidFill>
                  <a:srgbClr val="24332B"/>
                </a:solidFill>
                <a:latin typeface="Aptos"/>
                <a:ea typeface="Aptos"/>
                <a:cs typeface="Aptos"/>
              </a:rPr>
              <a:t>Quá tải tính năng • prompt ngắt nhịp • phòng lỗi chưa nổi bật</a:t>
            </a:r>
          </a:p>
        </p:txBody>
      </p:sp>
    </p:spTree>
    <p:extLst>
      <p:ext uri="{BB962C8B-B14F-4D97-AF65-F5344CB8AC3E}">
        <p14:creationId xmlns:p14="http://schemas.microsoft.com/office/powerpoint/2010/main" val="1196996102"/>
      </p:ext>
    </p:extLst>
  </p:cSld>
</p:sld>
</file>

<file path=ppt/slides/slide1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17">
            <a:extLst xmlns:a="http://schemas.openxmlformats.org/drawingml/2006/main">
              <a:ext uri="{FF2B5EF4-FFF2-40B4-BE49-F238E27FC236}">
                <a16:creationId xmlns:a16="http://schemas.microsoft.com/office/drawing/2014/main" id="{1AEAE5F8-D07A-47F7-8C5C-39AE4E61A5C0}"/>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GIẢI PHÁP ĐỀ XUẤT</a:t>
            </a:r>
          </a:p>
        </p:txBody>
      </p:sp>
      <p:sp>
        <p:nvSpPr>
          <p:cNvPr id="2" name="title-17">
            <a:extLst xmlns:a="http://schemas.openxmlformats.org/drawingml/2006/main">
              <a:ext uri="{FF2B5EF4-FFF2-40B4-BE49-F238E27FC236}">
                <a16:creationId xmlns:a16="http://schemas.microsoft.com/office/drawing/2014/main" id="{F050E92B-9743-44C8-96A4-EFDB5D92140B}"/>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Giải pháp FIFA làm rõ đường đi</a:t>
            </a:r>
          </a:p>
        </p:txBody>
      </p:sp>
      <p:sp>
        <p:nvSpPr>
          <p:cNvPr id="3" name="">
            <a:extLst xmlns:a="http://schemas.openxmlformats.org/drawingml/2006/main">
              <a:ext uri="{FF2B5EF4-FFF2-40B4-BE49-F238E27FC236}">
                <a16:creationId xmlns:a16="http://schemas.microsoft.com/office/drawing/2014/main" id="{E93D2B43-4E06-4EE1-A322-4209D3D49897}"/>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AFDE3CC-CC66-4461-B59E-9CFABAC1731E}"/>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17</a:t>
            </a:r>
          </a:p>
        </p:txBody>
      </p:sp>
      <p:sp>
        <p:nvSpPr>
          <p:cNvPr id="5" name="">
            <a:extLst xmlns:a="http://schemas.openxmlformats.org/drawingml/2006/main">
              <a:ext uri="{FF2B5EF4-FFF2-40B4-BE49-F238E27FC236}">
                <a16:creationId xmlns:a16="http://schemas.microsoft.com/office/drawing/2014/main" id="{4BC95F08-5BAD-404D-A0A2-F6BBC459F701}"/>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894DE8C4-A811-4B3B-B364-11B11273B9BA}"/>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17 / 21</a:t>
            </a:r>
          </a:p>
        </p:txBody>
      </p:sp>
      <p:sp>
        <p:nvSpPr>
          <p:cNvPr id="7" name="">
            <a:extLst xmlns:a="http://schemas.openxmlformats.org/drawingml/2006/main">
              <a:ext uri="{FF2B5EF4-FFF2-40B4-BE49-F238E27FC236}">
                <a16:creationId xmlns:a16="http://schemas.microsoft.com/office/drawing/2014/main" id="{5DB642D1-0BFD-44C4-8708-EC58C6ED2D06}"/>
              </a:ext>
            </a:extLst>
          </p:cNvPr>
          <p:cNvSpPr>
            <a:spLocks xmlns:a="http://schemas.openxmlformats.org/drawingml/2006/main" noGrp="1"/>
          </p:cNvSpPr>
          <p:nvPr/>
        </p:nvSpPr>
        <p:spPr>
          <a:xfrm xmlns:a="http://schemas.openxmlformats.org/drawingml/2006/main" rot="0">
            <a:off x="609600" y="1504950"/>
            <a:ext cx="5238750" cy="3714750"/>
          </a:xfrm>
          <a:prstGeom xmlns:a="http://schemas.openxmlformats.org/drawingml/2006/main" prst="roundRect">
            <a:avLst>
              <a:gd name="adj" fmla="val 5641"/>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baa390cee554a8b"/>
          <a:stretch xmlns:a="http://schemas.openxmlformats.org/drawingml/2006/main"/>
        </p:blipFill>
        <p:spPr>
          <a:xfrm xmlns:a="http://schemas.openxmlformats.org/drawingml/2006/main">
            <a:off x="704850" y="1609460"/>
            <a:ext cx="5048250" cy="3505729"/>
          </a:xfrm>
          <a:prstGeom xmlns:a="http://schemas.openxmlformats.org/drawingml/2006/main" prst="roundRect">
            <a:avLst>
              <a:gd name="adj" fmla="val 3784"/>
            </a:avLst>
          </a:prstGeom>
        </p:spPr>
      </p:pic>
      <p:sp>
        <p:nvSpPr>
          <p:cNvPr id="9" name="">
            <a:extLst xmlns:a="http://schemas.openxmlformats.org/drawingml/2006/main">
              <a:ext uri="{FF2B5EF4-FFF2-40B4-BE49-F238E27FC236}">
                <a16:creationId xmlns:a16="http://schemas.microsoft.com/office/drawing/2014/main" id="{BAA61E8F-72CC-46B0-A27C-7CA28BC12E16}"/>
              </a:ext>
            </a:extLst>
          </p:cNvPr>
          <p:cNvSpPr>
            <a:spLocks xmlns:a="http://schemas.openxmlformats.org/drawingml/2006/main" noGrp="1"/>
          </p:cNvSpPr>
          <p:nvPr/>
        </p:nvSpPr>
        <p:spPr>
          <a:xfrm xmlns:a="http://schemas.openxmlformats.org/drawingml/2006/main" rot="0">
            <a:off x="6343650" y="1504950"/>
            <a:ext cx="5238750" cy="3714750"/>
          </a:xfrm>
          <a:prstGeom xmlns:a="http://schemas.openxmlformats.org/drawingml/2006/main" prst="roundRect">
            <a:avLst>
              <a:gd name="adj" fmla="val 5641"/>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484af2f50e34bae"/>
          <a:stretch xmlns:a="http://schemas.openxmlformats.org/drawingml/2006/main"/>
        </p:blipFill>
        <p:spPr>
          <a:xfrm xmlns:a="http://schemas.openxmlformats.org/drawingml/2006/main">
            <a:off x="6438900" y="1609460"/>
            <a:ext cx="5048250" cy="3505729"/>
          </a:xfrm>
          <a:prstGeom xmlns:a="http://schemas.openxmlformats.org/drawingml/2006/main" prst="roundRect">
            <a:avLst>
              <a:gd name="adj" fmla="val 3784"/>
            </a:avLst>
          </a:prstGeom>
        </p:spPr>
      </p:pic>
      <p:sp>
        <p:nvSpPr>
          <p:cNvPr id="11" name="">
            <a:extLst xmlns:a="http://schemas.openxmlformats.org/drawingml/2006/main">
              <a:ext uri="{FF2B5EF4-FFF2-40B4-BE49-F238E27FC236}">
                <a16:creationId xmlns:a16="http://schemas.microsoft.com/office/drawing/2014/main" id="{57844C23-E755-4145-ADD3-9CADF1CE0CAA}"/>
              </a:ext>
            </a:extLst>
          </p:cNvPr>
          <p:cNvSpPr>
            <a:spLocks xmlns:a="http://schemas.openxmlformats.org/drawingml/2006/main" noGrp="1"/>
          </p:cNvSpPr>
          <p:nvPr/>
        </p:nvSpPr>
        <p:spPr>
          <a:xfrm xmlns:a="http://schemas.openxmlformats.org/drawingml/2006/main" rot="0">
            <a:off x="609600" y="53721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C77761"/>
                </a:solidFill>
                <a:latin typeface="Aptos"/>
                <a:ea typeface="Aptos"/>
                <a:cs typeface="Aptos"/>
              </a:defRPr>
            </a:pPr>
            <a:r>
              <a:rPr sz="1500" b="1" i="0">
                <a:solidFill>
                  <a:srgbClr val="C77761"/>
                </a:solidFill>
                <a:latin typeface="Aptos"/>
                <a:ea typeface="Aptos"/>
                <a:cs typeface="Aptos"/>
              </a:rPr>
              <a:t>Đề xuất: gom lối vào theo tác vụ</a:t>
            </a:r>
          </a:p>
        </p:txBody>
      </p:sp>
      <p:sp>
        <p:nvSpPr>
          <p:cNvPr id="12" name="">
            <a:extLst xmlns:a="http://schemas.openxmlformats.org/drawingml/2006/main">
              <a:ext uri="{FF2B5EF4-FFF2-40B4-BE49-F238E27FC236}">
                <a16:creationId xmlns:a16="http://schemas.microsoft.com/office/drawing/2014/main" id="{FE92D919-D2F9-460F-BAD5-AE80CDE609FD}"/>
              </a:ext>
            </a:extLst>
          </p:cNvPr>
          <p:cNvSpPr>
            <a:spLocks xmlns:a="http://schemas.openxmlformats.org/drawingml/2006/main" noGrp="1"/>
          </p:cNvSpPr>
          <p:nvPr/>
        </p:nvSpPr>
        <p:spPr>
          <a:xfrm xmlns:a="http://schemas.openxmlformats.org/drawingml/2006/main" rot="0">
            <a:off x="6343650" y="53721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C77761"/>
                </a:solidFill>
                <a:latin typeface="Aptos"/>
                <a:ea typeface="Aptos"/>
                <a:cs typeface="Aptos"/>
              </a:defRPr>
            </a:pPr>
            <a:r>
              <a:rPr sz="1500" b="1" i="0">
                <a:solidFill>
                  <a:srgbClr val="C77761"/>
                </a:solidFill>
                <a:latin typeface="Aptos"/>
                <a:ea typeface="Aptos"/>
                <a:cs typeface="Aptos"/>
              </a:rPr>
              <a:t>Đề xuất: giữ hành động liên quan</a:t>
            </a:r>
          </a:p>
        </p:txBody>
      </p:sp>
      <p:sp>
        <p:nvSpPr>
          <p:cNvPr id="13" name="">
            <a:extLst xmlns:a="http://schemas.openxmlformats.org/drawingml/2006/main">
              <a:ext uri="{FF2B5EF4-FFF2-40B4-BE49-F238E27FC236}">
                <a16:creationId xmlns:a16="http://schemas.microsoft.com/office/drawing/2014/main" id="{869C28D2-6876-4CF8-A564-F6AE3F21DD31}"/>
              </a:ext>
            </a:extLst>
          </p:cNvPr>
          <p:cNvSpPr>
            <a:spLocks xmlns:a="http://schemas.openxmlformats.org/drawingml/2006/main" noGrp="1"/>
          </p:cNvSpPr>
          <p:nvPr/>
        </p:nvSpPr>
        <p:spPr>
          <a:xfrm xmlns:a="http://schemas.openxmlformats.org/drawingml/2006/main" rot="0">
            <a:off x="952500" y="59436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725" b="1" i="0">
                <a:solidFill>
                  <a:srgbClr val="24332B"/>
                </a:solidFill>
                <a:latin typeface="Aptos"/>
                <a:ea typeface="Aptos"/>
                <a:cs typeface="Aptos"/>
              </a:defRPr>
            </a:pPr>
            <a:r>
              <a:rPr sz="1725" b="1" i="0">
                <a:solidFill>
                  <a:srgbClr val="24332B"/>
                </a:solidFill>
                <a:latin typeface="Aptos"/>
                <a:ea typeface="Aptos"/>
                <a:cs typeface="Aptos"/>
              </a:rPr>
              <a:t>Quick wins: intent switcher • handoff explainer • nhãn quyền truy cập</a:t>
            </a:r>
          </a:p>
        </p:txBody>
      </p:sp>
    </p:spTree>
    <p:extLst>
      <p:ext uri="{BB962C8B-B14F-4D97-AF65-F5344CB8AC3E}">
        <p14:creationId xmlns:p14="http://schemas.microsoft.com/office/powerpoint/2010/main" val="1675540689"/>
      </p:ext>
    </p:extLst>
  </p:cSld>
</p:sld>
</file>

<file path=ppt/slides/slide1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18">
            <a:extLst xmlns:a="http://schemas.openxmlformats.org/drawingml/2006/main">
              <a:ext uri="{FF2B5EF4-FFF2-40B4-BE49-F238E27FC236}">
                <a16:creationId xmlns:a16="http://schemas.microsoft.com/office/drawing/2014/main" id="{17EC40B5-46C9-4692-BF8A-BA13C2365D81}"/>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GIẢI PHÁP ĐỀ XUẤT</a:t>
            </a:r>
          </a:p>
        </p:txBody>
      </p:sp>
      <p:sp>
        <p:nvSpPr>
          <p:cNvPr id="2" name="title-18">
            <a:extLst xmlns:a="http://schemas.openxmlformats.org/drawingml/2006/main">
              <a:ext uri="{FF2B5EF4-FFF2-40B4-BE49-F238E27FC236}">
                <a16:creationId xmlns:a16="http://schemas.microsoft.com/office/drawing/2014/main" id="{0A8871B8-DDEE-49BE-90C5-1A69814A92B6}"/>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Giải pháp Chess giảm tải ban đầu</a:t>
            </a:r>
          </a:p>
        </p:txBody>
      </p:sp>
      <p:sp>
        <p:nvSpPr>
          <p:cNvPr id="3" name="">
            <a:extLst xmlns:a="http://schemas.openxmlformats.org/drawingml/2006/main">
              <a:ext uri="{FF2B5EF4-FFF2-40B4-BE49-F238E27FC236}">
                <a16:creationId xmlns:a16="http://schemas.microsoft.com/office/drawing/2014/main" id="{E4A743A6-A35F-4234-9FBD-CC38277A05E4}"/>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90F841A-7870-4120-9844-C1DB21C7F41A}"/>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18</a:t>
            </a:r>
          </a:p>
        </p:txBody>
      </p:sp>
      <p:sp>
        <p:nvSpPr>
          <p:cNvPr id="5" name="">
            <a:extLst xmlns:a="http://schemas.openxmlformats.org/drawingml/2006/main">
              <a:ext uri="{FF2B5EF4-FFF2-40B4-BE49-F238E27FC236}">
                <a16:creationId xmlns:a16="http://schemas.microsoft.com/office/drawing/2014/main" id="{A8A8DCA6-CA77-4FC7-B8C4-687C942A6FA3}"/>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CCF30923-1A52-4574-AF9E-7C62DFF9E76D}"/>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18 / 21</a:t>
            </a:r>
          </a:p>
        </p:txBody>
      </p:sp>
      <p:sp>
        <p:nvSpPr>
          <p:cNvPr id="7" name="">
            <a:extLst xmlns:a="http://schemas.openxmlformats.org/drawingml/2006/main">
              <a:ext uri="{FF2B5EF4-FFF2-40B4-BE49-F238E27FC236}">
                <a16:creationId xmlns:a16="http://schemas.microsoft.com/office/drawing/2014/main" id="{65DD8DF5-5C3D-406A-AECB-EED45DF11FD9}"/>
              </a:ext>
            </a:extLst>
          </p:cNvPr>
          <p:cNvSpPr>
            <a:spLocks xmlns:a="http://schemas.openxmlformats.org/drawingml/2006/main" noGrp="1"/>
          </p:cNvSpPr>
          <p:nvPr/>
        </p:nvSpPr>
        <p:spPr>
          <a:xfrm xmlns:a="http://schemas.openxmlformats.org/drawingml/2006/main" rot="0">
            <a:off x="609600" y="1504950"/>
            <a:ext cx="5238750" cy="3714750"/>
          </a:xfrm>
          <a:prstGeom xmlns:a="http://schemas.openxmlformats.org/drawingml/2006/main" prst="roundRect">
            <a:avLst>
              <a:gd name="adj" fmla="val 5641"/>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63a1ad0c2b5642c8"/>
          <a:stretch xmlns:a="http://schemas.openxmlformats.org/drawingml/2006/main"/>
        </p:blipFill>
        <p:spPr>
          <a:xfrm xmlns:a="http://schemas.openxmlformats.org/drawingml/2006/main">
            <a:off x="704850" y="1609460"/>
            <a:ext cx="5048250" cy="3505729"/>
          </a:xfrm>
          <a:prstGeom xmlns:a="http://schemas.openxmlformats.org/drawingml/2006/main" prst="roundRect">
            <a:avLst>
              <a:gd name="adj" fmla="val 3784"/>
            </a:avLst>
          </a:prstGeom>
        </p:spPr>
      </p:pic>
      <p:sp>
        <p:nvSpPr>
          <p:cNvPr id="9" name="">
            <a:extLst xmlns:a="http://schemas.openxmlformats.org/drawingml/2006/main">
              <a:ext uri="{FF2B5EF4-FFF2-40B4-BE49-F238E27FC236}">
                <a16:creationId xmlns:a16="http://schemas.microsoft.com/office/drawing/2014/main" id="{0C3CF4D6-2258-4926-80DA-22E0311C5BCD}"/>
              </a:ext>
            </a:extLst>
          </p:cNvPr>
          <p:cNvSpPr>
            <a:spLocks xmlns:a="http://schemas.openxmlformats.org/drawingml/2006/main" noGrp="1"/>
          </p:cNvSpPr>
          <p:nvPr/>
        </p:nvSpPr>
        <p:spPr>
          <a:xfrm xmlns:a="http://schemas.openxmlformats.org/drawingml/2006/main" rot="0">
            <a:off x="6343650" y="1504950"/>
            <a:ext cx="5238750" cy="3714750"/>
          </a:xfrm>
          <a:prstGeom xmlns:a="http://schemas.openxmlformats.org/drawingml/2006/main" prst="roundRect">
            <a:avLst>
              <a:gd name="adj" fmla="val 5641"/>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29b775443ec04f22"/>
          <a:stretch xmlns:a="http://schemas.openxmlformats.org/drawingml/2006/main"/>
        </p:blipFill>
        <p:spPr>
          <a:xfrm xmlns:a="http://schemas.openxmlformats.org/drawingml/2006/main">
            <a:off x="6438900" y="1609460"/>
            <a:ext cx="5048250" cy="3505729"/>
          </a:xfrm>
          <a:prstGeom xmlns:a="http://schemas.openxmlformats.org/drawingml/2006/main" prst="roundRect">
            <a:avLst>
              <a:gd name="adj" fmla="val 3784"/>
            </a:avLst>
          </a:prstGeom>
        </p:spPr>
      </p:pic>
      <p:sp>
        <p:nvSpPr>
          <p:cNvPr id="11" name="">
            <a:extLst xmlns:a="http://schemas.openxmlformats.org/drawingml/2006/main">
              <a:ext uri="{FF2B5EF4-FFF2-40B4-BE49-F238E27FC236}">
                <a16:creationId xmlns:a16="http://schemas.microsoft.com/office/drawing/2014/main" id="{087FDE42-4A9F-4AE7-A87A-13A287C7B2D7}"/>
              </a:ext>
            </a:extLst>
          </p:cNvPr>
          <p:cNvSpPr>
            <a:spLocks xmlns:a="http://schemas.openxmlformats.org/drawingml/2006/main" noGrp="1"/>
          </p:cNvSpPr>
          <p:nvPr/>
        </p:nvSpPr>
        <p:spPr>
          <a:xfrm xmlns:a="http://schemas.openxmlformats.org/drawingml/2006/main" rot="0">
            <a:off x="609600" y="53721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758B6A"/>
                </a:solidFill>
                <a:latin typeface="Aptos"/>
                <a:ea typeface="Aptos"/>
                <a:cs typeface="Aptos"/>
              </a:defRPr>
            </a:pPr>
            <a:r>
              <a:rPr sz="1500" b="1" i="0">
                <a:solidFill>
                  <a:srgbClr val="758B6A"/>
                </a:solidFill>
                <a:latin typeface="Aptos"/>
                <a:ea typeface="Aptos"/>
                <a:cs typeface="Aptos"/>
              </a:rPr>
              <a:t>Đề xuất: hỏi mục tiêu trước</a:t>
            </a:r>
          </a:p>
        </p:txBody>
      </p:sp>
      <p:sp>
        <p:nvSpPr>
          <p:cNvPr id="12" name="">
            <a:extLst xmlns:a="http://schemas.openxmlformats.org/drawingml/2006/main">
              <a:ext uri="{FF2B5EF4-FFF2-40B4-BE49-F238E27FC236}">
                <a16:creationId xmlns:a16="http://schemas.microsoft.com/office/drawing/2014/main" id="{A673D634-0B4D-4D53-9329-59B8F946B856}"/>
              </a:ext>
            </a:extLst>
          </p:cNvPr>
          <p:cNvSpPr>
            <a:spLocks xmlns:a="http://schemas.openxmlformats.org/drawingml/2006/main" noGrp="1"/>
          </p:cNvSpPr>
          <p:nvPr/>
        </p:nvSpPr>
        <p:spPr>
          <a:xfrm xmlns:a="http://schemas.openxmlformats.org/drawingml/2006/main" rot="0">
            <a:off x="6343650" y="537210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758B6A"/>
                </a:solidFill>
                <a:latin typeface="Aptos"/>
                <a:ea typeface="Aptos"/>
                <a:cs typeface="Aptos"/>
              </a:defRPr>
            </a:pPr>
            <a:r>
              <a:rPr sz="1500" b="1" i="0">
                <a:solidFill>
                  <a:srgbClr val="758B6A"/>
                </a:solidFill>
                <a:latin typeface="Aptos"/>
                <a:ea typeface="Aptos"/>
                <a:cs typeface="Aptos"/>
              </a:rPr>
              <a:t>Đề xuất: lộ trình người mới nổi bật</a:t>
            </a:r>
          </a:p>
        </p:txBody>
      </p:sp>
      <p:sp>
        <p:nvSpPr>
          <p:cNvPr id="13" name="">
            <a:extLst xmlns:a="http://schemas.openxmlformats.org/drawingml/2006/main">
              <a:ext uri="{FF2B5EF4-FFF2-40B4-BE49-F238E27FC236}">
                <a16:creationId xmlns:a16="http://schemas.microsoft.com/office/drawing/2014/main" id="{FBD2B343-1076-4A17-86F4-33971059E586}"/>
              </a:ext>
            </a:extLst>
          </p:cNvPr>
          <p:cNvSpPr>
            <a:spLocks xmlns:a="http://schemas.openxmlformats.org/drawingml/2006/main" noGrp="1"/>
          </p:cNvSpPr>
          <p:nvPr/>
        </p:nvSpPr>
        <p:spPr>
          <a:xfrm xmlns:a="http://schemas.openxmlformats.org/drawingml/2006/main" rot="0">
            <a:off x="952500" y="59436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725" b="1" i="0">
                <a:solidFill>
                  <a:srgbClr val="24332B"/>
                </a:solidFill>
                <a:latin typeface="Aptos"/>
                <a:ea typeface="Aptos"/>
                <a:cs typeface="Aptos"/>
              </a:defRPr>
            </a:pPr>
            <a:r>
              <a:rPr sz="1725" b="1" i="0">
                <a:solidFill>
                  <a:srgbClr val="24332B"/>
                </a:solidFill>
                <a:latin typeface="Aptos"/>
                <a:ea typeface="Aptos"/>
                <a:cs typeface="Aptos"/>
              </a:rPr>
              <a:t>Quick wins: beginner preset • focus coachmark • cảnh báo premove</a:t>
            </a:r>
          </a:p>
        </p:txBody>
      </p:sp>
    </p:spTree>
    <p:extLst>
      <p:ext uri="{BB962C8B-B14F-4D97-AF65-F5344CB8AC3E}">
        <p14:creationId xmlns:p14="http://schemas.microsoft.com/office/powerpoint/2010/main" val="2015470776"/>
      </p:ext>
    </p:extLst>
  </p:cSld>
</p:sld>
</file>

<file path=ppt/slides/slide1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19">
            <a:extLst xmlns:a="http://schemas.openxmlformats.org/drawingml/2006/main">
              <a:ext uri="{FF2B5EF4-FFF2-40B4-BE49-F238E27FC236}">
                <a16:creationId xmlns:a16="http://schemas.microsoft.com/office/drawing/2014/main" id="{D6765D58-501C-4E2F-A060-4D1C47083145}"/>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PHÂN CHIA CÔNG VIỆC NHÓM</a:t>
            </a:r>
          </a:p>
        </p:txBody>
      </p:sp>
      <p:sp>
        <p:nvSpPr>
          <p:cNvPr id="2" name="title-19">
            <a:extLst xmlns:a="http://schemas.openxmlformats.org/drawingml/2006/main">
              <a:ext uri="{FF2B5EF4-FFF2-40B4-BE49-F238E27FC236}">
                <a16:creationId xmlns:a16="http://schemas.microsoft.com/office/drawing/2014/main" id="{791C8C6E-3271-4B72-8623-59D7382D6BC8}"/>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Mỗi thành viên đóng góp 25%</a:t>
            </a:r>
          </a:p>
        </p:txBody>
      </p:sp>
      <p:sp>
        <p:nvSpPr>
          <p:cNvPr id="3" name="">
            <a:extLst xmlns:a="http://schemas.openxmlformats.org/drawingml/2006/main">
              <a:ext uri="{FF2B5EF4-FFF2-40B4-BE49-F238E27FC236}">
                <a16:creationId xmlns:a16="http://schemas.microsoft.com/office/drawing/2014/main" id="{626B09C9-C5FF-4471-A3FA-01B56F513653}"/>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F18FAB7-DFF7-452B-B87A-A31551B548C7}"/>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19</a:t>
            </a:r>
          </a:p>
        </p:txBody>
      </p:sp>
      <p:sp>
        <p:nvSpPr>
          <p:cNvPr id="5" name="">
            <a:extLst xmlns:a="http://schemas.openxmlformats.org/drawingml/2006/main">
              <a:ext uri="{FF2B5EF4-FFF2-40B4-BE49-F238E27FC236}">
                <a16:creationId xmlns:a16="http://schemas.microsoft.com/office/drawing/2014/main" id="{F4BB1C0D-D48B-4DDC-B389-D0613D6954EC}"/>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82608287-AB7A-4548-BF2D-8C4D1DD14444}"/>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19 / 21</a:t>
            </a:r>
          </a:p>
        </p:txBody>
      </p:sp>
      <p:sp>
        <p:nvSpPr>
          <p:cNvPr id="7" name="">
            <a:extLst xmlns:a="http://schemas.openxmlformats.org/drawingml/2006/main">
              <a:ext uri="{FF2B5EF4-FFF2-40B4-BE49-F238E27FC236}">
                <a16:creationId xmlns:a16="http://schemas.microsoft.com/office/drawing/2014/main" id="{4CDF8C7A-D5E0-4BBD-BCFD-9F63EFE67842}"/>
              </a:ext>
            </a:extLst>
          </p:cNvPr>
          <p:cNvSpPr>
            <a:spLocks xmlns:a="http://schemas.openxmlformats.org/drawingml/2006/main" noGrp="1"/>
          </p:cNvSpPr>
          <p:nvPr/>
        </p:nvSpPr>
        <p:spPr>
          <a:xfrm xmlns:a="http://schemas.openxmlformats.org/drawingml/2006/main" rot="0">
            <a:off x="609600" y="1657350"/>
            <a:ext cx="2438400" cy="3905250"/>
          </a:xfrm>
          <a:prstGeom xmlns:a="http://schemas.openxmlformats.org/drawingml/2006/main" prst="roundRect">
            <a:avLst>
              <a:gd name="adj" fmla="val 10938"/>
            </a:avLst>
          </a:prstGeom>
          <a:solidFill xmlns:a="http://schemas.openxmlformats.org/drawingml/2006/main">
            <a:srgbClr val="ECE9E1"/>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70540532-EF73-412F-AF7B-6805CC744F3B}"/>
              </a:ext>
            </a:extLst>
          </p:cNvPr>
          <p:cNvSpPr>
            <a:spLocks xmlns:a="http://schemas.openxmlformats.org/drawingml/2006/main" noGrp="1"/>
          </p:cNvSpPr>
          <p:nvPr/>
        </p:nvSpPr>
        <p:spPr>
          <a:xfrm xmlns:a="http://schemas.openxmlformats.org/drawingml/2006/main" rot="0">
            <a:off x="1428750" y="1885950"/>
            <a:ext cx="800100" cy="800100"/>
          </a:xfrm>
          <a:prstGeom xmlns:a="http://schemas.openxmlformats.org/drawingml/2006/main" prst="ellipse">
            <a:avLst/>
          </a:prstGeom>
          <a:solidFill xmlns:a="http://schemas.openxmlformats.org/drawingml/2006/main">
            <a:srgbClr val="C7776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351C7A-EC06-45F1-9735-D73A0DAA6358}"/>
              </a:ext>
            </a:extLst>
          </p:cNvPr>
          <p:cNvSpPr>
            <a:spLocks xmlns:a="http://schemas.openxmlformats.org/drawingml/2006/main" noGrp="1"/>
          </p:cNvSpPr>
          <p:nvPr/>
        </p:nvSpPr>
        <p:spPr>
          <a:xfrm xmlns:a="http://schemas.openxmlformats.org/drawingml/2006/main" rot="0">
            <a:off x="1428750" y="2143125"/>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25%</a:t>
            </a:r>
          </a:p>
        </p:txBody>
      </p:sp>
      <p:sp>
        <p:nvSpPr>
          <p:cNvPr id="10" name="">
            <a:extLst xmlns:a="http://schemas.openxmlformats.org/drawingml/2006/main">
              <a:ext uri="{FF2B5EF4-FFF2-40B4-BE49-F238E27FC236}">
                <a16:creationId xmlns:a16="http://schemas.microsoft.com/office/drawing/2014/main" id="{EF746D14-6C3F-4C49-A6E7-BF26A3CB5834}"/>
              </a:ext>
            </a:extLst>
          </p:cNvPr>
          <p:cNvSpPr>
            <a:spLocks xmlns:a="http://schemas.openxmlformats.org/drawingml/2006/main" noGrp="1"/>
          </p:cNvSpPr>
          <p:nvPr/>
        </p:nvSpPr>
        <p:spPr>
          <a:xfrm xmlns:a="http://schemas.openxmlformats.org/drawingml/2006/main" rot="0">
            <a:off x="781050" y="29908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i="0">
                <a:solidFill>
                  <a:srgbClr val="24332B"/>
                </a:solidFill>
                <a:latin typeface="Aptos"/>
                <a:ea typeface="Aptos"/>
                <a:cs typeface="Aptos"/>
              </a:defRPr>
            </a:pPr>
            <a:r>
              <a:rPr sz="1950" b="1" i="0">
                <a:solidFill>
                  <a:srgbClr val="24332B"/>
                </a:solidFill>
                <a:latin typeface="Aptos"/>
                <a:ea typeface="Aptos"/>
                <a:cs typeface="Aptos"/>
              </a:rPr>
              <a:t>Le Minh</a:t>
            </a:r>
          </a:p>
        </p:txBody>
      </p:sp>
      <p:sp>
        <p:nvSpPr>
          <p:cNvPr id="11" name="">
            <a:extLst xmlns:a="http://schemas.openxmlformats.org/drawingml/2006/main">
              <a:ext uri="{FF2B5EF4-FFF2-40B4-BE49-F238E27FC236}">
                <a16:creationId xmlns:a16="http://schemas.microsoft.com/office/drawing/2014/main" id="{E890F353-6F14-4685-AEDB-DB8A8AA2EC50}"/>
              </a:ext>
            </a:extLst>
          </p:cNvPr>
          <p:cNvSpPr>
            <a:spLocks xmlns:a="http://schemas.openxmlformats.org/drawingml/2006/main" noGrp="1"/>
          </p:cNvSpPr>
          <p:nvPr/>
        </p:nvSpPr>
        <p:spPr>
          <a:xfrm xmlns:a="http://schemas.openxmlformats.org/drawingml/2006/main" rot="0">
            <a:off x="781050" y="36004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66745F"/>
                </a:solidFill>
                <a:latin typeface="Aptos"/>
                <a:ea typeface="Aptos"/>
                <a:cs typeface="Aptos"/>
              </a:defRPr>
            </a:pPr>
            <a:r>
              <a:rPr sz="1500" b="1" i="0">
                <a:solidFill>
                  <a:srgbClr val="66745F"/>
                </a:solidFill>
                <a:latin typeface="Aptos"/>
                <a:ea typeface="Aptos"/>
                <a:cs typeface="Aptos"/>
              </a:rPr>
              <a:t>21127645</a:t>
            </a:r>
          </a:p>
        </p:txBody>
      </p:sp>
      <p:sp>
        <p:nvSpPr>
          <p:cNvPr id="12" name="">
            <a:extLst xmlns:a="http://schemas.openxmlformats.org/drawingml/2006/main">
              <a:ext uri="{FF2B5EF4-FFF2-40B4-BE49-F238E27FC236}">
                <a16:creationId xmlns:a16="http://schemas.microsoft.com/office/drawing/2014/main" id="{89016F63-78F3-46E6-97F0-453FDFFA6736}"/>
              </a:ext>
            </a:extLst>
          </p:cNvPr>
          <p:cNvSpPr>
            <a:spLocks xmlns:a="http://schemas.openxmlformats.org/drawingml/2006/main" noGrp="1"/>
          </p:cNvSpPr>
          <p:nvPr/>
        </p:nvSpPr>
        <p:spPr>
          <a:xfrm xmlns:a="http://schemas.openxmlformats.org/drawingml/2006/main" rot="0">
            <a:off x="781050" y="40957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i="0">
                <a:solidFill>
                  <a:srgbClr val="C77761"/>
                </a:solidFill>
                <a:latin typeface="Aptos"/>
                <a:ea typeface="Aptos"/>
                <a:cs typeface="Aptos"/>
              </a:defRPr>
            </a:pPr>
            <a:r>
              <a:rPr sz="1650" b="1" i="0">
                <a:solidFill>
                  <a:srgbClr val="C77761"/>
                </a:solidFill>
                <a:latin typeface="Aptos"/>
                <a:ea typeface="Aptos"/>
                <a:cs typeface="Aptos"/>
              </a:rPr>
              <a:t>FIFA.com</a:t>
            </a:r>
          </a:p>
        </p:txBody>
      </p:sp>
      <p:sp>
        <p:nvSpPr>
          <p:cNvPr id="13" name="">
            <a:extLst xmlns:a="http://schemas.openxmlformats.org/drawingml/2006/main">
              <a:ext uri="{FF2B5EF4-FFF2-40B4-BE49-F238E27FC236}">
                <a16:creationId xmlns:a16="http://schemas.microsoft.com/office/drawing/2014/main" id="{D887FA02-50AA-487A-871F-77FFEAF64F62}"/>
              </a:ext>
            </a:extLst>
          </p:cNvPr>
          <p:cNvSpPr>
            <a:spLocks xmlns:a="http://schemas.openxmlformats.org/drawingml/2006/main" noGrp="1"/>
          </p:cNvSpPr>
          <p:nvPr/>
        </p:nvSpPr>
        <p:spPr>
          <a:xfrm xmlns:a="http://schemas.openxmlformats.org/drawingml/2006/main" rot="0">
            <a:off x="819150" y="4552950"/>
            <a:ext cx="2019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0" i="0">
                <a:solidFill>
                  <a:srgbClr val="24332B"/>
                </a:solidFill>
                <a:latin typeface="Aptos"/>
                <a:ea typeface="Aptos"/>
                <a:cs typeface="Aptos"/>
              </a:defRPr>
            </a:pPr>
            <a:r>
              <a:rPr sz="1500" b="0" i="0">
                <a:solidFill>
                  <a:srgbClr val="24332B"/>
                </a:solidFill>
                <a:latin typeface="Aptos"/>
                <a:ea typeface="Aptos"/>
                <a:cs typeface="Aptos"/>
              </a:rPr>
              <a:t>Điều phối • tích hợp • QA</a:t>
            </a:r>
          </a:p>
        </p:txBody>
      </p:sp>
      <p:sp>
        <p:nvSpPr>
          <p:cNvPr id="14" name="">
            <a:extLst xmlns:a="http://schemas.openxmlformats.org/drawingml/2006/main">
              <a:ext uri="{FF2B5EF4-FFF2-40B4-BE49-F238E27FC236}">
                <a16:creationId xmlns:a16="http://schemas.microsoft.com/office/drawing/2014/main" id="{2B44E076-3E28-4A78-8DC8-F0FAD7B00F04}"/>
              </a:ext>
            </a:extLst>
          </p:cNvPr>
          <p:cNvSpPr>
            <a:spLocks xmlns:a="http://schemas.openxmlformats.org/drawingml/2006/main" noGrp="1"/>
          </p:cNvSpPr>
          <p:nvPr/>
        </p:nvSpPr>
        <p:spPr>
          <a:xfrm xmlns:a="http://schemas.openxmlformats.org/drawingml/2006/main" rot="0">
            <a:off x="3371850" y="1657350"/>
            <a:ext cx="2438400" cy="3905250"/>
          </a:xfrm>
          <a:prstGeom xmlns:a="http://schemas.openxmlformats.org/drawingml/2006/main" prst="roundRect">
            <a:avLst>
              <a:gd name="adj" fmla="val 10938"/>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5F59FDE0-A48D-4732-9F95-ED9F09EA6A94}"/>
              </a:ext>
            </a:extLst>
          </p:cNvPr>
          <p:cNvSpPr>
            <a:spLocks xmlns:a="http://schemas.openxmlformats.org/drawingml/2006/main" noGrp="1"/>
          </p:cNvSpPr>
          <p:nvPr/>
        </p:nvSpPr>
        <p:spPr>
          <a:xfrm xmlns:a="http://schemas.openxmlformats.org/drawingml/2006/main" rot="0">
            <a:off x="4191000" y="1885950"/>
            <a:ext cx="800100" cy="800100"/>
          </a:xfrm>
          <a:prstGeom xmlns:a="http://schemas.openxmlformats.org/drawingml/2006/main" prst="ellipse">
            <a:avLst/>
          </a:prstGeom>
          <a:solidFill xmlns:a="http://schemas.openxmlformats.org/drawingml/2006/main">
            <a:srgbClr val="C7776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497B55F-CD48-435D-B282-492B4797CCE0}"/>
              </a:ext>
            </a:extLst>
          </p:cNvPr>
          <p:cNvSpPr>
            <a:spLocks xmlns:a="http://schemas.openxmlformats.org/drawingml/2006/main" noGrp="1"/>
          </p:cNvSpPr>
          <p:nvPr/>
        </p:nvSpPr>
        <p:spPr>
          <a:xfrm xmlns:a="http://schemas.openxmlformats.org/drawingml/2006/main" rot="0">
            <a:off x="4191000" y="2143125"/>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25%</a:t>
            </a:r>
          </a:p>
        </p:txBody>
      </p:sp>
      <p:sp>
        <p:nvSpPr>
          <p:cNvPr id="17" name="">
            <a:extLst xmlns:a="http://schemas.openxmlformats.org/drawingml/2006/main">
              <a:ext uri="{FF2B5EF4-FFF2-40B4-BE49-F238E27FC236}">
                <a16:creationId xmlns:a16="http://schemas.microsoft.com/office/drawing/2014/main" id="{0E865049-6D7D-4AA5-AD30-F4B37CED2261}"/>
              </a:ext>
            </a:extLst>
          </p:cNvPr>
          <p:cNvSpPr>
            <a:spLocks xmlns:a="http://schemas.openxmlformats.org/drawingml/2006/main" noGrp="1"/>
          </p:cNvSpPr>
          <p:nvPr/>
        </p:nvSpPr>
        <p:spPr>
          <a:xfrm xmlns:a="http://schemas.openxmlformats.org/drawingml/2006/main" rot="0">
            <a:off x="3543300" y="29908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i="0">
                <a:solidFill>
                  <a:srgbClr val="24332B"/>
                </a:solidFill>
                <a:latin typeface="Aptos"/>
                <a:ea typeface="Aptos"/>
                <a:cs typeface="Aptos"/>
              </a:defRPr>
            </a:pPr>
            <a:r>
              <a:rPr sz="1950" b="1" i="0">
                <a:solidFill>
                  <a:srgbClr val="24332B"/>
                </a:solidFill>
                <a:latin typeface="Aptos"/>
                <a:ea typeface="Aptos"/>
                <a:cs typeface="Aptos"/>
              </a:rPr>
              <a:t>Nguyen Vu Bach</a:t>
            </a:r>
          </a:p>
        </p:txBody>
      </p:sp>
      <p:sp>
        <p:nvSpPr>
          <p:cNvPr id="18" name="">
            <a:extLst xmlns:a="http://schemas.openxmlformats.org/drawingml/2006/main">
              <a:ext uri="{FF2B5EF4-FFF2-40B4-BE49-F238E27FC236}">
                <a16:creationId xmlns:a16="http://schemas.microsoft.com/office/drawing/2014/main" id="{E8EA4E7C-8D46-41C7-911C-3AD6C3E5C898}"/>
              </a:ext>
            </a:extLst>
          </p:cNvPr>
          <p:cNvSpPr>
            <a:spLocks xmlns:a="http://schemas.openxmlformats.org/drawingml/2006/main" noGrp="1"/>
          </p:cNvSpPr>
          <p:nvPr/>
        </p:nvSpPr>
        <p:spPr>
          <a:xfrm xmlns:a="http://schemas.openxmlformats.org/drawingml/2006/main" rot="0">
            <a:off x="3543300" y="36004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66745F"/>
                </a:solidFill>
                <a:latin typeface="Aptos"/>
                <a:ea typeface="Aptos"/>
                <a:cs typeface="Aptos"/>
              </a:defRPr>
            </a:pPr>
            <a:r>
              <a:rPr sz="1500" b="1" i="0">
                <a:solidFill>
                  <a:srgbClr val="66745F"/>
                </a:solidFill>
                <a:latin typeface="Aptos"/>
                <a:ea typeface="Aptos"/>
                <a:cs typeface="Aptos"/>
              </a:rPr>
              <a:t>21127224</a:t>
            </a:r>
          </a:p>
        </p:txBody>
      </p:sp>
      <p:sp>
        <p:nvSpPr>
          <p:cNvPr id="19" name="">
            <a:extLst xmlns:a="http://schemas.openxmlformats.org/drawingml/2006/main">
              <a:ext uri="{FF2B5EF4-FFF2-40B4-BE49-F238E27FC236}">
                <a16:creationId xmlns:a16="http://schemas.microsoft.com/office/drawing/2014/main" id="{8A964751-49B8-43E7-9F25-BF2A48C25F7C}"/>
              </a:ext>
            </a:extLst>
          </p:cNvPr>
          <p:cNvSpPr>
            <a:spLocks xmlns:a="http://schemas.openxmlformats.org/drawingml/2006/main" noGrp="1"/>
          </p:cNvSpPr>
          <p:nvPr/>
        </p:nvSpPr>
        <p:spPr>
          <a:xfrm xmlns:a="http://schemas.openxmlformats.org/drawingml/2006/main" rot="0">
            <a:off x="3543300" y="40957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i="0">
                <a:solidFill>
                  <a:srgbClr val="C77761"/>
                </a:solidFill>
                <a:latin typeface="Aptos"/>
                <a:ea typeface="Aptos"/>
                <a:cs typeface="Aptos"/>
              </a:defRPr>
            </a:pPr>
            <a:r>
              <a:rPr sz="1650" b="1" i="0">
                <a:solidFill>
                  <a:srgbClr val="C77761"/>
                </a:solidFill>
                <a:latin typeface="Aptos"/>
                <a:ea typeface="Aptos"/>
                <a:cs typeface="Aptos"/>
              </a:rPr>
              <a:t>FIFA.com</a:t>
            </a:r>
          </a:p>
        </p:txBody>
      </p:sp>
      <p:sp>
        <p:nvSpPr>
          <p:cNvPr id="20" name="">
            <a:extLst xmlns:a="http://schemas.openxmlformats.org/drawingml/2006/main">
              <a:ext uri="{FF2B5EF4-FFF2-40B4-BE49-F238E27FC236}">
                <a16:creationId xmlns:a16="http://schemas.microsoft.com/office/drawing/2014/main" id="{82E97434-5D8A-46F4-9289-FDECCB47EFDE}"/>
              </a:ext>
            </a:extLst>
          </p:cNvPr>
          <p:cNvSpPr>
            <a:spLocks xmlns:a="http://schemas.openxmlformats.org/drawingml/2006/main" noGrp="1"/>
          </p:cNvSpPr>
          <p:nvPr/>
        </p:nvSpPr>
        <p:spPr>
          <a:xfrm xmlns:a="http://schemas.openxmlformats.org/drawingml/2006/main" rot="0">
            <a:off x="3581400" y="4552950"/>
            <a:ext cx="2019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0" i="0">
                <a:solidFill>
                  <a:srgbClr val="24332B"/>
                </a:solidFill>
                <a:latin typeface="Aptos"/>
                <a:ea typeface="Aptos"/>
                <a:cs typeface="Aptos"/>
              </a:defRPr>
            </a:pPr>
            <a:r>
              <a:rPr sz="1500" b="0" i="0">
                <a:solidFill>
                  <a:srgbClr val="24332B"/>
                </a:solidFill>
                <a:latin typeface="Aptos"/>
                <a:ea typeface="Aptos"/>
                <a:cs typeface="Aptos"/>
              </a:rPr>
              <a:t>Nghiên cứu • ảnh bằng chứng</a:t>
            </a:r>
          </a:p>
        </p:txBody>
      </p:sp>
      <p:sp>
        <p:nvSpPr>
          <p:cNvPr id="21" name="">
            <a:extLst xmlns:a="http://schemas.openxmlformats.org/drawingml/2006/main">
              <a:ext uri="{FF2B5EF4-FFF2-40B4-BE49-F238E27FC236}">
                <a16:creationId xmlns:a16="http://schemas.microsoft.com/office/drawing/2014/main" id="{4A573E59-A6B3-4B3B-B1EC-C6857CC900B3}"/>
              </a:ext>
            </a:extLst>
          </p:cNvPr>
          <p:cNvSpPr>
            <a:spLocks xmlns:a="http://schemas.openxmlformats.org/drawingml/2006/main" noGrp="1"/>
          </p:cNvSpPr>
          <p:nvPr/>
        </p:nvSpPr>
        <p:spPr>
          <a:xfrm xmlns:a="http://schemas.openxmlformats.org/drawingml/2006/main" rot="0">
            <a:off x="6134100" y="1657350"/>
            <a:ext cx="2438400" cy="3905250"/>
          </a:xfrm>
          <a:prstGeom xmlns:a="http://schemas.openxmlformats.org/drawingml/2006/main" prst="roundRect">
            <a:avLst>
              <a:gd name="adj" fmla="val 10938"/>
            </a:avLst>
          </a:prstGeom>
          <a:solidFill xmlns:a="http://schemas.openxmlformats.org/drawingml/2006/main">
            <a:srgbClr val="ECE9E1"/>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DCDA5107-3DD7-435B-AB5A-E0D402A08122}"/>
              </a:ext>
            </a:extLst>
          </p:cNvPr>
          <p:cNvSpPr>
            <a:spLocks xmlns:a="http://schemas.openxmlformats.org/drawingml/2006/main" noGrp="1"/>
          </p:cNvSpPr>
          <p:nvPr/>
        </p:nvSpPr>
        <p:spPr>
          <a:xfrm xmlns:a="http://schemas.openxmlformats.org/drawingml/2006/main" rot="0">
            <a:off x="6953250" y="1885950"/>
            <a:ext cx="800100" cy="800100"/>
          </a:xfrm>
          <a:prstGeom xmlns:a="http://schemas.openxmlformats.org/drawingml/2006/main" prst="ellipse">
            <a:avLst/>
          </a:prstGeom>
          <a:solidFill xmlns:a="http://schemas.openxmlformats.org/drawingml/2006/main">
            <a:srgbClr val="758B6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319FA97-E3FF-4587-BBC3-EC025B7CD6CE}"/>
              </a:ext>
            </a:extLst>
          </p:cNvPr>
          <p:cNvSpPr>
            <a:spLocks xmlns:a="http://schemas.openxmlformats.org/drawingml/2006/main" noGrp="1"/>
          </p:cNvSpPr>
          <p:nvPr/>
        </p:nvSpPr>
        <p:spPr>
          <a:xfrm xmlns:a="http://schemas.openxmlformats.org/drawingml/2006/main" rot="0">
            <a:off x="6953250" y="2143125"/>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25%</a:t>
            </a:r>
          </a:p>
        </p:txBody>
      </p:sp>
      <p:sp>
        <p:nvSpPr>
          <p:cNvPr id="24" name="">
            <a:extLst xmlns:a="http://schemas.openxmlformats.org/drawingml/2006/main">
              <a:ext uri="{FF2B5EF4-FFF2-40B4-BE49-F238E27FC236}">
                <a16:creationId xmlns:a16="http://schemas.microsoft.com/office/drawing/2014/main" id="{6E2C5D59-4B68-4536-8087-F5B0CC7EFB39}"/>
              </a:ext>
            </a:extLst>
          </p:cNvPr>
          <p:cNvSpPr>
            <a:spLocks xmlns:a="http://schemas.openxmlformats.org/drawingml/2006/main" noGrp="1"/>
          </p:cNvSpPr>
          <p:nvPr/>
        </p:nvSpPr>
        <p:spPr>
          <a:xfrm xmlns:a="http://schemas.openxmlformats.org/drawingml/2006/main" rot="0">
            <a:off x="6305550" y="29908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i="0">
                <a:solidFill>
                  <a:srgbClr val="24332B"/>
                </a:solidFill>
                <a:latin typeface="Aptos"/>
                <a:ea typeface="Aptos"/>
                <a:cs typeface="Aptos"/>
              </a:defRPr>
            </a:pPr>
            <a:r>
              <a:rPr sz="1950" b="1" i="0">
                <a:solidFill>
                  <a:srgbClr val="24332B"/>
                </a:solidFill>
                <a:latin typeface="Aptos"/>
                <a:ea typeface="Aptos"/>
                <a:cs typeface="Aptos"/>
              </a:rPr>
              <a:t>Pham Nguyen Gia Bao</a:t>
            </a:r>
          </a:p>
        </p:txBody>
      </p:sp>
      <p:sp>
        <p:nvSpPr>
          <p:cNvPr id="25" name="">
            <a:extLst xmlns:a="http://schemas.openxmlformats.org/drawingml/2006/main">
              <a:ext uri="{FF2B5EF4-FFF2-40B4-BE49-F238E27FC236}">
                <a16:creationId xmlns:a16="http://schemas.microsoft.com/office/drawing/2014/main" id="{F4894546-985C-4061-80E2-5A3E862F93BA}"/>
              </a:ext>
            </a:extLst>
          </p:cNvPr>
          <p:cNvSpPr>
            <a:spLocks xmlns:a="http://schemas.openxmlformats.org/drawingml/2006/main" noGrp="1"/>
          </p:cNvSpPr>
          <p:nvPr/>
        </p:nvSpPr>
        <p:spPr>
          <a:xfrm xmlns:a="http://schemas.openxmlformats.org/drawingml/2006/main" rot="0">
            <a:off x="6305550" y="36004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66745F"/>
                </a:solidFill>
                <a:latin typeface="Aptos"/>
                <a:ea typeface="Aptos"/>
                <a:cs typeface="Aptos"/>
              </a:defRPr>
            </a:pPr>
            <a:r>
              <a:rPr sz="1500" b="1" i="0">
                <a:solidFill>
                  <a:srgbClr val="66745F"/>
                </a:solidFill>
                <a:latin typeface="Aptos"/>
                <a:ea typeface="Aptos"/>
                <a:cs typeface="Aptos"/>
              </a:rPr>
              <a:t>20127119</a:t>
            </a:r>
          </a:p>
        </p:txBody>
      </p:sp>
      <p:sp>
        <p:nvSpPr>
          <p:cNvPr id="26" name="">
            <a:extLst xmlns:a="http://schemas.openxmlformats.org/drawingml/2006/main">
              <a:ext uri="{FF2B5EF4-FFF2-40B4-BE49-F238E27FC236}">
                <a16:creationId xmlns:a16="http://schemas.microsoft.com/office/drawing/2014/main" id="{2C706DF7-33AC-4B1F-AD1C-6F0307C30817}"/>
              </a:ext>
            </a:extLst>
          </p:cNvPr>
          <p:cNvSpPr>
            <a:spLocks xmlns:a="http://schemas.openxmlformats.org/drawingml/2006/main" noGrp="1"/>
          </p:cNvSpPr>
          <p:nvPr/>
        </p:nvSpPr>
        <p:spPr>
          <a:xfrm xmlns:a="http://schemas.openxmlformats.org/drawingml/2006/main" rot="0">
            <a:off x="6305550" y="40957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i="0">
                <a:solidFill>
                  <a:srgbClr val="758B6A"/>
                </a:solidFill>
                <a:latin typeface="Aptos"/>
                <a:ea typeface="Aptos"/>
                <a:cs typeface="Aptos"/>
              </a:defRPr>
            </a:pPr>
            <a:r>
              <a:rPr sz="1650" b="1" i="0">
                <a:solidFill>
                  <a:srgbClr val="758B6A"/>
                </a:solidFill>
                <a:latin typeface="Aptos"/>
                <a:ea typeface="Aptos"/>
                <a:cs typeface="Aptos"/>
              </a:rPr>
              <a:t>Chess.com</a:t>
            </a:r>
          </a:p>
        </p:txBody>
      </p:sp>
      <p:sp>
        <p:nvSpPr>
          <p:cNvPr id="27" name="">
            <a:extLst xmlns:a="http://schemas.openxmlformats.org/drawingml/2006/main">
              <a:ext uri="{FF2B5EF4-FFF2-40B4-BE49-F238E27FC236}">
                <a16:creationId xmlns:a16="http://schemas.microsoft.com/office/drawing/2014/main" id="{284C866F-9320-4383-8B91-F20D5F1C109F}"/>
              </a:ext>
            </a:extLst>
          </p:cNvPr>
          <p:cNvSpPr>
            <a:spLocks xmlns:a="http://schemas.openxmlformats.org/drawingml/2006/main" noGrp="1"/>
          </p:cNvSpPr>
          <p:nvPr/>
        </p:nvSpPr>
        <p:spPr>
          <a:xfrm xmlns:a="http://schemas.openxmlformats.org/drawingml/2006/main" rot="0">
            <a:off x="6343650" y="4552950"/>
            <a:ext cx="2019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0" i="0">
                <a:solidFill>
                  <a:srgbClr val="24332B"/>
                </a:solidFill>
                <a:latin typeface="Aptos"/>
                <a:ea typeface="Aptos"/>
                <a:cs typeface="Aptos"/>
              </a:defRPr>
            </a:pPr>
            <a:r>
              <a:rPr sz="1500" b="0" i="0">
                <a:solidFill>
                  <a:srgbClr val="24332B"/>
                </a:solidFill>
                <a:latin typeface="Aptos"/>
                <a:ea typeface="Aptos"/>
                <a:cs typeface="Aptos"/>
              </a:rPr>
              <a:t>Nghiên cứu • use case</a:t>
            </a:r>
          </a:p>
        </p:txBody>
      </p:sp>
      <p:sp>
        <p:nvSpPr>
          <p:cNvPr id="28" name="">
            <a:extLst xmlns:a="http://schemas.openxmlformats.org/drawingml/2006/main">
              <a:ext uri="{FF2B5EF4-FFF2-40B4-BE49-F238E27FC236}">
                <a16:creationId xmlns:a16="http://schemas.microsoft.com/office/drawing/2014/main" id="{82FE8C12-8E64-4854-9918-5004E06FE217}"/>
              </a:ext>
            </a:extLst>
          </p:cNvPr>
          <p:cNvSpPr>
            <a:spLocks xmlns:a="http://schemas.openxmlformats.org/drawingml/2006/main" noGrp="1"/>
          </p:cNvSpPr>
          <p:nvPr/>
        </p:nvSpPr>
        <p:spPr>
          <a:xfrm xmlns:a="http://schemas.openxmlformats.org/drawingml/2006/main" rot="0">
            <a:off x="8896350" y="1657350"/>
            <a:ext cx="2438400" cy="3905250"/>
          </a:xfrm>
          <a:prstGeom xmlns:a="http://schemas.openxmlformats.org/drawingml/2006/main" prst="roundRect">
            <a:avLst>
              <a:gd name="adj" fmla="val 10938"/>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E920D0B0-2947-4DCB-9DD7-43C9F0D7FA8A}"/>
              </a:ext>
            </a:extLst>
          </p:cNvPr>
          <p:cNvSpPr>
            <a:spLocks xmlns:a="http://schemas.openxmlformats.org/drawingml/2006/main" noGrp="1"/>
          </p:cNvSpPr>
          <p:nvPr/>
        </p:nvSpPr>
        <p:spPr>
          <a:xfrm xmlns:a="http://schemas.openxmlformats.org/drawingml/2006/main" rot="0">
            <a:off x="9715500" y="1885950"/>
            <a:ext cx="800100" cy="800100"/>
          </a:xfrm>
          <a:prstGeom xmlns:a="http://schemas.openxmlformats.org/drawingml/2006/main" prst="ellipse">
            <a:avLst/>
          </a:prstGeom>
          <a:solidFill xmlns:a="http://schemas.openxmlformats.org/drawingml/2006/main">
            <a:srgbClr val="758B6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C589A8F-9941-410A-80C2-A26D5CA15FE8}"/>
              </a:ext>
            </a:extLst>
          </p:cNvPr>
          <p:cNvSpPr>
            <a:spLocks xmlns:a="http://schemas.openxmlformats.org/drawingml/2006/main" noGrp="1"/>
          </p:cNvSpPr>
          <p:nvPr/>
        </p:nvSpPr>
        <p:spPr>
          <a:xfrm xmlns:a="http://schemas.openxmlformats.org/drawingml/2006/main" rot="0">
            <a:off x="9715500" y="2143125"/>
            <a:ext cx="800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25%</a:t>
            </a:r>
          </a:p>
        </p:txBody>
      </p:sp>
      <p:sp>
        <p:nvSpPr>
          <p:cNvPr id="31" name="">
            <a:extLst xmlns:a="http://schemas.openxmlformats.org/drawingml/2006/main">
              <a:ext uri="{FF2B5EF4-FFF2-40B4-BE49-F238E27FC236}">
                <a16:creationId xmlns:a16="http://schemas.microsoft.com/office/drawing/2014/main" id="{12CB9705-C27B-4765-8542-0CD0612C45D7}"/>
              </a:ext>
            </a:extLst>
          </p:cNvPr>
          <p:cNvSpPr>
            <a:spLocks xmlns:a="http://schemas.openxmlformats.org/drawingml/2006/main" noGrp="1"/>
          </p:cNvSpPr>
          <p:nvPr/>
        </p:nvSpPr>
        <p:spPr>
          <a:xfrm xmlns:a="http://schemas.openxmlformats.org/drawingml/2006/main" rot="0">
            <a:off x="9067800" y="29908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i="0">
                <a:solidFill>
                  <a:srgbClr val="24332B"/>
                </a:solidFill>
                <a:latin typeface="Aptos"/>
                <a:ea typeface="Aptos"/>
                <a:cs typeface="Aptos"/>
              </a:defRPr>
            </a:pPr>
            <a:r>
              <a:rPr sz="1950" b="1" i="0">
                <a:solidFill>
                  <a:srgbClr val="24332B"/>
                </a:solidFill>
                <a:latin typeface="Aptos"/>
                <a:ea typeface="Aptos"/>
                <a:cs typeface="Aptos"/>
              </a:rPr>
              <a:t>Trang Minh Nhut</a:t>
            </a:r>
          </a:p>
        </p:txBody>
      </p:sp>
      <p:sp>
        <p:nvSpPr>
          <p:cNvPr id="32" name="">
            <a:extLst xmlns:a="http://schemas.openxmlformats.org/drawingml/2006/main">
              <a:ext uri="{FF2B5EF4-FFF2-40B4-BE49-F238E27FC236}">
                <a16:creationId xmlns:a16="http://schemas.microsoft.com/office/drawing/2014/main" id="{C7415901-5B5F-42B0-8080-45E35329E1A1}"/>
              </a:ext>
            </a:extLst>
          </p:cNvPr>
          <p:cNvSpPr>
            <a:spLocks xmlns:a="http://schemas.openxmlformats.org/drawingml/2006/main" noGrp="1"/>
          </p:cNvSpPr>
          <p:nvPr/>
        </p:nvSpPr>
        <p:spPr>
          <a:xfrm xmlns:a="http://schemas.openxmlformats.org/drawingml/2006/main" rot="0">
            <a:off x="9067800" y="36004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i="0">
                <a:solidFill>
                  <a:srgbClr val="66745F"/>
                </a:solidFill>
                <a:latin typeface="Aptos"/>
                <a:ea typeface="Aptos"/>
                <a:cs typeface="Aptos"/>
              </a:defRPr>
            </a:pPr>
            <a:r>
              <a:rPr sz="1500" b="1" i="0">
                <a:solidFill>
                  <a:srgbClr val="66745F"/>
                </a:solidFill>
                <a:latin typeface="Aptos"/>
                <a:ea typeface="Aptos"/>
                <a:cs typeface="Aptos"/>
              </a:rPr>
              <a:t>22127318</a:t>
            </a:r>
          </a:p>
        </p:txBody>
      </p:sp>
      <p:sp>
        <p:nvSpPr>
          <p:cNvPr id="33" name="">
            <a:extLst xmlns:a="http://schemas.openxmlformats.org/drawingml/2006/main">
              <a:ext uri="{FF2B5EF4-FFF2-40B4-BE49-F238E27FC236}">
                <a16:creationId xmlns:a16="http://schemas.microsoft.com/office/drawing/2014/main" id="{E404D9D0-9825-4D9C-B1D2-3E5EE7DDF187}"/>
              </a:ext>
            </a:extLst>
          </p:cNvPr>
          <p:cNvSpPr>
            <a:spLocks xmlns:a="http://schemas.openxmlformats.org/drawingml/2006/main" noGrp="1"/>
          </p:cNvSpPr>
          <p:nvPr/>
        </p:nvSpPr>
        <p:spPr>
          <a:xfrm xmlns:a="http://schemas.openxmlformats.org/drawingml/2006/main" rot="0">
            <a:off x="9067800" y="40957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i="0">
                <a:solidFill>
                  <a:srgbClr val="758B6A"/>
                </a:solidFill>
                <a:latin typeface="Aptos"/>
                <a:ea typeface="Aptos"/>
                <a:cs typeface="Aptos"/>
              </a:defRPr>
            </a:pPr>
            <a:r>
              <a:rPr sz="1650" b="1" i="0">
                <a:solidFill>
                  <a:srgbClr val="758B6A"/>
                </a:solidFill>
                <a:latin typeface="Aptos"/>
                <a:ea typeface="Aptos"/>
                <a:cs typeface="Aptos"/>
              </a:rPr>
              <a:t>Chess.com</a:t>
            </a:r>
          </a:p>
        </p:txBody>
      </p:sp>
      <p:sp>
        <p:nvSpPr>
          <p:cNvPr id="34" name="">
            <a:extLst xmlns:a="http://schemas.openxmlformats.org/drawingml/2006/main">
              <a:ext uri="{FF2B5EF4-FFF2-40B4-BE49-F238E27FC236}">
                <a16:creationId xmlns:a16="http://schemas.microsoft.com/office/drawing/2014/main" id="{86BFD8DF-0E85-4833-A974-F83EF50A04ED}"/>
              </a:ext>
            </a:extLst>
          </p:cNvPr>
          <p:cNvSpPr>
            <a:spLocks xmlns:a="http://schemas.openxmlformats.org/drawingml/2006/main" noGrp="1"/>
          </p:cNvSpPr>
          <p:nvPr/>
        </p:nvSpPr>
        <p:spPr>
          <a:xfrm xmlns:a="http://schemas.openxmlformats.org/drawingml/2006/main" rot="0">
            <a:off x="9105900" y="4552950"/>
            <a:ext cx="2019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0" i="0">
                <a:solidFill>
                  <a:srgbClr val="24332B"/>
                </a:solidFill>
                <a:latin typeface="Aptos"/>
                <a:ea typeface="Aptos"/>
                <a:cs typeface="Aptos"/>
              </a:defRPr>
            </a:pPr>
            <a:r>
              <a:rPr sz="1500" b="0" i="0">
                <a:solidFill>
                  <a:srgbClr val="24332B"/>
                </a:solidFill>
                <a:latin typeface="Aptos"/>
                <a:ea typeface="Aptos"/>
                <a:cs typeface="Aptos"/>
              </a:rPr>
              <a:t>HCI • giải pháp • visual QA</a:t>
            </a:r>
          </a:p>
        </p:txBody>
      </p:sp>
      <p:sp>
        <p:nvSpPr>
          <p:cNvPr id="35" name="">
            <a:extLst xmlns:a="http://schemas.openxmlformats.org/drawingml/2006/main">
              <a:ext uri="{FF2B5EF4-FFF2-40B4-BE49-F238E27FC236}">
                <a16:creationId xmlns:a16="http://schemas.microsoft.com/office/drawing/2014/main" id="{9DAFB905-56AB-4FFD-91B6-20D4AA9D071A}"/>
              </a:ext>
            </a:extLst>
          </p:cNvPr>
          <p:cNvSpPr>
            <a:spLocks xmlns:a="http://schemas.openxmlformats.org/drawingml/2006/main" noGrp="1"/>
          </p:cNvSpPr>
          <p:nvPr/>
        </p:nvSpPr>
        <p:spPr>
          <a:xfrm xmlns:a="http://schemas.openxmlformats.org/drawingml/2006/main" rot="0">
            <a:off x="1428750" y="590550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725" b="1" i="0">
                <a:solidFill>
                  <a:srgbClr val="24332B"/>
                </a:solidFill>
                <a:latin typeface="Aptos"/>
                <a:ea typeface="Aptos"/>
                <a:cs typeface="Aptos"/>
              </a:defRPr>
            </a:pPr>
            <a:r>
              <a:rPr sz="1725" b="1" i="0">
                <a:solidFill>
                  <a:srgbClr val="24332B"/>
                </a:solidFill>
                <a:latin typeface="Aptos"/>
                <a:ea typeface="Aptos"/>
                <a:cs typeface="Aptos"/>
              </a:rPr>
              <a:t>Mỗi website có hai chủ sở hữu; review và QA được thực hiện chéo.</a:t>
            </a:r>
          </a:p>
        </p:txBody>
      </p:sp>
    </p:spTree>
    <p:extLst>
      <p:ext uri="{BB962C8B-B14F-4D97-AF65-F5344CB8AC3E}">
        <p14:creationId xmlns:p14="http://schemas.microsoft.com/office/powerpoint/2010/main" val="1757584357"/>
      </p:ext>
    </p:extLst>
  </p:cSld>
</p:sld>
</file>

<file path=ppt/slides/slide2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20">
            <a:extLst xmlns:a="http://schemas.openxmlformats.org/drawingml/2006/main">
              <a:ext uri="{FF2B5EF4-FFF2-40B4-BE49-F238E27FC236}">
                <a16:creationId xmlns:a16="http://schemas.microsoft.com/office/drawing/2014/main" id="{A715F247-5F68-4AC3-BA51-3FCBBED58288}"/>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PEER REVIEW VÀ CHỈNH SỬA</a:t>
            </a:r>
          </a:p>
        </p:txBody>
      </p:sp>
      <p:sp>
        <p:nvSpPr>
          <p:cNvPr id="2" name="title-20">
            <a:extLst xmlns:a="http://schemas.openxmlformats.org/drawingml/2006/main">
              <a:ext uri="{FF2B5EF4-FFF2-40B4-BE49-F238E27FC236}">
                <a16:creationId xmlns:a16="http://schemas.microsoft.com/office/drawing/2014/main" id="{C599FCFF-CA1A-4DDB-9AFC-9687D0922CA2}"/>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Peer review gắn với bằng chứng</a:t>
            </a:r>
          </a:p>
        </p:txBody>
      </p:sp>
      <p:sp>
        <p:nvSpPr>
          <p:cNvPr id="3" name="">
            <a:extLst xmlns:a="http://schemas.openxmlformats.org/drawingml/2006/main">
              <a:ext uri="{FF2B5EF4-FFF2-40B4-BE49-F238E27FC236}">
                <a16:creationId xmlns:a16="http://schemas.microsoft.com/office/drawing/2014/main" id="{3DEAF2CF-5A44-47CE-95A6-FB6845D15C5E}"/>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114F98D-A584-4790-9C6A-B559025799BA}"/>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20</a:t>
            </a:r>
          </a:p>
        </p:txBody>
      </p:sp>
      <p:sp>
        <p:nvSpPr>
          <p:cNvPr id="5" name="">
            <a:extLst xmlns:a="http://schemas.openxmlformats.org/drawingml/2006/main">
              <a:ext uri="{FF2B5EF4-FFF2-40B4-BE49-F238E27FC236}">
                <a16:creationId xmlns:a16="http://schemas.microsoft.com/office/drawing/2014/main" id="{9B732B0D-B579-4B38-8DC5-750CACDDCFE8}"/>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F0DC35E5-04E9-4068-AC6F-2407D6135985}"/>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20 / 21</a:t>
            </a:r>
          </a:p>
        </p:txBody>
      </p:sp>
      <p:sp>
        <p:nvSpPr>
          <p:cNvPr id="7" name="">
            <a:extLst xmlns:a="http://schemas.openxmlformats.org/drawingml/2006/main">
              <a:ext uri="{FF2B5EF4-FFF2-40B4-BE49-F238E27FC236}">
                <a16:creationId xmlns:a16="http://schemas.microsoft.com/office/drawing/2014/main" id="{A5682DE6-ABE2-43D8-8531-1C4D27606B19}"/>
              </a:ext>
            </a:extLst>
          </p:cNvPr>
          <p:cNvSpPr>
            <a:spLocks xmlns:a="http://schemas.openxmlformats.org/drawingml/2006/main" noGrp="1"/>
          </p:cNvSpPr>
          <p:nvPr/>
        </p:nvSpPr>
        <p:spPr>
          <a:xfrm xmlns:a="http://schemas.openxmlformats.org/drawingml/2006/main" rot="0">
            <a:off x="990600" y="1962150"/>
            <a:ext cx="2095500" cy="704850"/>
          </a:xfrm>
          <a:prstGeom xmlns:a="http://schemas.openxmlformats.org/drawingml/2006/main" prst="roundRect">
            <a:avLst>
              <a:gd name="adj" fmla="val 29730"/>
            </a:avLst>
          </a:prstGeom>
          <a:solidFill xmlns:a="http://schemas.openxmlformats.org/drawingml/2006/main">
            <a:srgbClr val="FFFFFF"/>
          </a:solidFill>
          <a:ln xmlns:a="http://schemas.openxmlformats.org/drawingml/2006/main" w="19050">
            <a:solidFill>
              <a:srgbClr val="8C9A8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B07DD308-6084-4B28-A27B-4DCFB2C9DD07}"/>
              </a:ext>
            </a:extLst>
          </p:cNvPr>
          <p:cNvSpPr>
            <a:spLocks xmlns:a="http://schemas.openxmlformats.org/drawingml/2006/main" noGrp="1"/>
          </p:cNvSpPr>
          <p:nvPr/>
        </p:nvSpPr>
        <p:spPr>
          <a:xfrm xmlns:a="http://schemas.openxmlformats.org/drawingml/2006/main" rot="0">
            <a:off x="1104900" y="2143125"/>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i="0">
                <a:solidFill>
                  <a:srgbClr val="24332B"/>
                </a:solidFill>
                <a:latin typeface="Aptos"/>
                <a:ea typeface="Aptos"/>
                <a:cs typeface="Aptos"/>
              </a:defRPr>
            </a:pPr>
            <a:r>
              <a:rPr sz="1650" b="1" i="0">
                <a:solidFill>
                  <a:srgbClr val="24332B"/>
                </a:solidFill>
                <a:latin typeface="Aptos"/>
                <a:ea typeface="Aptos"/>
                <a:cs typeface="Aptos"/>
              </a:rPr>
              <a:t>Bằng chứng</a:t>
            </a:r>
          </a:p>
        </p:txBody>
      </p:sp>
      <p:sp>
        <p:nvSpPr>
          <p:cNvPr id="9" name="">
            <a:extLst xmlns:a="http://schemas.openxmlformats.org/drawingml/2006/main">
              <a:ext uri="{FF2B5EF4-FFF2-40B4-BE49-F238E27FC236}">
                <a16:creationId xmlns:a16="http://schemas.microsoft.com/office/drawing/2014/main" id="{0C4062FD-6E2D-4E23-9A8C-B9125C6040AC}"/>
              </a:ext>
            </a:extLst>
          </p:cNvPr>
          <p:cNvSpPr>
            <a:spLocks xmlns:a="http://schemas.openxmlformats.org/drawingml/2006/main" noGrp="1"/>
          </p:cNvSpPr>
          <p:nvPr/>
        </p:nvSpPr>
        <p:spPr>
          <a:xfrm xmlns:a="http://schemas.openxmlformats.org/drawingml/2006/main" rot="0">
            <a:off x="3124200" y="2295525"/>
            <a:ext cx="3429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34BA001-3448-425C-B4A4-80426F85A733}"/>
              </a:ext>
            </a:extLst>
          </p:cNvPr>
          <p:cNvSpPr>
            <a:spLocks xmlns:a="http://schemas.openxmlformats.org/drawingml/2006/main" noGrp="1"/>
          </p:cNvSpPr>
          <p:nvPr/>
        </p:nvSpPr>
        <p:spPr>
          <a:xfrm xmlns:a="http://schemas.openxmlformats.org/drawingml/2006/main" rot="0">
            <a:off x="3409950" y="2209800"/>
            <a:ext cx="190500" cy="209550"/>
          </a:xfrm>
          <a:prstGeom xmlns:a="http://schemas.openxmlformats.org/drawingml/2006/main" prst="chevron">
            <a:avLst/>
          </a:prstGeom>
          <a:solidFill xmlns:a="http://schemas.openxmlformats.org/drawingml/2006/main">
            <a:srgbClr val="8C9A8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342A9A5-6179-4F6F-909B-A13D77CA6F2B}"/>
              </a:ext>
            </a:extLst>
          </p:cNvPr>
          <p:cNvSpPr>
            <a:spLocks xmlns:a="http://schemas.openxmlformats.org/drawingml/2006/main" noGrp="1"/>
          </p:cNvSpPr>
          <p:nvPr/>
        </p:nvSpPr>
        <p:spPr>
          <a:xfrm xmlns:a="http://schemas.openxmlformats.org/drawingml/2006/main" rot="0">
            <a:off x="3676650" y="1962150"/>
            <a:ext cx="2095500" cy="704850"/>
          </a:xfrm>
          <a:prstGeom xmlns:a="http://schemas.openxmlformats.org/drawingml/2006/main" prst="roundRect">
            <a:avLst>
              <a:gd name="adj" fmla="val 29730"/>
            </a:avLst>
          </a:prstGeom>
          <a:solidFill xmlns:a="http://schemas.openxmlformats.org/drawingml/2006/main">
            <a:srgbClr val="FFFFFF"/>
          </a:solidFill>
          <a:ln xmlns:a="http://schemas.openxmlformats.org/drawingml/2006/main" w="19050">
            <a:solidFill>
              <a:srgbClr val="C7776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FBEE925A-71F4-4422-97A1-EB7CBE6487A0}"/>
              </a:ext>
            </a:extLst>
          </p:cNvPr>
          <p:cNvSpPr>
            <a:spLocks xmlns:a="http://schemas.openxmlformats.org/drawingml/2006/main" noGrp="1"/>
          </p:cNvSpPr>
          <p:nvPr/>
        </p:nvSpPr>
        <p:spPr>
          <a:xfrm xmlns:a="http://schemas.openxmlformats.org/drawingml/2006/main" rot="0">
            <a:off x="3790950" y="2143125"/>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i="0">
                <a:solidFill>
                  <a:srgbClr val="24332B"/>
                </a:solidFill>
                <a:latin typeface="Aptos"/>
                <a:ea typeface="Aptos"/>
                <a:cs typeface="Aptos"/>
              </a:defRPr>
            </a:pPr>
            <a:r>
              <a:rPr sz="1650" b="1" i="0">
                <a:solidFill>
                  <a:srgbClr val="24332B"/>
                </a:solidFill>
                <a:latin typeface="Aptos"/>
                <a:ea typeface="Aptos"/>
                <a:cs typeface="Aptos"/>
              </a:rPr>
              <a:t>Nhận xét</a:t>
            </a:r>
          </a:p>
        </p:txBody>
      </p:sp>
      <p:sp>
        <p:nvSpPr>
          <p:cNvPr id="13" name="">
            <a:extLst xmlns:a="http://schemas.openxmlformats.org/drawingml/2006/main">
              <a:ext uri="{FF2B5EF4-FFF2-40B4-BE49-F238E27FC236}">
                <a16:creationId xmlns:a16="http://schemas.microsoft.com/office/drawing/2014/main" id="{38DC9711-4054-4F00-9A5A-5212D81D4945}"/>
              </a:ext>
            </a:extLst>
          </p:cNvPr>
          <p:cNvSpPr>
            <a:spLocks xmlns:a="http://schemas.openxmlformats.org/drawingml/2006/main" noGrp="1"/>
          </p:cNvSpPr>
          <p:nvPr/>
        </p:nvSpPr>
        <p:spPr>
          <a:xfrm xmlns:a="http://schemas.openxmlformats.org/drawingml/2006/main" rot="0">
            <a:off x="5810250" y="2295525"/>
            <a:ext cx="3429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5BEA14D-1EB5-41B5-AB01-3EE8EB09D980}"/>
              </a:ext>
            </a:extLst>
          </p:cNvPr>
          <p:cNvSpPr>
            <a:spLocks xmlns:a="http://schemas.openxmlformats.org/drawingml/2006/main" noGrp="1"/>
          </p:cNvSpPr>
          <p:nvPr/>
        </p:nvSpPr>
        <p:spPr>
          <a:xfrm xmlns:a="http://schemas.openxmlformats.org/drawingml/2006/main" rot="0">
            <a:off x="6096000" y="2209800"/>
            <a:ext cx="190500" cy="209550"/>
          </a:xfrm>
          <a:prstGeom xmlns:a="http://schemas.openxmlformats.org/drawingml/2006/main" prst="chevron">
            <a:avLst/>
          </a:prstGeom>
          <a:solidFill xmlns:a="http://schemas.openxmlformats.org/drawingml/2006/main">
            <a:srgbClr val="8C9A8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AEF6405-C601-44D8-A601-342262AFED90}"/>
              </a:ext>
            </a:extLst>
          </p:cNvPr>
          <p:cNvSpPr>
            <a:spLocks xmlns:a="http://schemas.openxmlformats.org/drawingml/2006/main" noGrp="1"/>
          </p:cNvSpPr>
          <p:nvPr/>
        </p:nvSpPr>
        <p:spPr>
          <a:xfrm xmlns:a="http://schemas.openxmlformats.org/drawingml/2006/main" rot="0">
            <a:off x="6362700" y="1962150"/>
            <a:ext cx="2095500" cy="704850"/>
          </a:xfrm>
          <a:prstGeom xmlns:a="http://schemas.openxmlformats.org/drawingml/2006/main" prst="roundRect">
            <a:avLst>
              <a:gd name="adj" fmla="val 29730"/>
            </a:avLst>
          </a:prstGeom>
          <a:solidFill xmlns:a="http://schemas.openxmlformats.org/drawingml/2006/main">
            <a:srgbClr val="FFFFFF"/>
          </a:solidFill>
          <a:ln xmlns:a="http://schemas.openxmlformats.org/drawingml/2006/main" w="19050">
            <a:solidFill>
              <a:srgbClr val="8C9A8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B3D74FB8-3508-41BF-8C1B-45C7D94B06EB}"/>
              </a:ext>
            </a:extLst>
          </p:cNvPr>
          <p:cNvSpPr>
            <a:spLocks xmlns:a="http://schemas.openxmlformats.org/drawingml/2006/main" noGrp="1"/>
          </p:cNvSpPr>
          <p:nvPr/>
        </p:nvSpPr>
        <p:spPr>
          <a:xfrm xmlns:a="http://schemas.openxmlformats.org/drawingml/2006/main" rot="0">
            <a:off x="6477000" y="2143125"/>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i="0">
                <a:solidFill>
                  <a:srgbClr val="24332B"/>
                </a:solidFill>
                <a:latin typeface="Aptos"/>
                <a:ea typeface="Aptos"/>
                <a:cs typeface="Aptos"/>
              </a:defRPr>
            </a:pPr>
            <a:r>
              <a:rPr sz="1650" b="1" i="0">
                <a:solidFill>
                  <a:srgbClr val="24332B"/>
                </a:solidFill>
                <a:latin typeface="Aptos"/>
                <a:ea typeface="Aptos"/>
                <a:cs typeface="Aptos"/>
              </a:rPr>
              <a:t>Thay đổi</a:t>
            </a:r>
          </a:p>
        </p:txBody>
      </p:sp>
      <p:sp>
        <p:nvSpPr>
          <p:cNvPr id="17" name="">
            <a:extLst xmlns:a="http://schemas.openxmlformats.org/drawingml/2006/main">
              <a:ext uri="{FF2B5EF4-FFF2-40B4-BE49-F238E27FC236}">
                <a16:creationId xmlns:a16="http://schemas.microsoft.com/office/drawing/2014/main" id="{E5C93BEB-F10F-4464-9A5A-2A4F5CE0CBA6}"/>
              </a:ext>
            </a:extLst>
          </p:cNvPr>
          <p:cNvSpPr>
            <a:spLocks xmlns:a="http://schemas.openxmlformats.org/drawingml/2006/main" noGrp="1"/>
          </p:cNvSpPr>
          <p:nvPr/>
        </p:nvSpPr>
        <p:spPr>
          <a:xfrm xmlns:a="http://schemas.openxmlformats.org/drawingml/2006/main" rot="0">
            <a:off x="8496300" y="2295525"/>
            <a:ext cx="3429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1712172-3C8A-4B15-9F12-D8269A5EA537}"/>
              </a:ext>
            </a:extLst>
          </p:cNvPr>
          <p:cNvSpPr>
            <a:spLocks xmlns:a="http://schemas.openxmlformats.org/drawingml/2006/main" noGrp="1"/>
          </p:cNvSpPr>
          <p:nvPr/>
        </p:nvSpPr>
        <p:spPr>
          <a:xfrm xmlns:a="http://schemas.openxmlformats.org/drawingml/2006/main" rot="0">
            <a:off x="8782050" y="2209800"/>
            <a:ext cx="190500" cy="209550"/>
          </a:xfrm>
          <a:prstGeom xmlns:a="http://schemas.openxmlformats.org/drawingml/2006/main" prst="chevron">
            <a:avLst/>
          </a:prstGeom>
          <a:solidFill xmlns:a="http://schemas.openxmlformats.org/drawingml/2006/main">
            <a:srgbClr val="8C9A8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2D2DDAE-2475-4104-BC78-AE164C5BC244}"/>
              </a:ext>
            </a:extLst>
          </p:cNvPr>
          <p:cNvSpPr>
            <a:spLocks xmlns:a="http://schemas.openxmlformats.org/drawingml/2006/main" noGrp="1"/>
          </p:cNvSpPr>
          <p:nvPr/>
        </p:nvSpPr>
        <p:spPr>
          <a:xfrm xmlns:a="http://schemas.openxmlformats.org/drawingml/2006/main" rot="0">
            <a:off x="9048750" y="1962150"/>
            <a:ext cx="2095500" cy="704850"/>
          </a:xfrm>
          <a:prstGeom xmlns:a="http://schemas.openxmlformats.org/drawingml/2006/main" prst="roundRect">
            <a:avLst>
              <a:gd name="adj" fmla="val 29730"/>
            </a:avLst>
          </a:prstGeom>
          <a:solidFill xmlns:a="http://schemas.openxmlformats.org/drawingml/2006/main">
            <a:srgbClr val="FFFFFF"/>
          </a:solidFill>
          <a:ln xmlns:a="http://schemas.openxmlformats.org/drawingml/2006/main" w="19050">
            <a:solidFill>
              <a:srgbClr val="C7776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35D3AB38-AEDB-4922-9F55-54E18289E771}"/>
              </a:ext>
            </a:extLst>
          </p:cNvPr>
          <p:cNvSpPr>
            <a:spLocks xmlns:a="http://schemas.openxmlformats.org/drawingml/2006/main" noGrp="1"/>
          </p:cNvSpPr>
          <p:nvPr/>
        </p:nvSpPr>
        <p:spPr>
          <a:xfrm xmlns:a="http://schemas.openxmlformats.org/drawingml/2006/main" rot="0">
            <a:off x="9163050" y="2143125"/>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i="0">
                <a:solidFill>
                  <a:srgbClr val="24332B"/>
                </a:solidFill>
                <a:latin typeface="Aptos"/>
                <a:ea typeface="Aptos"/>
                <a:cs typeface="Aptos"/>
              </a:defRPr>
            </a:pPr>
            <a:r>
              <a:rPr sz="1650" b="1" i="0">
                <a:solidFill>
                  <a:srgbClr val="24332B"/>
                </a:solidFill>
                <a:latin typeface="Aptos"/>
                <a:ea typeface="Aptos"/>
                <a:cs typeface="Aptos"/>
              </a:rPr>
              <a:t>Chủ sở hữu</a:t>
            </a:r>
          </a:p>
        </p:txBody>
      </p:sp>
      <p:sp>
        <p:nvSpPr>
          <p:cNvPr id="21" name="">
            <a:extLst xmlns:a="http://schemas.openxmlformats.org/drawingml/2006/main">
              <a:ext uri="{FF2B5EF4-FFF2-40B4-BE49-F238E27FC236}">
                <a16:creationId xmlns:a16="http://schemas.microsoft.com/office/drawing/2014/main" id="{2F8FB4E3-ACE6-47C6-80B6-25B1D571B93F}"/>
              </a:ext>
            </a:extLst>
          </p:cNvPr>
          <p:cNvSpPr>
            <a:spLocks xmlns:a="http://schemas.openxmlformats.org/drawingml/2006/main" noGrp="1"/>
          </p:cNvSpPr>
          <p:nvPr/>
        </p:nvSpPr>
        <p:spPr>
          <a:xfrm xmlns:a="http://schemas.openxmlformats.org/drawingml/2006/main" rot="0">
            <a:off x="990600" y="3352800"/>
            <a:ext cx="2095500" cy="238125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5adaca629a8246f9"/>
          <a:stretch xmlns:a="http://schemas.openxmlformats.org/drawingml/2006/main"/>
        </p:blipFill>
        <p:spPr>
          <a:xfrm xmlns:a="http://schemas.openxmlformats.org/drawingml/2006/main">
            <a:off x="1349324" y="3448050"/>
            <a:ext cx="1378052" cy="2190750"/>
          </a:xfrm>
          <a:prstGeom xmlns:a="http://schemas.openxmlformats.org/drawingml/2006/main" prst="roundRect">
            <a:avLst>
              <a:gd name="adj" fmla="val 7000"/>
            </a:avLst>
          </a:prstGeom>
        </p:spPr>
      </p:pic>
      <p:sp>
        <p:nvSpPr>
          <p:cNvPr id="23" name="">
            <a:extLst xmlns:a="http://schemas.openxmlformats.org/drawingml/2006/main">
              <a:ext uri="{FF2B5EF4-FFF2-40B4-BE49-F238E27FC236}">
                <a16:creationId xmlns:a16="http://schemas.microsoft.com/office/drawing/2014/main" id="{6682F312-B1A1-4A37-8FD3-A0F173D0B473}"/>
              </a:ext>
            </a:extLst>
          </p:cNvPr>
          <p:cNvSpPr>
            <a:spLocks xmlns:a="http://schemas.openxmlformats.org/drawingml/2006/main" noGrp="1"/>
          </p:cNvSpPr>
          <p:nvPr/>
        </p:nvSpPr>
        <p:spPr>
          <a:xfrm xmlns:a="http://schemas.openxmlformats.org/drawingml/2006/main" rot="0">
            <a:off x="3409950" y="400050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i="0">
                <a:solidFill>
                  <a:srgbClr val="C77761"/>
                </a:solidFill>
                <a:latin typeface="Aptos"/>
                <a:ea typeface="Aptos"/>
                <a:cs typeface="Aptos"/>
              </a:defRPr>
            </a:pPr>
            <a:r>
              <a:rPr sz="1800" b="1" i="0">
                <a:solidFill>
                  <a:srgbClr val="C77761"/>
                </a:solidFill>
                <a:latin typeface="Aptos"/>
                <a:ea typeface="Aptos"/>
                <a:cs typeface="Aptos"/>
              </a:rPr>
              <a:t>Làm rõ lối vào World Cup</a:t>
            </a:r>
          </a:p>
        </p:txBody>
      </p:sp>
      <p:sp>
        <p:nvSpPr>
          <p:cNvPr id="24" name="">
            <a:extLst xmlns:a="http://schemas.openxmlformats.org/drawingml/2006/main">
              <a:ext uri="{FF2B5EF4-FFF2-40B4-BE49-F238E27FC236}">
                <a16:creationId xmlns:a16="http://schemas.microsoft.com/office/drawing/2014/main" id="{397F7BFA-ECFD-4ECC-A835-D6C3B760E0D4}"/>
              </a:ext>
            </a:extLst>
          </p:cNvPr>
          <p:cNvSpPr>
            <a:spLocks xmlns:a="http://schemas.openxmlformats.org/drawingml/2006/main" noGrp="1"/>
          </p:cNvSpPr>
          <p:nvPr/>
        </p:nvSpPr>
        <p:spPr>
          <a:xfrm xmlns:a="http://schemas.openxmlformats.org/drawingml/2006/main" rot="0">
            <a:off x="6477000" y="3352800"/>
            <a:ext cx="2095500" cy="238125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bfa1895fbedd4130"/>
          <a:stretch xmlns:a="http://schemas.openxmlformats.org/drawingml/2006/main"/>
        </p:blipFill>
        <p:spPr>
          <a:xfrm xmlns:a="http://schemas.openxmlformats.org/drawingml/2006/main">
            <a:off x="6914470" y="3448050"/>
            <a:ext cx="1220561" cy="2190750"/>
          </a:xfrm>
          <a:prstGeom xmlns:a="http://schemas.openxmlformats.org/drawingml/2006/main" prst="roundRect">
            <a:avLst>
              <a:gd name="adj" fmla="val 7000"/>
            </a:avLst>
          </a:prstGeom>
        </p:spPr>
      </p:pic>
      <p:sp>
        <p:nvSpPr>
          <p:cNvPr id="26" name="">
            <a:extLst xmlns:a="http://schemas.openxmlformats.org/drawingml/2006/main">
              <a:ext uri="{FF2B5EF4-FFF2-40B4-BE49-F238E27FC236}">
                <a16:creationId xmlns:a16="http://schemas.microsoft.com/office/drawing/2014/main" id="{C066D59B-AEA8-440A-85C2-9E08680BC4F9}"/>
              </a:ext>
            </a:extLst>
          </p:cNvPr>
          <p:cNvSpPr>
            <a:spLocks xmlns:a="http://schemas.openxmlformats.org/drawingml/2006/main" noGrp="1"/>
          </p:cNvSpPr>
          <p:nvPr/>
        </p:nvSpPr>
        <p:spPr>
          <a:xfrm xmlns:a="http://schemas.openxmlformats.org/drawingml/2006/main" rot="0">
            <a:off x="8896350" y="400050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i="0">
                <a:solidFill>
                  <a:srgbClr val="758B6A"/>
                </a:solidFill>
                <a:latin typeface="Aptos"/>
                <a:ea typeface="Aptos"/>
                <a:cs typeface="Aptos"/>
              </a:defRPr>
            </a:pPr>
            <a:r>
              <a:rPr sz="1800" b="1" i="0">
                <a:solidFill>
                  <a:srgbClr val="758B6A"/>
                </a:solidFill>
                <a:latin typeface="Aptos"/>
                <a:ea typeface="Aptos"/>
                <a:cs typeface="Aptos"/>
              </a:rPr>
              <a:t>Giảm tải bước đầu</a:t>
            </a:r>
          </a:p>
        </p:txBody>
      </p:sp>
      <p:sp>
        <p:nvSpPr>
          <p:cNvPr id="27" name="">
            <a:extLst xmlns:a="http://schemas.openxmlformats.org/drawingml/2006/main">
              <a:ext uri="{FF2B5EF4-FFF2-40B4-BE49-F238E27FC236}">
                <a16:creationId xmlns:a16="http://schemas.microsoft.com/office/drawing/2014/main" id="{D4E10382-2EA1-4277-8C9D-21E93E055C6C}"/>
              </a:ext>
            </a:extLst>
          </p:cNvPr>
          <p:cNvSpPr>
            <a:spLocks xmlns:a="http://schemas.openxmlformats.org/drawingml/2006/main" noGrp="1"/>
          </p:cNvSpPr>
          <p:nvPr/>
        </p:nvSpPr>
        <p:spPr>
          <a:xfrm xmlns:a="http://schemas.openxmlformats.org/drawingml/2006/main" rot="0">
            <a:off x="1714500" y="600075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i="0">
                <a:solidFill>
                  <a:srgbClr val="66745F"/>
                </a:solidFill>
                <a:latin typeface="Aptos"/>
                <a:ea typeface="Aptos"/>
                <a:cs typeface="Aptos"/>
              </a:defRPr>
            </a:pPr>
            <a:r>
              <a:rPr sz="1575" b="1" i="0">
                <a:solidFill>
                  <a:srgbClr val="66745F"/>
                </a:solidFill>
                <a:latin typeface="Aptos"/>
                <a:ea typeface="Aptos"/>
                <a:cs typeface="Aptos"/>
              </a:rPr>
              <a:t>Phản hồi hiện có là rehearsal nội bộ; mỗi mục đều có hành động và người phụ trách.</a:t>
            </a:r>
          </a:p>
        </p:txBody>
      </p:sp>
    </p:spTree>
    <p:extLst>
      <p:ext uri="{BB962C8B-B14F-4D97-AF65-F5344CB8AC3E}">
        <p14:creationId xmlns:p14="http://schemas.microsoft.com/office/powerpoint/2010/main" val="172243765"/>
      </p:ext>
    </p:extLst>
  </p:cSld>
</p:sld>
</file>

<file path=ppt/slides/slide2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 name="kicker-21">
            <a:extLst xmlns:a="http://schemas.openxmlformats.org/drawingml/2006/main">
              <a:ext uri="{FF2B5EF4-FFF2-40B4-BE49-F238E27FC236}">
                <a16:creationId xmlns:a16="http://schemas.microsoft.com/office/drawing/2014/main" id="{EDFAEE89-A84C-4172-85CB-63EC7F951E8F}"/>
              </a:ext>
            </a:extLst>
          </p:cNvPr>
          <p:cNvSpPr>
            <a:spLocks xmlns:a="http://schemas.openxmlformats.org/drawingml/2006/main" noGrp="1"/>
          </p:cNvSpPr>
          <p:nvPr/>
        </p:nvSpPr>
        <p:spPr>
          <a:xfrm xmlns:a="http://schemas.openxmlformats.org/drawingml/2006/main" rot="0">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i="0">
                <a:solidFill>
                  <a:srgbClr val="C77761"/>
                </a:solidFill>
                <a:latin typeface="Aptos"/>
                <a:ea typeface="Aptos"/>
                <a:cs typeface="Aptos"/>
              </a:defRPr>
            </a:pPr>
            <a:r>
              <a:rPr sz="1050" b="1" i="0">
                <a:solidFill>
                  <a:srgbClr val="C77761"/>
                </a:solidFill>
                <a:latin typeface="Aptos"/>
                <a:ea typeface="Aptos"/>
                <a:cs typeface="Aptos"/>
              </a:rPr>
              <a:t>KẾT LUẬN</a:t>
            </a:r>
          </a:p>
        </p:txBody>
      </p:sp>
      <p:sp>
        <p:nvSpPr>
          <p:cNvPr id="2" name="title-21">
            <a:extLst xmlns:a="http://schemas.openxmlformats.org/drawingml/2006/main">
              <a:ext uri="{FF2B5EF4-FFF2-40B4-BE49-F238E27FC236}">
                <a16:creationId xmlns:a16="http://schemas.microsoft.com/office/drawing/2014/main" id="{36E0F4FC-7386-4C11-B783-96A4AD7D3FC4}"/>
              </a:ext>
            </a:extLst>
          </p:cNvPr>
          <p:cNvSpPr>
            <a:spLocks xmlns:a="http://schemas.openxmlformats.org/drawingml/2006/main" noGrp="1"/>
          </p:cNvSpPr>
          <p:nvPr/>
        </p:nvSpPr>
        <p:spPr>
          <a:xfrm xmlns:a="http://schemas.openxmlformats.org/drawingml/2006/main" rot="0">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i="0">
                <a:solidFill>
                  <a:srgbClr val="24332B"/>
                </a:solidFill>
                <a:latin typeface="Aptos"/>
                <a:ea typeface="Aptos"/>
                <a:cs typeface="Aptos"/>
              </a:defRPr>
            </a:pPr>
            <a:r>
              <a:rPr sz="3600" b="1" i="0">
                <a:solidFill>
                  <a:srgbClr val="24332B"/>
                </a:solidFill>
                <a:latin typeface="Aptos"/>
                <a:ea typeface="Aptos"/>
                <a:cs typeface="Aptos"/>
              </a:rPr>
              <a:t>Kết luận: tác vụ đúng, đúng thời điểm</a:t>
            </a:r>
          </a:p>
        </p:txBody>
      </p:sp>
      <p:sp>
        <p:nvSpPr>
          <p:cNvPr id="3" name="">
            <a:extLst xmlns:a="http://schemas.openxmlformats.org/drawingml/2006/main">
              <a:ext uri="{FF2B5EF4-FFF2-40B4-BE49-F238E27FC236}">
                <a16:creationId xmlns:a16="http://schemas.microsoft.com/office/drawing/2014/main" id="{BD02B802-21A5-4E46-BCB6-E0641147F3AC}"/>
              </a:ext>
            </a:extLst>
          </p:cNvPr>
          <p:cNvSpPr>
            <a:spLocks xmlns:a="http://schemas.openxmlformats.org/drawingml/2006/main" noGrp="1"/>
          </p:cNvSpPr>
          <p:nvPr/>
        </p:nvSpPr>
        <p:spPr>
          <a:xfrm xmlns:a="http://schemas.openxmlformats.org/drawingml/2006/main" rot="0">
            <a:off x="609600" y="1238250"/>
            <a:ext cx="800100" cy="28575"/>
          </a:xfrm>
          <a:prstGeom xmlns:a="http://schemas.openxmlformats.org/drawingml/2006/main" prst="rect">
            <a:avLst/>
          </a:prstGeom>
          <a:solidFill xmlns:a="http://schemas.openxmlformats.org/drawingml/2006/main">
            <a:srgbClr val="8C9A8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04CE21-AB5F-4665-B19D-36FA37D59BA7}"/>
              </a:ext>
            </a:extLst>
          </p:cNvPr>
          <p:cNvSpPr>
            <a:spLocks xmlns:a="http://schemas.openxmlformats.org/drawingml/2006/main" noGrp="1"/>
          </p:cNvSpPr>
          <p:nvPr/>
        </p:nvSpPr>
        <p:spPr>
          <a:xfrm xmlns:a="http://schemas.openxmlformats.org/drawingml/2006/main" rot="0">
            <a:off x="11277600" y="2857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1050" b="1" i="0">
                <a:solidFill>
                  <a:srgbClr val="8C9A84"/>
                </a:solidFill>
                <a:latin typeface="Aptos"/>
                <a:ea typeface="Aptos"/>
                <a:cs typeface="Aptos"/>
              </a:defRPr>
            </a:pPr>
            <a:r>
              <a:rPr sz="1050" b="1" i="0">
                <a:solidFill>
                  <a:srgbClr val="8C9A84"/>
                </a:solidFill>
                <a:latin typeface="Aptos"/>
                <a:ea typeface="Aptos"/>
                <a:cs typeface="Aptos"/>
              </a:rPr>
              <a:t>21</a:t>
            </a:r>
          </a:p>
        </p:txBody>
      </p:sp>
      <p:sp>
        <p:nvSpPr>
          <p:cNvPr id="5" name="">
            <a:extLst xmlns:a="http://schemas.openxmlformats.org/drawingml/2006/main">
              <a:ext uri="{FF2B5EF4-FFF2-40B4-BE49-F238E27FC236}">
                <a16:creationId xmlns:a16="http://schemas.microsoft.com/office/drawing/2014/main" id="{A5F62706-B706-4503-A601-3D999CAECEC0}"/>
              </a:ext>
            </a:extLst>
          </p:cNvPr>
          <p:cNvSpPr>
            <a:spLocks xmlns:a="http://schemas.openxmlformats.org/drawingml/2006/main" noGrp="1"/>
          </p:cNvSpPr>
          <p:nvPr/>
        </p:nvSpPr>
        <p:spPr>
          <a:xfrm xmlns:a="http://schemas.openxmlformats.org/drawingml/2006/main" rot="0">
            <a:off x="609600" y="6572250"/>
            <a:ext cx="3810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i="0">
                <a:solidFill>
                  <a:srgbClr val="8C9A84"/>
                </a:solidFill>
                <a:latin typeface="Aptos"/>
                <a:ea typeface="Aptos"/>
                <a:cs typeface="Aptos"/>
              </a:defRPr>
            </a:pPr>
            <a:r>
              <a:rPr sz="900" b="1" i="0">
                <a:solidFill>
                  <a:srgbClr val="8C9A84"/>
                </a:solidFill>
                <a:latin typeface="Aptos"/>
                <a:ea typeface="Aptos"/>
                <a:cs typeface="Aptos"/>
              </a:rPr>
              <a:t>HCI • PA1 • FIFA.com × Chess.com</a:t>
            </a:r>
          </a:p>
        </p:txBody>
      </p:sp>
      <p:sp>
        <p:nvSpPr>
          <p:cNvPr id="6" name="">
            <a:extLst xmlns:a="http://schemas.openxmlformats.org/drawingml/2006/main">
              <a:ext uri="{FF2B5EF4-FFF2-40B4-BE49-F238E27FC236}">
                <a16:creationId xmlns:a16="http://schemas.microsoft.com/office/drawing/2014/main" id="{283EA9A1-EEB1-4125-950F-1EADCE14F5B4}"/>
              </a:ext>
            </a:extLst>
          </p:cNvPr>
          <p:cNvSpPr>
            <a:spLocks xmlns:a="http://schemas.openxmlformats.org/drawingml/2006/main" noGrp="1"/>
          </p:cNvSpPr>
          <p:nvPr/>
        </p:nvSpPr>
        <p:spPr>
          <a:xfrm xmlns:a="http://schemas.openxmlformats.org/drawingml/2006/main" rot="0">
            <a:off x="10668000" y="6572250"/>
            <a:ext cx="914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00" b="0" i="0">
                <a:solidFill>
                  <a:srgbClr val="8C9A84"/>
                </a:solidFill>
                <a:latin typeface="Aptos"/>
                <a:ea typeface="Aptos"/>
                <a:cs typeface="Aptos"/>
              </a:defRPr>
            </a:pPr>
            <a:r>
              <a:rPr sz="900" b="0" i="0">
                <a:solidFill>
                  <a:srgbClr val="8C9A84"/>
                </a:solidFill>
                <a:latin typeface="Aptos"/>
                <a:ea typeface="Aptos"/>
                <a:cs typeface="Aptos"/>
              </a:rPr>
              <a:t>21 / 21</a:t>
            </a:r>
          </a:p>
        </p:txBody>
      </p:sp>
      <p:sp>
        <p:nvSpPr>
          <p:cNvPr id="7" name="">
            <a:extLst xmlns:a="http://schemas.openxmlformats.org/drawingml/2006/main">
              <a:ext uri="{FF2B5EF4-FFF2-40B4-BE49-F238E27FC236}">
                <a16:creationId xmlns:a16="http://schemas.microsoft.com/office/drawing/2014/main" id="{6EDE3176-4C59-4045-89C2-B0D93DCFC99F}"/>
              </a:ext>
            </a:extLst>
          </p:cNvPr>
          <p:cNvSpPr>
            <a:spLocks xmlns:a="http://schemas.openxmlformats.org/drawingml/2006/main" noGrp="1"/>
          </p:cNvSpPr>
          <p:nvPr/>
        </p:nvSpPr>
        <p:spPr>
          <a:xfrm xmlns:a="http://schemas.openxmlformats.org/drawingml/2006/main" rot="0">
            <a:off x="609600" y="1581150"/>
            <a:ext cx="5238750" cy="3429000"/>
          </a:xfrm>
          <a:prstGeom xmlns:a="http://schemas.openxmlformats.org/drawingml/2006/main" prst="roundRect">
            <a:avLst>
              <a:gd name="adj" fmla="val 6111"/>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c454c02b237457e"/>
          <a:stretch xmlns:a="http://schemas.openxmlformats.org/drawingml/2006/main"/>
        </p:blipFill>
        <p:spPr>
          <a:xfrm xmlns:a="http://schemas.openxmlformats.org/drawingml/2006/main">
            <a:off x="897255" y="1676400"/>
            <a:ext cx="4663440" cy="3238500"/>
          </a:xfrm>
          <a:prstGeom xmlns:a="http://schemas.openxmlformats.org/drawingml/2006/main" prst="roundRect">
            <a:avLst>
              <a:gd name="adj" fmla="val 4118"/>
            </a:avLst>
          </a:prstGeom>
        </p:spPr>
      </p:pic>
      <p:sp>
        <p:nvSpPr>
          <p:cNvPr id="9" name="">
            <a:extLst xmlns:a="http://schemas.openxmlformats.org/drawingml/2006/main">
              <a:ext uri="{FF2B5EF4-FFF2-40B4-BE49-F238E27FC236}">
                <a16:creationId xmlns:a16="http://schemas.microsoft.com/office/drawing/2014/main" id="{BD2A0192-D722-4404-99E6-F3AA7BB08EAA}"/>
              </a:ext>
            </a:extLst>
          </p:cNvPr>
          <p:cNvSpPr>
            <a:spLocks xmlns:a="http://schemas.openxmlformats.org/drawingml/2006/main" noGrp="1"/>
          </p:cNvSpPr>
          <p:nvPr/>
        </p:nvSpPr>
        <p:spPr>
          <a:xfrm xmlns:a="http://schemas.openxmlformats.org/drawingml/2006/main" rot="0">
            <a:off x="6343650" y="1581150"/>
            <a:ext cx="5238750" cy="3429000"/>
          </a:xfrm>
          <a:prstGeom xmlns:a="http://schemas.openxmlformats.org/drawingml/2006/main" prst="roundRect">
            <a:avLst>
              <a:gd name="adj" fmla="val 6111"/>
            </a:avLst>
          </a:prstGeom>
          <a:solidFill xmlns:a="http://schemas.openxmlformats.org/drawingml/2006/main">
            <a:srgbClr val="FFFFFF"/>
          </a:solidFill>
          <a:ln xmlns:a="http://schemas.openxmlformats.org/drawingml/2006/main" w="9525">
            <a:solidFill>
              <a:srgbClr val="D7D2C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da56eb06c0e4e82"/>
          <a:stretch xmlns:a="http://schemas.openxmlformats.org/drawingml/2006/main"/>
        </p:blipFill>
        <p:spPr>
          <a:xfrm xmlns:a="http://schemas.openxmlformats.org/drawingml/2006/main">
            <a:off x="8214793" y="1676400"/>
            <a:ext cx="1496463" cy="3238500"/>
          </a:xfrm>
          <a:prstGeom xmlns:a="http://schemas.openxmlformats.org/drawingml/2006/main" prst="roundRect">
            <a:avLst>
              <a:gd name="adj" fmla="val 4118"/>
            </a:avLst>
          </a:prstGeom>
        </p:spPr>
      </p:pic>
      <p:sp>
        <p:nvSpPr>
          <p:cNvPr id="11" name="">
            <a:extLst xmlns:a="http://schemas.openxmlformats.org/drawingml/2006/main">
              <a:ext uri="{FF2B5EF4-FFF2-40B4-BE49-F238E27FC236}">
                <a16:creationId xmlns:a16="http://schemas.microsoft.com/office/drawing/2014/main" id="{8CE2549F-5246-4348-BA70-F871F8DEC043}"/>
              </a:ext>
            </a:extLst>
          </p:cNvPr>
          <p:cNvSpPr>
            <a:spLocks xmlns:a="http://schemas.openxmlformats.org/drawingml/2006/main" noGrp="1"/>
          </p:cNvSpPr>
          <p:nvPr/>
        </p:nvSpPr>
        <p:spPr>
          <a:xfrm xmlns:a="http://schemas.openxmlformats.org/drawingml/2006/main" rot="0">
            <a:off x="609600" y="5219700"/>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i="0">
                <a:solidFill>
                  <a:srgbClr val="C77761"/>
                </a:solidFill>
                <a:latin typeface="Aptos"/>
                <a:ea typeface="Aptos"/>
                <a:cs typeface="Aptos"/>
              </a:defRPr>
            </a:pPr>
            <a:r>
              <a:rPr sz="1950" b="1" i="0">
                <a:solidFill>
                  <a:srgbClr val="C77761"/>
                </a:solidFill>
                <a:latin typeface="Aptos"/>
                <a:ea typeface="Aptos"/>
                <a:cs typeface="Aptos"/>
              </a:rPr>
              <a:t>FIFA.com</a:t>
            </a:r>
          </a:p>
        </p:txBody>
      </p:sp>
      <p:sp>
        <p:nvSpPr>
          <p:cNvPr id="12" name="">
            <a:extLst xmlns:a="http://schemas.openxmlformats.org/drawingml/2006/main">
              <a:ext uri="{FF2B5EF4-FFF2-40B4-BE49-F238E27FC236}">
                <a16:creationId xmlns:a16="http://schemas.microsoft.com/office/drawing/2014/main" id="{0097B10D-0F49-4F89-8F21-4E6C9A37A614}"/>
              </a:ext>
            </a:extLst>
          </p:cNvPr>
          <p:cNvSpPr>
            <a:spLocks xmlns:a="http://schemas.openxmlformats.org/drawingml/2006/main" noGrp="1"/>
          </p:cNvSpPr>
          <p:nvPr/>
        </p:nvSpPr>
        <p:spPr>
          <a:xfrm xmlns:a="http://schemas.openxmlformats.org/drawingml/2006/main" rot="0">
            <a:off x="914400" y="5619750"/>
            <a:ext cx="4629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i="0">
                <a:solidFill>
                  <a:srgbClr val="24332B"/>
                </a:solidFill>
                <a:latin typeface="Aptos"/>
                <a:ea typeface="Aptos"/>
                <a:cs typeface="Aptos"/>
              </a:defRPr>
            </a:pPr>
            <a:r>
              <a:rPr sz="1650" b="1" i="0">
                <a:solidFill>
                  <a:srgbClr val="24332B"/>
                </a:solidFill>
                <a:latin typeface="Aptos"/>
                <a:ea typeface="Aptos"/>
                <a:cs typeface="Aptos"/>
              </a:rPr>
              <a:t>Làm rõ đường đến thông tin chính thức và giữ tính liên tục.</a:t>
            </a:r>
          </a:p>
        </p:txBody>
      </p:sp>
      <p:sp>
        <p:nvSpPr>
          <p:cNvPr id="13" name="">
            <a:extLst xmlns:a="http://schemas.openxmlformats.org/drawingml/2006/main">
              <a:ext uri="{FF2B5EF4-FFF2-40B4-BE49-F238E27FC236}">
                <a16:creationId xmlns:a16="http://schemas.microsoft.com/office/drawing/2014/main" id="{46259964-1819-4DA8-AE3D-6455A57801F7}"/>
              </a:ext>
            </a:extLst>
          </p:cNvPr>
          <p:cNvSpPr>
            <a:spLocks xmlns:a="http://schemas.openxmlformats.org/drawingml/2006/main" noGrp="1"/>
          </p:cNvSpPr>
          <p:nvPr/>
        </p:nvSpPr>
        <p:spPr>
          <a:xfrm xmlns:a="http://schemas.openxmlformats.org/drawingml/2006/main" rot="0">
            <a:off x="6343650" y="5219700"/>
            <a:ext cx="523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i="0">
                <a:solidFill>
                  <a:srgbClr val="758B6A"/>
                </a:solidFill>
                <a:latin typeface="Aptos"/>
                <a:ea typeface="Aptos"/>
                <a:cs typeface="Aptos"/>
              </a:defRPr>
            </a:pPr>
            <a:r>
              <a:rPr sz="1950" b="1" i="0">
                <a:solidFill>
                  <a:srgbClr val="758B6A"/>
                </a:solidFill>
                <a:latin typeface="Aptos"/>
                <a:ea typeface="Aptos"/>
                <a:cs typeface="Aptos"/>
              </a:rPr>
              <a:t>Chess.com</a:t>
            </a:r>
          </a:p>
        </p:txBody>
      </p:sp>
      <p:sp>
        <p:nvSpPr>
          <p:cNvPr id="14" name="">
            <a:extLst xmlns:a="http://schemas.openxmlformats.org/drawingml/2006/main">
              <a:ext uri="{FF2B5EF4-FFF2-40B4-BE49-F238E27FC236}">
                <a16:creationId xmlns:a16="http://schemas.microsoft.com/office/drawing/2014/main" id="{CF980017-8ECF-4FFC-8F26-A5E55908215A}"/>
              </a:ext>
            </a:extLst>
          </p:cNvPr>
          <p:cNvSpPr>
            <a:spLocks xmlns:a="http://schemas.openxmlformats.org/drawingml/2006/main" noGrp="1"/>
          </p:cNvSpPr>
          <p:nvPr/>
        </p:nvSpPr>
        <p:spPr>
          <a:xfrm xmlns:a="http://schemas.openxmlformats.org/drawingml/2006/main" rot="0">
            <a:off x="6648450" y="5619750"/>
            <a:ext cx="4629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i="0">
                <a:solidFill>
                  <a:srgbClr val="24332B"/>
                </a:solidFill>
                <a:latin typeface="Aptos"/>
                <a:ea typeface="Aptos"/>
                <a:cs typeface="Aptos"/>
              </a:defRPr>
            </a:pPr>
            <a:r>
              <a:rPr sz="1650" b="1" i="0">
                <a:solidFill>
                  <a:srgbClr val="24332B"/>
                </a:solidFill>
                <a:latin typeface="Aptos"/>
                <a:ea typeface="Aptos"/>
                <a:cs typeface="Aptos"/>
              </a:rPr>
              <a:t>Giảm quá tải ban đầu, phòng lỗi và phản hồi theo trình độ.</a:t>
            </a:r>
          </a:p>
        </p:txBody>
      </p:sp>
    </p:spTree>
    <p:extLst>
      <p:ext uri="{BB962C8B-B14F-4D97-AF65-F5344CB8AC3E}">
        <p14:creationId xmlns:p14="http://schemas.microsoft.com/office/powerpoint/2010/main" val="19425249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2026-07-06T17:04:55.2670000Z</dcterms:created>
  <dcterms:modified xsi:type="dcterms:W3CDTF">2026-07-06T17:04:55.2670000Z</dcterms:modified>
</coreProperties>
</file>