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70f9759d3b445c" /><Relationship Type="http://schemas.openxmlformats.org/officeDocument/2006/relationships/extended-properties" Target="/docProps/app.xml" Id="Rc54a7ac843864458" /><Relationship Type="http://schemas.openxmlformats.org/officeDocument/2006/relationships/officeDocument" Target="/ppt/presentation.xml" Id="R7f674ee14d1749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dd39a2a24949ea"/>
  </p:sldMasterIdLst>
  <p:notesMasterIdLst>
    <p:notesMasterId xmlns:r="http://schemas.openxmlformats.org/officeDocument/2006/relationships" r:id="R9e350e0066d64ff6"/>
  </p:notesMasterIdLst>
  <p:sldIdLst>
    <p:sldId xmlns:r="http://schemas.openxmlformats.org/officeDocument/2006/relationships" id="256" r:id="R86a5e84ba03746a3"/>
    <p:sldId xmlns:r="http://schemas.openxmlformats.org/officeDocument/2006/relationships" id="257" r:id="R338351e74e4b4f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c9509cbd6c454c" /><Relationship Type="http://schemas.openxmlformats.org/officeDocument/2006/relationships/slideMaster" Target="/ppt/slideMasters/slideMaster1.xml" Id="R47dd39a2a24949ea" /><Relationship Type="http://schemas.openxmlformats.org/officeDocument/2006/relationships/notesMaster" Target="/ppt/notesMasters/notesMaster1.xml" Id="R9e350e0066d64ff6" /><Relationship Type="http://schemas.openxmlformats.org/officeDocument/2006/relationships/presProps" Target="/ppt/presProps.xml" Id="Rdba1c72a1b3f454f" /><Relationship Type="http://schemas.openxmlformats.org/officeDocument/2006/relationships/tableStyles" Target="/ppt/tableStyles.xml" Id="R98c868378f9d45d3" /><Relationship Type="http://schemas.openxmlformats.org/officeDocument/2006/relationships/slide" Target="/ppt/slides/slide1.xml" Id="R86a5e84ba03746a3" /><Relationship Type="http://schemas.openxmlformats.org/officeDocument/2006/relationships/slide" Target="/ppt/slides/slide2.xml" Id="R338351e74e4b4f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611450fa5a46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Grov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C8524A"/>
      </a:accent1>
      <a:accent2>
        <a:srgbClr val="397447"/>
      </a:accent2>
      <a:accent3>
        <a:srgbClr val="355D95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rov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352f1c3d5241d4" /><Relationship Type="http://schemas.openxmlformats.org/officeDocument/2006/relationships/notesMaster" Target="/ppt/notesMasters/notesMaster1.xml" Id="R6d43bae67ba744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c014bb6e1b4564" /><Relationship Type="http://schemas.openxmlformats.org/officeDocument/2006/relationships/notesMaster" Target="/ppt/notesMasters/notesMaster1.xml" Id="R9741b2cc28794b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70903883641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6dfc76577b4342" /><Relationship Type="http://schemas.openxmlformats.org/officeDocument/2006/relationships/slideLayout" Target="/ppt/slideLayouts/slideLayout1.xml" Id="R130d31f62c5740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0d31f62c5740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Grov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C8524A"/>
      </a:accent1>
      <a:accent2>
        <a:srgbClr val="397447"/>
      </a:accent2>
      <a:accent3>
        <a:srgbClr val="355D95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rov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4af54d8164a83" /><Relationship Type="http://schemas.openxmlformats.org/officeDocument/2006/relationships/notesSlide" Target="/ppt/notesSlides/notesSlide1.xml" Id="R214c30b3aa6b45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1c5f7df5a44ea" /><Relationship Type="http://schemas.openxmlformats.org/officeDocument/2006/relationships/notesSlide" Target="/ppt/notesSlides/notesSlide2.xml" Id="Rae9ccab4533840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4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bar">
            <a:extLst xmlns:a="http://schemas.openxmlformats.org/drawingml/2006/main">
              <a:ext uri="{FF2B5EF4-FFF2-40B4-BE49-F238E27FC236}">
                <a16:creationId xmlns:a16="http://schemas.microsoft.com/office/drawing/2014/main" id="{56DB2DCB-5359-45FD-97FD-5146CCDB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D18C022-22A5-45BD-852D-A20640DE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C8524A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C8524A"/>
                </a:solidFill>
                <a:latin typeface="Consolas"/>
                <a:ea typeface="Consolas"/>
                <a:cs typeface="Consolas"/>
              </a:rPr>
              <a:t>FIFA.COM · ALT 1 SELECTED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9219EB-4B7E-4E2A-A1F0-9B07D507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24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 i="0">
                <a:solidFill>
                  <a:srgbClr val="F5F1E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F5F1E5"/>
                </a:solidFill>
                <a:latin typeface="Georgia"/>
                <a:ea typeface="Georgia"/>
                <a:cs typeface="Georgia"/>
              </a:rPr>
              <a:t>Status Dashboard · Iteration 2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F82ACD6-FE8A-4511-B407-FA5B8849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 i="0">
                <a:solidFill>
                  <a:srgbClr val="F5F1E5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F5F1E5"/>
                </a:solidFill>
                <a:latin typeface="Consolas"/>
                <a:ea typeface="Consolas"/>
                <a:cs typeface="Consolas"/>
              </a:rPr>
              <a:t>F-IMP-01/02/03/04/08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67C0FEF-1350-45FD-850F-5E286523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34150"/>
            <a:ext cx="1150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8AA"/>
            </a:solidFill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AF62F906-713B-49DD-98D1-A70D113B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2940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 i="0">
                <a:solidFill>
                  <a:srgbClr val="69746A"/>
                </a:solidFill>
                <a:latin typeface="Consolas"/>
                <a:ea typeface="Consolas"/>
                <a:cs typeface="Consolas"/>
              </a:defRPr>
            </a:pPr>
            <a:r>
              <a:rPr sz="750" b="0" i="0">
                <a:solidFill>
                  <a:srgbClr val="69746A"/>
                </a:solidFill>
                <a:latin typeface="Consolas"/>
                <a:ea typeface="Consolas"/>
                <a:cs typeface="Consolas"/>
              </a:rPr>
              <a:t>Approved FIFA Alt 1 + R2 evidence · pending-state and handoff revisions are explicit.</a:t>
            </a:r>
          </a:p>
        </p:txBody>
      </p:sp>
      <p:sp>
        <p:nvSpPr>
          <p:cNvPr id="7" name="number">
            <a:extLst xmlns:a="http://schemas.openxmlformats.org/drawingml/2006/main">
              <a:ext uri="{FF2B5EF4-FFF2-40B4-BE49-F238E27FC236}">
                <a16:creationId xmlns:a16="http://schemas.microsoft.com/office/drawing/2014/main" id="{AF608C78-8170-4B95-8101-3D724EA3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035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69746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9746A"/>
                </a:solidFill>
                <a:latin typeface="Consolas"/>
                <a:ea typeface="Consolas"/>
                <a:cs typeface="Consolas"/>
              </a:rPr>
              <a:t>01 / 02</a:t>
            </a:r>
          </a:p>
        </p:txBody>
      </p:sp>
      <p:sp>
        <p:nvSpPr>
          <p:cNvPr id="8" name="fifa-main-surface">
            <a:extLst xmlns:a="http://schemas.openxmlformats.org/drawingml/2006/main">
              <a:ext uri="{FF2B5EF4-FFF2-40B4-BE49-F238E27FC236}">
                <a16:creationId xmlns:a16="http://schemas.microsoft.com/office/drawing/2014/main" id="{AD529357-C099-4D76-B3D2-5711DA2F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744855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5"/>
          </a:solidFill>
          <a:ln xmlns:a="http://schemas.openxmlformats.org/drawingml/2006/main" w="9525">
            <a:solidFill>
              <a:srgbClr val="BDB8AA"/>
            </a:solidFill>
            <a:prstDash val="solid"/>
          </a:ln>
        </p:spPr>
      </p:sp>
      <p:sp>
        <p:nvSpPr>
          <p:cNvPr id="9" name="fifa-main-accent">
            <a:extLst xmlns:a="http://schemas.openxmlformats.org/drawingml/2006/main">
              <a:ext uri="{FF2B5EF4-FFF2-40B4-BE49-F238E27FC236}">
                <a16:creationId xmlns:a16="http://schemas.microsoft.com/office/drawing/2014/main" id="{13FC4D4B-ABD5-43B0-B433-7EBE2034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47625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ifa-section">
            <a:extLst xmlns:a="http://schemas.openxmlformats.org/drawingml/2006/main">
              <a:ext uri="{FF2B5EF4-FFF2-40B4-BE49-F238E27FC236}">
                <a16:creationId xmlns:a16="http://schemas.microsoft.com/office/drawing/2014/main" id="{345A2B56-69AD-45ED-A55B-9C08E1EC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397447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397447"/>
                </a:solidFill>
                <a:latin typeface="Consolas"/>
                <a:ea typeface="Consolas"/>
                <a:cs typeface="Consolas"/>
              </a:rPr>
              <a:t>TICKET OVERVIEW</a:t>
            </a:r>
          </a:p>
        </p:txBody>
      </p:sp>
      <p:sp>
        <p:nvSpPr>
          <p:cNvPr id="11" name="fifa-heading">
            <a:extLst xmlns:a="http://schemas.openxmlformats.org/drawingml/2006/main">
              <a:ext uri="{FF2B5EF4-FFF2-40B4-BE49-F238E27FC236}">
                <a16:creationId xmlns:a16="http://schemas.microsoft.com/office/drawing/2014/main" id="{B3226978-AD1A-4AD6-94CF-BA351381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192B1B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92B1B"/>
                </a:solidFill>
                <a:latin typeface="Georgia"/>
                <a:ea typeface="Georgia"/>
                <a:cs typeface="Georgia"/>
              </a:rPr>
              <a:t>Your FIFA ticket</a:t>
            </a:r>
          </a:p>
        </p:txBody>
      </p:sp>
      <p:sp>
        <p:nvSpPr>
          <p:cNvPr id="12" name="fifa-meta">
            <a:extLst xmlns:a="http://schemas.openxmlformats.org/drawingml/2006/main">
              <a:ext uri="{FF2B5EF4-FFF2-40B4-BE49-F238E27FC236}">
                <a16:creationId xmlns:a16="http://schemas.microsoft.com/office/drawing/2014/main" id="{D4923BF9-29FF-46EA-BB4E-12522F2D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9746A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69746A"/>
                </a:solidFill>
                <a:latin typeface="Consolas"/>
                <a:ea typeface="Consolas"/>
                <a:cs typeface="Consolas"/>
              </a:rPr>
              <a:t>Official FIFA source · Last updated 2 min ago</a:t>
            </a:r>
          </a:p>
        </p:txBody>
      </p:sp>
      <p:sp>
        <p:nvSpPr>
          <p:cNvPr id="13" name="status-surface">
            <a:extLst xmlns:a="http://schemas.openxmlformats.org/drawingml/2006/main">
              <a:ext uri="{FF2B5EF4-FFF2-40B4-BE49-F238E27FC236}">
                <a16:creationId xmlns:a16="http://schemas.microsoft.com/office/drawing/2014/main" id="{D8EBB583-94A6-4565-97BA-5EB7D3A6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7029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7"/>
          </a:solidFill>
          <a:ln xmlns:a="http://schemas.openxmlformats.org/drawingml/2006/main" w="9525">
            <a:solidFill>
              <a:srgbClr val="BDB8AA"/>
            </a:solidFill>
            <a:prstDash val="solid"/>
          </a:ln>
        </p:spPr>
      </p:sp>
      <p:sp>
        <p:nvSpPr>
          <p:cNvPr id="14" name="status-accent">
            <a:extLst xmlns:a="http://schemas.openxmlformats.org/drawingml/2006/main">
              <a:ext uri="{FF2B5EF4-FFF2-40B4-BE49-F238E27FC236}">
                <a16:creationId xmlns:a16="http://schemas.microsoft.com/office/drawing/2014/main" id="{FFA4FEFD-FAA0-4882-9A81-B43BE154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tus-label">
            <a:extLst xmlns:a="http://schemas.openxmlformats.org/drawingml/2006/main">
              <a:ext uri="{FF2B5EF4-FFF2-40B4-BE49-F238E27FC236}">
                <a16:creationId xmlns:a16="http://schemas.microsoft.com/office/drawing/2014/main" id="{9353F1A7-1A5F-43DB-9DCA-5FE40276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397447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397447"/>
                </a:solidFill>
                <a:latin typeface="Consolas"/>
                <a:ea typeface="Consolas"/>
                <a:cs typeface="Consolas"/>
              </a:rPr>
              <a:t>CURRENT STATUS</a:t>
            </a:r>
          </a:p>
        </p:txBody>
      </p:sp>
      <p:sp>
        <p:nvSpPr>
          <p:cNvPr id="16" name="status-value">
            <a:extLst xmlns:a="http://schemas.openxmlformats.org/drawingml/2006/main">
              <a:ext uri="{FF2B5EF4-FFF2-40B4-BE49-F238E27FC236}">
                <a16:creationId xmlns:a16="http://schemas.microsoft.com/office/drawing/2014/main" id="{390EBF65-A4D8-4D6A-93CD-1186DAE0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192B1B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92B1B"/>
                </a:solidFill>
                <a:latin typeface="Georgia"/>
                <a:ea typeface="Georgia"/>
                <a:cs typeface="Georgia"/>
              </a:rPr>
              <a:t>Pending</a:t>
            </a:r>
          </a:p>
        </p:txBody>
      </p:sp>
      <p:sp>
        <p:nvSpPr>
          <p:cNvPr id="17" name="status-explain">
            <a:extLst xmlns:a="http://schemas.openxmlformats.org/drawingml/2006/main">
              <a:ext uri="{FF2B5EF4-FFF2-40B4-BE49-F238E27FC236}">
                <a16:creationId xmlns:a16="http://schemas.microsoft.com/office/drawing/2014/main" id="{5B7002CB-59EA-4C62-9F90-A232E0D5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526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192B1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92B1B"/>
                </a:solidFill>
                <a:latin typeface="Arial"/>
                <a:ea typeface="Arial"/>
                <a:cs typeface="Arial"/>
              </a:rPr>
              <a:t>Awaiting FIFA confirmation</a:t>
            </a:r>
          </a:p>
        </p:txBody>
      </p:sp>
      <p:sp>
        <p:nvSpPr>
          <p:cNvPr id="18" name="status-owner">
            <a:extLst xmlns:a="http://schemas.openxmlformats.org/drawingml/2006/main">
              <a:ext uri="{FF2B5EF4-FFF2-40B4-BE49-F238E27FC236}">
                <a16:creationId xmlns:a16="http://schemas.microsoft.com/office/drawing/2014/main" id="{8826E20B-D541-4C17-AB59-65F1DB2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00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974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9746A"/>
                </a:solidFill>
                <a:latin typeface="Arial"/>
                <a:ea typeface="Arial"/>
                <a:cs typeface="Arial"/>
              </a:rPr>
              <a:t>Owner: FIFA · Expected timing: next confirmation update</a:t>
            </a:r>
          </a:p>
        </p:txBody>
      </p:sp>
      <p:sp>
        <p:nvSpPr>
          <p:cNvPr id="19" name="next-surface">
            <a:extLst xmlns:a="http://schemas.openxmlformats.org/drawingml/2006/main">
              <a:ext uri="{FF2B5EF4-FFF2-40B4-BE49-F238E27FC236}">
                <a16:creationId xmlns:a16="http://schemas.microsoft.com/office/drawing/2014/main" id="{8209FF4C-195F-46AF-B7A1-58E7CC38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7029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9525">
            <a:solidFill>
              <a:srgbClr val="BDB8AA"/>
            </a:solidFill>
            <a:prstDash val="solid"/>
          </a:ln>
        </p:spPr>
      </p:sp>
      <p:sp>
        <p:nvSpPr>
          <p:cNvPr id="20" name="next-accent">
            <a:extLst xmlns:a="http://schemas.openxmlformats.org/drawingml/2006/main">
              <a:ext uri="{FF2B5EF4-FFF2-40B4-BE49-F238E27FC236}">
                <a16:creationId xmlns:a16="http://schemas.microsoft.com/office/drawing/2014/main" id="{2C8459DE-AE47-45A4-918D-1C8E14A4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ext-label">
            <a:extLst xmlns:a="http://schemas.openxmlformats.org/drawingml/2006/main">
              <a:ext uri="{FF2B5EF4-FFF2-40B4-BE49-F238E27FC236}">
                <a16:creationId xmlns:a16="http://schemas.microsoft.com/office/drawing/2014/main" id="{885B38A5-DBAA-429A-BB62-CC2485C9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C8524A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C8524A"/>
                </a:solidFill>
                <a:latin typeface="Consolas"/>
                <a:ea typeface="Consolas"/>
                <a:cs typeface="Consolas"/>
              </a:rPr>
              <a:t>WHAT HAPPENS NEXT</a:t>
            </a:r>
          </a:p>
        </p:txBody>
      </p:sp>
      <p:sp>
        <p:nvSpPr>
          <p:cNvPr id="22" name="next-copy">
            <a:extLst xmlns:a="http://schemas.openxmlformats.org/drawingml/2006/main">
              <a:ext uri="{FF2B5EF4-FFF2-40B4-BE49-F238E27FC236}">
                <a16:creationId xmlns:a16="http://schemas.microsoft.com/office/drawing/2014/main" id="{B1355455-A200-47F4-8280-620F3ADF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92B1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92B1B"/>
                </a:solidFill>
                <a:latin typeface="Arial"/>
                <a:ea typeface="Arial"/>
                <a:cs typeface="Arial"/>
              </a:rPr>
              <a:t>FIFA confirms the allocation. No action is required from you right now.</a:t>
            </a:r>
          </a:p>
        </p:txBody>
      </p:sp>
      <p:sp>
        <p:nvSpPr>
          <p:cNvPr id="23" name="next-why">
            <a:extLst xmlns:a="http://schemas.openxmlformats.org/drawingml/2006/main">
              <a:ext uri="{FF2B5EF4-FFF2-40B4-BE49-F238E27FC236}">
                <a16:creationId xmlns:a16="http://schemas.microsoft.com/office/drawing/2014/main" id="{2551393B-424D-438F-8BD7-E9313B93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974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9746A"/>
                </a:solidFill>
                <a:latin typeface="Arial"/>
                <a:ea typeface="Arial"/>
                <a:cs typeface="Arial"/>
              </a:rPr>
              <a:t>The state explains both the wait and the owner of the next step.</a:t>
            </a:r>
          </a:p>
        </p:txBody>
      </p:sp>
      <p:sp>
        <p:nvSpPr>
          <p:cNvPr id="24" name="actions-label">
            <a:extLst xmlns:a="http://schemas.openxmlformats.org/drawingml/2006/main">
              <a:ext uri="{FF2B5EF4-FFF2-40B4-BE49-F238E27FC236}">
                <a16:creationId xmlns:a16="http://schemas.microsoft.com/office/drawing/2014/main" id="{6513DEAC-046C-4143-AA17-919D6FB7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397447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397447"/>
                </a:solidFill>
                <a:latin typeface="Consolas"/>
                <a:ea typeface="Consolas"/>
                <a:cs typeface="Consolas"/>
              </a:rPr>
              <a:t>COMMON ACTIONS</a:t>
            </a:r>
          </a:p>
        </p:txBody>
      </p:sp>
      <p:sp>
        <p:nvSpPr>
          <p:cNvPr id="25" name="view-order-surface">
            <a:extLst xmlns:a="http://schemas.openxmlformats.org/drawingml/2006/main">
              <a:ext uri="{FF2B5EF4-FFF2-40B4-BE49-F238E27FC236}">
                <a16:creationId xmlns:a16="http://schemas.microsoft.com/office/drawing/2014/main" id="{9B980420-6558-41E2-BBFA-FD33308C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1676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2B1B"/>
          </a:solidFill>
          <a:ln xmlns:a="http://schemas.openxmlformats.org/drawingml/2006/main" w="9525">
            <a:solidFill>
              <a:srgbClr val="192B1B"/>
            </a:solidFill>
            <a:prstDash val="solid"/>
          </a:ln>
        </p:spPr>
      </p:sp>
      <p:sp>
        <p:nvSpPr>
          <p:cNvPr id="26" name="view-order-label">
            <a:extLst xmlns:a="http://schemas.openxmlformats.org/drawingml/2006/main">
              <a:ext uri="{FF2B5EF4-FFF2-40B4-BE49-F238E27FC236}">
                <a16:creationId xmlns:a16="http://schemas.microsoft.com/office/drawing/2014/main" id="{1805F759-5A51-426D-89E6-74A4480F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625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 i="0">
                <a:solidFill>
                  <a:srgbClr val="F5F1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5F1E5"/>
                </a:solidFill>
                <a:latin typeface="Arial"/>
                <a:ea typeface="Arial"/>
                <a:cs typeface="Arial"/>
              </a:rPr>
              <a:t>View Order</a:t>
            </a:r>
          </a:p>
        </p:txBody>
      </p:sp>
      <p:sp>
        <p:nvSpPr>
          <p:cNvPr id="27" name="view-tickets-surface">
            <a:extLst xmlns:a="http://schemas.openxmlformats.org/drawingml/2006/main">
              <a:ext uri="{FF2B5EF4-FFF2-40B4-BE49-F238E27FC236}">
                <a16:creationId xmlns:a16="http://schemas.microsoft.com/office/drawing/2014/main" id="{3A8444B9-58E6-4831-8CA8-8080257F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76800"/>
            <a:ext cx="1676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55D95"/>
          </a:solidFill>
          <a:ln xmlns:a="http://schemas.openxmlformats.org/drawingml/2006/main" w="9525">
            <a:solidFill>
              <a:srgbClr val="355D95"/>
            </a:solidFill>
            <a:prstDash val="solid"/>
          </a:ln>
        </p:spPr>
      </p:sp>
      <p:sp>
        <p:nvSpPr>
          <p:cNvPr id="28" name="view-tickets-label">
            <a:extLst xmlns:a="http://schemas.openxmlformats.org/drawingml/2006/main">
              <a:ext uri="{FF2B5EF4-FFF2-40B4-BE49-F238E27FC236}">
                <a16:creationId xmlns:a16="http://schemas.microsoft.com/office/drawing/2014/main" id="{A9BBA09C-485E-42C1-9468-953D7C36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625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 i="0">
                <a:solidFill>
                  <a:srgbClr val="F5F1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5F1E5"/>
                </a:solidFill>
                <a:latin typeface="Arial"/>
                <a:ea typeface="Arial"/>
                <a:cs typeface="Arial"/>
              </a:rPr>
              <a:t>View Tickets</a:t>
            </a:r>
          </a:p>
        </p:txBody>
      </p:sp>
      <p:sp>
        <p:nvSpPr>
          <p:cNvPr id="29" name="action-hint">
            <a:extLst xmlns:a="http://schemas.openxmlformats.org/drawingml/2006/main">
              <a:ext uri="{FF2B5EF4-FFF2-40B4-BE49-F238E27FC236}">
                <a16:creationId xmlns:a16="http://schemas.microsoft.com/office/drawing/2014/main" id="{871CE7C3-4D5C-4242-B3C6-88342580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815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9746A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69746A"/>
                </a:solidFill>
                <a:latin typeface="Consolas"/>
                <a:ea typeface="Consolas"/>
                <a:cs typeface="Consolas"/>
              </a:rPr>
              <a:t>Order status · ticket details</a:t>
            </a:r>
          </a:p>
        </p:txBody>
      </p:sp>
      <p:sp>
        <p:nvSpPr>
          <p:cNvPr id="30" name="fifa-footnote">
            <a:extLst xmlns:a="http://schemas.openxmlformats.org/drawingml/2006/main">
              <a:ext uri="{FF2B5EF4-FFF2-40B4-BE49-F238E27FC236}">
                <a16:creationId xmlns:a16="http://schemas.microsoft.com/office/drawing/2014/main" id="{EE294381-542D-42C9-BA68-B582B485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435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397447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97447"/>
                </a:solidFill>
                <a:latin typeface="Consolas"/>
                <a:ea typeface="Consolas"/>
                <a:cs typeface="Consolas"/>
              </a:rPr>
              <a:t>Status first · action second · source remains visible</a:t>
            </a:r>
          </a:p>
        </p:txBody>
      </p:sp>
      <p:sp>
        <p:nvSpPr>
          <p:cNvPr id="31" name="guardrail-surface">
            <a:extLst xmlns:a="http://schemas.openxmlformats.org/drawingml/2006/main">
              <a:ext uri="{FF2B5EF4-FFF2-40B4-BE49-F238E27FC236}">
                <a16:creationId xmlns:a16="http://schemas.microsoft.com/office/drawing/2014/main" id="{0D3BE25C-FE8D-4460-BD67-24BF6DE8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90600"/>
            <a:ext cx="36957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9525">
            <a:solidFill>
              <a:srgbClr val="BDB8AA"/>
            </a:solidFill>
            <a:prstDash val="solid"/>
          </a:ln>
        </p:spPr>
      </p:sp>
      <p:sp>
        <p:nvSpPr>
          <p:cNvPr id="32" name="guardrail-accent">
            <a:extLst xmlns:a="http://schemas.openxmlformats.org/drawingml/2006/main">
              <a:ext uri="{FF2B5EF4-FFF2-40B4-BE49-F238E27FC236}">
                <a16:creationId xmlns:a16="http://schemas.microsoft.com/office/drawing/2014/main" id="{25D245C2-9A4B-4432-8930-89AF6E01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90600"/>
            <a:ext cx="47625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uardrail-label">
            <a:extLst xmlns:a="http://schemas.openxmlformats.org/drawingml/2006/main">
              <a:ext uri="{FF2B5EF4-FFF2-40B4-BE49-F238E27FC236}">
                <a16:creationId xmlns:a16="http://schemas.microsoft.com/office/drawing/2014/main" id="{BF9D3D07-715D-4C62-89C8-6D61120B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00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A8642A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A8642A"/>
                </a:solidFill>
                <a:latin typeface="Consolas"/>
                <a:ea typeface="Consolas"/>
                <a:cs typeface="Consolas"/>
              </a:rPr>
              <a:t>HANDOFF GUARDRAIL</a:t>
            </a:r>
          </a:p>
        </p:txBody>
      </p:sp>
      <p:sp>
        <p:nvSpPr>
          <p:cNvPr id="34" name="guardrail-title">
            <a:extLst xmlns:a="http://schemas.openxmlformats.org/drawingml/2006/main">
              <a:ext uri="{FF2B5EF4-FFF2-40B4-BE49-F238E27FC236}">
                <a16:creationId xmlns:a16="http://schemas.microsoft.com/office/drawing/2014/main" id="{7BE65BB6-5790-4930-A2A5-FF87E356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9542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192B1B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92B1B"/>
                </a:solidFill>
                <a:latin typeface="Georgia"/>
                <a:ea typeface="Georgia"/>
                <a:cs typeface="Georgia"/>
              </a:rPr>
              <a:t>Before you leave FIFA.com</a:t>
            </a:r>
          </a:p>
        </p:txBody>
      </p:sp>
      <p:sp>
        <p:nvSpPr>
          <p:cNvPr id="35" name="guardrail-copy">
            <a:extLst xmlns:a="http://schemas.openxmlformats.org/drawingml/2006/main">
              <a:ext uri="{FF2B5EF4-FFF2-40B4-BE49-F238E27FC236}">
                <a16:creationId xmlns:a16="http://schemas.microsoft.com/office/drawing/2014/main" id="{044616F7-406C-4A98-9281-2BAFD5C5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192B1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92B1B"/>
                </a:solidFill>
                <a:latin typeface="Arial"/>
                <a:ea typeface="Arial"/>
                <a:cs typeface="Arial"/>
              </a:rPr>
              <a:t>Partner destination shown before Continue.</a:t>
            </a:r>
          </a:p>
        </p:txBody>
      </p:sp>
      <p:sp>
        <p:nvSpPr>
          <p:cNvPr id="36" name="partner-banner">
            <a:extLst xmlns:a="http://schemas.openxmlformats.org/drawingml/2006/main">
              <a:ext uri="{FF2B5EF4-FFF2-40B4-BE49-F238E27FC236}">
                <a16:creationId xmlns:a16="http://schemas.microsoft.com/office/drawing/2014/main" id="{110E7218-FD23-4D28-BAE8-C702B620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304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D8D3"/>
          </a:solidFill>
          <a:ln xmlns:a="http://schemas.openxmlformats.org/drawingml/2006/main" w="9525">
            <a:solidFill>
              <a:srgbClr val="C8524A"/>
            </a:solidFill>
            <a:prstDash val="solid"/>
          </a:ln>
        </p:spPr>
      </p:sp>
      <p:sp>
        <p:nvSpPr>
          <p:cNvPr id="37" name="partner-label">
            <a:extLst xmlns:a="http://schemas.openxmlformats.org/drawingml/2006/main">
              <a:ext uri="{FF2B5EF4-FFF2-40B4-BE49-F238E27FC236}">
                <a16:creationId xmlns:a16="http://schemas.microsoft.com/office/drawing/2014/main" id="{DAC35902-DE43-4794-AD49-14BD266D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C8524A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C8524A"/>
                </a:solidFill>
                <a:latin typeface="Consolas"/>
                <a:ea typeface="Consolas"/>
                <a:cs typeface="Consolas"/>
              </a:rPr>
              <a:t>EXTERNAL PARTNER</a:t>
            </a:r>
          </a:p>
        </p:txBody>
      </p:sp>
      <p:sp>
        <p:nvSpPr>
          <p:cNvPr id="38" name="partner-copy">
            <a:extLst xmlns:a="http://schemas.openxmlformats.org/drawingml/2006/main">
              <a:ext uri="{FF2B5EF4-FFF2-40B4-BE49-F238E27FC236}">
                <a16:creationId xmlns:a16="http://schemas.microsoft.com/office/drawing/2014/main" id="{E3C6F317-BE1C-4990-97DF-4597D56F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192B1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92B1B"/>
                </a:solidFill>
                <a:latin typeface="Arial"/>
                <a:ea typeface="Arial"/>
                <a:cs typeface="Arial"/>
              </a:rPr>
              <a:t>You will continue to a FIFA partner destination.</a:t>
            </a:r>
          </a:p>
        </p:txBody>
      </p:sp>
      <p:sp>
        <p:nvSpPr>
          <p:cNvPr id="39" name="guardrail-line">
            <a:extLst xmlns:a="http://schemas.openxmlformats.org/drawingml/2006/main">
              <a:ext uri="{FF2B5EF4-FFF2-40B4-BE49-F238E27FC236}">
                <a16:creationId xmlns:a16="http://schemas.microsoft.com/office/drawing/2014/main" id="{985AD1D5-8382-4548-9488-93753CB8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8AA"/>
            </a:solidFill>
            <a:prstDash val="solid"/>
          </a:ln>
        </p:spPr>
      </p:sp>
      <p:sp>
        <p:nvSpPr>
          <p:cNvPr id="40" name="revision-trace">
            <a:extLst xmlns:a="http://schemas.openxmlformats.org/drawingml/2006/main">
              <a:ext uri="{FF2B5EF4-FFF2-40B4-BE49-F238E27FC236}">
                <a16:creationId xmlns:a16="http://schemas.microsoft.com/office/drawing/2014/main" id="{067CA6F0-CF4A-48FE-93A8-3F835491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397447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397447"/>
                </a:solidFill>
                <a:latin typeface="Consolas"/>
                <a:ea typeface="Consolas"/>
                <a:cs typeface="Consolas"/>
              </a:rPr>
              <a:t>REVISION TRACE</a:t>
            </a:r>
          </a:p>
        </p:txBody>
      </p:sp>
      <p:sp>
        <p:nvSpPr>
          <p:cNvPr id="41" name="revision-copy">
            <a:extLst xmlns:a="http://schemas.openxmlformats.org/drawingml/2006/main">
              <a:ext uri="{FF2B5EF4-FFF2-40B4-BE49-F238E27FC236}">
                <a16:creationId xmlns:a16="http://schemas.microsoft.com/office/drawing/2014/main" id="{098B47AA-C36A-45BF-BA4F-DF7B6712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rPr>
              <a:t>F-IMP-01 · define Pending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rPr>
              <a:t>F-IMP-02 · show owner + resolution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rPr>
              <a:t>F-IMP-03 · place actions beside status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rPr>
              <a:t>F-IMP-04 · preview partner boundary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rPr>
              <a:t>F-IMP-08 · preserve source/freshness cue</a:t>
            </a:r>
          </a:p>
        </p:txBody>
      </p:sp>
      <p:sp>
        <p:nvSpPr>
          <p:cNvPr id="42" name="guardrail-note">
            <a:extLst xmlns:a="http://schemas.openxmlformats.org/drawingml/2006/main">
              <a:ext uri="{FF2B5EF4-FFF2-40B4-BE49-F238E27FC236}">
                <a16:creationId xmlns:a16="http://schemas.microsoft.com/office/drawing/2014/main" id="{5A5A2BFC-987D-438F-B29E-98FCF164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810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1">
                <a:solidFill>
                  <a:srgbClr val="69746A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69746A"/>
                </a:solidFill>
                <a:latin typeface="Arial"/>
                <a:ea typeface="Arial"/>
                <a:cs typeface="Arial"/>
              </a:rPr>
              <a:t>Designed from FIFA Alt 1 strengths and recurring R2 handoff risks.</a:t>
            </a:r>
          </a:p>
        </p:txBody>
      </p:sp>
    </p:spTree>
    <p:extLst>
      <p:ext uri="{BB962C8B-B14F-4D97-AF65-F5344CB8AC3E}">
        <p14:creationId xmlns:p14="http://schemas.microsoft.com/office/powerpoint/2010/main" val="200569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E4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opbar">
            <a:extLst xmlns:a="http://schemas.openxmlformats.org/drawingml/2006/main">
              <a:ext uri="{FF2B5EF4-FFF2-40B4-BE49-F238E27FC236}">
                <a16:creationId xmlns:a16="http://schemas.microsoft.com/office/drawing/2014/main" id="{F4DAFEB5-5C88-4566-9577-124414BE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8B94907-3509-4B78-A0C7-7A1F9F70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C8524A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C8524A"/>
                </a:solidFill>
                <a:latin typeface="Consolas"/>
                <a:ea typeface="Consolas"/>
                <a:cs typeface="Consolas"/>
              </a:rPr>
              <a:t>CHESS.COM · ALT 1 SELECTED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A70B61-B6C9-46C6-BC96-4B4D06CE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24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 i="0">
                <a:solidFill>
                  <a:srgbClr val="F5F1E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F5F1E5"/>
                </a:solidFill>
                <a:latin typeface="Georgia"/>
                <a:ea typeface="Georgia"/>
                <a:cs typeface="Georgia"/>
              </a:rPr>
              <a:t>Beginner Review Flow · Iteration 2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166E3DD-3DF1-497F-895A-A7035A83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 i="0">
                <a:solidFill>
                  <a:srgbClr val="F5F1E5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F5F1E5"/>
                </a:solidFill>
                <a:latin typeface="Consolas"/>
                <a:ea typeface="Consolas"/>
                <a:cs typeface="Consolas"/>
              </a:rPr>
              <a:t>C-IMP-01/02/03/04/08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E6F9EB-FBD0-40FE-A9E0-A6DD22D0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34150"/>
            <a:ext cx="1150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8AA"/>
            </a:solidFill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8FBC19A3-ACBC-47ED-8E6D-3D36EF98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2940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 i="0">
                <a:solidFill>
                  <a:srgbClr val="69746A"/>
                </a:solidFill>
                <a:latin typeface="Consolas"/>
                <a:ea typeface="Consolas"/>
                <a:cs typeface="Consolas"/>
              </a:defRPr>
            </a:pPr>
            <a:r>
              <a:rPr sz="750" b="0" i="0">
                <a:solidFill>
                  <a:srgbClr val="69746A"/>
                </a:solidFill>
                <a:latin typeface="Consolas"/>
                <a:ea typeface="Consolas"/>
                <a:cs typeface="Consolas"/>
              </a:rPr>
              <a:t>Approved Chess Alt 1 + R2 evidence · plain-language cause and practice recovery are explicit.</a:t>
            </a:r>
          </a:p>
        </p:txBody>
      </p:sp>
      <p:sp>
        <p:nvSpPr>
          <p:cNvPr id="7" name="number">
            <a:extLst xmlns:a="http://schemas.openxmlformats.org/drawingml/2006/main">
              <a:ext uri="{FF2B5EF4-FFF2-40B4-BE49-F238E27FC236}">
                <a16:creationId xmlns:a16="http://schemas.microsoft.com/office/drawing/2014/main" id="{D4C9B975-AFC0-4DEA-8543-FB48B68B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035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69746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9746A"/>
                </a:solidFill>
                <a:latin typeface="Consolas"/>
                <a:ea typeface="Consolas"/>
                <a:cs typeface="Consolas"/>
              </a:rPr>
              <a:t>02 / 02</a:t>
            </a:r>
          </a:p>
        </p:txBody>
      </p:sp>
      <p:sp>
        <p:nvSpPr>
          <p:cNvPr id="8" name="review-main-surface">
            <a:extLst xmlns:a="http://schemas.openxmlformats.org/drawingml/2006/main">
              <a:ext uri="{FF2B5EF4-FFF2-40B4-BE49-F238E27FC236}">
                <a16:creationId xmlns:a16="http://schemas.microsoft.com/office/drawing/2014/main" id="{39A3B95C-A178-4FB0-89BE-3C4C77E2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744855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5"/>
          </a:solidFill>
          <a:ln xmlns:a="http://schemas.openxmlformats.org/drawingml/2006/main" w="9525">
            <a:solidFill>
              <a:srgbClr val="BDB8AA"/>
            </a:solidFill>
            <a:prstDash val="solid"/>
          </a:ln>
        </p:spPr>
      </p:sp>
      <p:sp>
        <p:nvSpPr>
          <p:cNvPr id="9" name="review-main-accent">
            <a:extLst xmlns:a="http://schemas.openxmlformats.org/drawingml/2006/main">
              <a:ext uri="{FF2B5EF4-FFF2-40B4-BE49-F238E27FC236}">
                <a16:creationId xmlns:a16="http://schemas.microsoft.com/office/drawing/2014/main" id="{4DD37C40-5E66-42EE-B4C3-4178862D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47625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view-label">
            <a:extLst xmlns:a="http://schemas.openxmlformats.org/drawingml/2006/main">
              <a:ext uri="{FF2B5EF4-FFF2-40B4-BE49-F238E27FC236}">
                <a16:creationId xmlns:a16="http://schemas.microsoft.com/office/drawing/2014/main" id="{BAD24F07-7D7C-4852-A34A-702E3B49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355D9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355D95"/>
                </a:solidFill>
                <a:latin typeface="Consolas"/>
                <a:ea typeface="Consolas"/>
                <a:cs typeface="Consolas"/>
              </a:rPr>
              <a:t>BEGINNER REVIEW</a:t>
            </a:r>
          </a:p>
        </p:txBody>
      </p:sp>
      <p:sp>
        <p:nvSpPr>
          <p:cNvPr id="11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0B992913-3E17-496A-B6DA-15EF8A47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192B1B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92B1B"/>
                </a:solidFill>
                <a:latin typeface="Georgia"/>
                <a:ea typeface="Georgia"/>
                <a:cs typeface="Georgia"/>
              </a:rPr>
              <a:t>Start Beginner Review</a:t>
            </a:r>
          </a:p>
        </p:txBody>
      </p:sp>
      <p:sp>
        <p:nvSpPr>
          <p:cNvPr id="12" name="review-progress">
            <a:extLst xmlns:a="http://schemas.openxmlformats.org/drawingml/2006/main">
              <a:ext uri="{FF2B5EF4-FFF2-40B4-BE49-F238E27FC236}">
                <a16:creationId xmlns:a16="http://schemas.microsoft.com/office/drawing/2014/main" id="{070CBB0C-C901-4F14-A9D9-1E3E10EF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9746A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69746A"/>
                </a:solidFill>
                <a:latin typeface="Consolas"/>
                <a:ea typeface="Consolas"/>
                <a:cs typeface="Consolas"/>
              </a:rPr>
              <a:t>Review step 1 of 3 · Game move 23</a:t>
            </a:r>
          </a:p>
        </p:txBody>
      </p:sp>
      <p:sp>
        <p:nvSpPr>
          <p:cNvPr id="13" name="progress-rule">
            <a:extLst xmlns:a="http://schemas.openxmlformats.org/drawingml/2006/main">
              <a:ext uri="{FF2B5EF4-FFF2-40B4-BE49-F238E27FC236}">
                <a16:creationId xmlns:a16="http://schemas.microsoft.com/office/drawing/2014/main" id="{DB7A31D4-0C8D-4E28-9319-F56269A2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DB8AA"/>
            </a:solidFill>
            <a:prstDash val="solid"/>
          </a:ln>
        </p:spPr>
      </p:sp>
      <p:sp>
        <p:nvSpPr>
          <p:cNvPr id="14" name="progress-fill">
            <a:extLst xmlns:a="http://schemas.openxmlformats.org/drawingml/2006/main">
              <a:ext uri="{FF2B5EF4-FFF2-40B4-BE49-F238E27FC236}">
                <a16:creationId xmlns:a16="http://schemas.microsoft.com/office/drawing/2014/main" id="{A12F87A2-3A1D-407E-B640-9B0E8741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istake-surface">
            <a:extLst xmlns:a="http://schemas.openxmlformats.org/drawingml/2006/main">
              <a:ext uri="{FF2B5EF4-FFF2-40B4-BE49-F238E27FC236}">
                <a16:creationId xmlns:a16="http://schemas.microsoft.com/office/drawing/2014/main" id="{573F1431-2A8E-4B21-8B47-0C148445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7029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8D3"/>
          </a:solidFill>
          <a:ln xmlns:a="http://schemas.openxmlformats.org/drawingml/2006/main" w="9525">
            <a:solidFill>
              <a:srgbClr val="BDB8AA"/>
            </a:solidFill>
            <a:prstDash val="solid"/>
          </a:ln>
        </p:spPr>
      </p:sp>
      <p:sp>
        <p:nvSpPr>
          <p:cNvPr id="16" name="mistake-accent">
            <a:extLst xmlns:a="http://schemas.openxmlformats.org/drawingml/2006/main">
              <a:ext uri="{FF2B5EF4-FFF2-40B4-BE49-F238E27FC236}">
                <a16:creationId xmlns:a16="http://schemas.microsoft.com/office/drawing/2014/main" id="{B984376B-189D-49BF-8206-0F76D33A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istake-label">
            <a:extLst xmlns:a="http://schemas.openxmlformats.org/drawingml/2006/main">
              <a:ext uri="{FF2B5EF4-FFF2-40B4-BE49-F238E27FC236}">
                <a16:creationId xmlns:a16="http://schemas.microsoft.com/office/drawing/2014/main" id="{1C4F3B64-624C-4470-BE44-6A854E49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C8524A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C8524A"/>
                </a:solidFill>
                <a:latin typeface="Consolas"/>
                <a:ea typeface="Consolas"/>
                <a:cs typeface="Consolas"/>
              </a:rPr>
              <a:t>MISTAKE</a:t>
            </a:r>
          </a:p>
        </p:txBody>
      </p:sp>
      <p:sp>
        <p:nvSpPr>
          <p:cNvPr id="18" name="mistake-copy">
            <a:extLst xmlns:a="http://schemas.openxmlformats.org/drawingml/2006/main">
              <a:ext uri="{FF2B5EF4-FFF2-40B4-BE49-F238E27FC236}">
                <a16:creationId xmlns:a16="http://schemas.microsoft.com/office/drawing/2014/main" id="{96A9D9F4-BE16-4BFC-A3B7-84765413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192B1B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92B1B"/>
                </a:solidFill>
                <a:latin typeface="Georgia"/>
                <a:ea typeface="Georgia"/>
                <a:cs typeface="Georgia"/>
              </a:rPr>
              <a:t>23. Qd3</a:t>
            </a:r>
          </a:p>
        </p:txBody>
      </p:sp>
      <p:sp>
        <p:nvSpPr>
          <p:cNvPr id="19" name="mistake-cause">
            <a:extLst xmlns:a="http://schemas.openxmlformats.org/drawingml/2006/main">
              <a:ext uri="{FF2B5EF4-FFF2-40B4-BE49-F238E27FC236}">
                <a16:creationId xmlns:a16="http://schemas.microsoft.com/office/drawing/2014/main" id="{81C07EFF-286B-478B-9B90-2950A71D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192B1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92B1B"/>
                </a:solidFill>
                <a:latin typeface="Arial"/>
                <a:ea typeface="Arial"/>
                <a:cs typeface="Arial"/>
              </a:rPr>
              <a:t>The queen move leaves the c3 pawn unprotected.</a:t>
            </a:r>
          </a:p>
        </p:txBody>
      </p:sp>
      <p:sp>
        <p:nvSpPr>
          <p:cNvPr id="20" name="better-surface">
            <a:extLst xmlns:a="http://schemas.openxmlformats.org/drawingml/2006/main">
              <a:ext uri="{FF2B5EF4-FFF2-40B4-BE49-F238E27FC236}">
                <a16:creationId xmlns:a16="http://schemas.microsoft.com/office/drawing/2014/main" id="{53821625-2926-43FC-B040-479B8ECC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7029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9525">
            <a:solidFill>
              <a:srgbClr val="BDB8AA"/>
            </a:solidFill>
            <a:prstDash val="solid"/>
          </a:ln>
        </p:spPr>
      </p:sp>
      <p:sp>
        <p:nvSpPr>
          <p:cNvPr id="21" name="better-accent">
            <a:extLst xmlns:a="http://schemas.openxmlformats.org/drawingml/2006/main">
              <a:ext uri="{FF2B5EF4-FFF2-40B4-BE49-F238E27FC236}">
                <a16:creationId xmlns:a16="http://schemas.microsoft.com/office/drawing/2014/main" id="{7166C200-274A-40A1-90CB-6A0DCFEF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etter-label">
            <a:extLst xmlns:a="http://schemas.openxmlformats.org/drawingml/2006/main">
              <a:ext uri="{FF2B5EF4-FFF2-40B4-BE49-F238E27FC236}">
                <a16:creationId xmlns:a16="http://schemas.microsoft.com/office/drawing/2014/main" id="{4B995B60-F819-450D-8BE8-F267C1E3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355D9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355D95"/>
                </a:solidFill>
                <a:latin typeface="Consolas"/>
                <a:ea typeface="Consolas"/>
                <a:cs typeface="Consolas"/>
              </a:rPr>
              <a:t>BETTER MOVE</a:t>
            </a:r>
          </a:p>
        </p:txBody>
      </p:sp>
      <p:sp>
        <p:nvSpPr>
          <p:cNvPr id="23" name="better-copy">
            <a:extLst xmlns:a="http://schemas.openxmlformats.org/drawingml/2006/main">
              <a:ext uri="{FF2B5EF4-FFF2-40B4-BE49-F238E27FC236}">
                <a16:creationId xmlns:a16="http://schemas.microsoft.com/office/drawing/2014/main" id="{BAB4DC55-3E96-4CD2-B729-19F68862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 i="0">
                <a:solidFill>
                  <a:srgbClr val="192B1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92B1B"/>
                </a:solidFill>
                <a:latin typeface="Georgia"/>
                <a:ea typeface="Georgia"/>
                <a:cs typeface="Georgia"/>
              </a:rPr>
              <a:t>Qe2</a:t>
            </a:r>
          </a:p>
        </p:txBody>
      </p:sp>
      <p:sp>
        <p:nvSpPr>
          <p:cNvPr id="24" name="better-explain">
            <a:extLst xmlns:a="http://schemas.openxmlformats.org/drawingml/2006/main">
              <a:ext uri="{FF2B5EF4-FFF2-40B4-BE49-F238E27FC236}">
                <a16:creationId xmlns:a16="http://schemas.microsoft.com/office/drawing/2014/main" id="{5E00C4F0-6E89-4A56-9485-052463A4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62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192B1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92B1B"/>
                </a:solidFill>
                <a:latin typeface="Arial"/>
                <a:ea typeface="Arial"/>
                <a:cs typeface="Arial"/>
              </a:rPr>
              <a:t>Move the queen to e2 to protect the pawn.</a:t>
            </a:r>
          </a:p>
        </p:txBody>
      </p:sp>
      <p:sp>
        <p:nvSpPr>
          <p:cNvPr id="25" name="show-move-surface">
            <a:extLst xmlns:a="http://schemas.openxmlformats.org/drawingml/2006/main">
              <a:ext uri="{FF2B5EF4-FFF2-40B4-BE49-F238E27FC236}">
                <a16:creationId xmlns:a16="http://schemas.microsoft.com/office/drawing/2014/main" id="{83F345D8-8EE7-4E54-A45E-B3AD5E36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55D95"/>
          </a:solidFill>
          <a:ln xmlns:a="http://schemas.openxmlformats.org/drawingml/2006/main" w="9525">
            <a:solidFill>
              <a:srgbClr val="355D95"/>
            </a:solidFill>
            <a:prstDash val="solid"/>
          </a:ln>
        </p:spPr>
      </p:sp>
      <p:sp>
        <p:nvSpPr>
          <p:cNvPr id="26" name="show-move-label">
            <a:extLst xmlns:a="http://schemas.openxmlformats.org/drawingml/2006/main">
              <a:ext uri="{FF2B5EF4-FFF2-40B4-BE49-F238E27FC236}">
                <a16:creationId xmlns:a16="http://schemas.microsoft.com/office/drawing/2014/main" id="{71B7956A-E38D-4167-B2AA-3BFD926F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 i="0">
                <a:solidFill>
                  <a:srgbClr val="F5F1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5F1E5"/>
                </a:solidFill>
                <a:latin typeface="Arial"/>
                <a:ea typeface="Arial"/>
                <a:cs typeface="Arial"/>
              </a:rPr>
              <a:t>Show the move</a:t>
            </a:r>
          </a:p>
        </p:txBody>
      </p:sp>
      <p:sp>
        <p:nvSpPr>
          <p:cNvPr id="27" name="try-move-surface">
            <a:extLst xmlns:a="http://schemas.openxmlformats.org/drawingml/2006/main">
              <a:ext uri="{FF2B5EF4-FFF2-40B4-BE49-F238E27FC236}">
                <a16:creationId xmlns:a16="http://schemas.microsoft.com/office/drawing/2014/main" id="{C628C7B5-F54F-487C-8D90-709C84B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957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97447"/>
          </a:solidFill>
          <a:ln xmlns:a="http://schemas.openxmlformats.org/drawingml/2006/main" w="9525">
            <a:solidFill>
              <a:srgbClr val="397447"/>
            </a:solidFill>
            <a:prstDash val="solid"/>
          </a:ln>
        </p:spPr>
      </p:sp>
      <p:sp>
        <p:nvSpPr>
          <p:cNvPr id="28" name="try-move-label">
            <a:extLst xmlns:a="http://schemas.openxmlformats.org/drawingml/2006/main">
              <a:ext uri="{FF2B5EF4-FFF2-40B4-BE49-F238E27FC236}">
                <a16:creationId xmlns:a16="http://schemas.microsoft.com/office/drawing/2014/main" id="{913F4E23-63B6-446F-BABF-E7729D72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81475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 i="0">
                <a:solidFill>
                  <a:srgbClr val="F5F1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5F1E5"/>
                </a:solidFill>
                <a:latin typeface="Arial"/>
                <a:ea typeface="Arial"/>
                <a:cs typeface="Arial"/>
              </a:rPr>
              <a:t>Try this move</a:t>
            </a:r>
          </a:p>
        </p:txBody>
      </p:sp>
      <p:sp>
        <p:nvSpPr>
          <p:cNvPr id="29" name="result-surface">
            <a:extLst xmlns:a="http://schemas.openxmlformats.org/drawingml/2006/main">
              <a:ext uri="{FF2B5EF4-FFF2-40B4-BE49-F238E27FC236}">
                <a16:creationId xmlns:a16="http://schemas.microsoft.com/office/drawing/2014/main" id="{D7A429DB-7A3B-4018-B7CA-C1E64C01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7029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7"/>
          </a:solidFill>
          <a:ln xmlns:a="http://schemas.openxmlformats.org/drawingml/2006/main" w="9525">
            <a:solidFill>
              <a:srgbClr val="BDB8AA"/>
            </a:solidFill>
            <a:prstDash val="solid"/>
          </a:ln>
        </p:spPr>
      </p:sp>
      <p:sp>
        <p:nvSpPr>
          <p:cNvPr id="30" name="result-accent">
            <a:extLst xmlns:a="http://schemas.openxmlformats.org/drawingml/2006/main">
              <a:ext uri="{FF2B5EF4-FFF2-40B4-BE49-F238E27FC236}">
                <a16:creationId xmlns:a16="http://schemas.microsoft.com/office/drawing/2014/main" id="{2FA0C237-5D5D-420F-ABEA-1442AE3E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80DDA938-C8CB-4D33-8E8A-C69298A7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397447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397447"/>
                </a:solidFill>
                <a:latin typeface="Consolas"/>
                <a:ea typeface="Consolas"/>
                <a:cs typeface="Consolas"/>
              </a:rPr>
              <a:t>AFTER TRY</a:t>
            </a:r>
          </a:p>
        </p:txBody>
      </p:sp>
      <p:sp>
        <p:nvSpPr>
          <p:cNvPr id="32" name="result-copy">
            <a:extLst xmlns:a="http://schemas.openxmlformats.org/drawingml/2006/main">
              <a:ext uri="{FF2B5EF4-FFF2-40B4-BE49-F238E27FC236}">
                <a16:creationId xmlns:a16="http://schemas.microsoft.com/office/drawing/2014/main" id="{3151370A-E958-49F5-B596-6B3DD488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192B1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92B1B"/>
                </a:solidFill>
                <a:latin typeface="Arial"/>
                <a:ea typeface="Arial"/>
                <a:cs typeface="Arial"/>
              </a:rPr>
              <a:t>Qe2 protects the pawn; see the changed board state.</a:t>
            </a:r>
          </a:p>
        </p:txBody>
      </p:sp>
      <p:sp>
        <p:nvSpPr>
          <p:cNvPr id="33" name="review-actions">
            <a:extLst xmlns:a="http://schemas.openxmlformats.org/drawingml/2006/main">
              <a:ext uri="{FF2B5EF4-FFF2-40B4-BE49-F238E27FC236}">
                <a16:creationId xmlns:a16="http://schemas.microsoft.com/office/drawing/2014/main" id="{C66AB271-52D6-4727-B2B2-1116D3F1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355D9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55D95"/>
                </a:solidFill>
                <a:latin typeface="Consolas"/>
                <a:ea typeface="Consolas"/>
                <a:cs typeface="Consolas"/>
              </a:rPr>
              <a:t>Explain another way?   Need more help?   Practice this idea</a:t>
            </a:r>
          </a:p>
        </p:txBody>
      </p:sp>
      <p:sp>
        <p:nvSpPr>
          <p:cNvPr id="34" name="learning-rail-surface">
            <a:extLst xmlns:a="http://schemas.openxmlformats.org/drawingml/2006/main">
              <a:ext uri="{FF2B5EF4-FFF2-40B4-BE49-F238E27FC236}">
                <a16:creationId xmlns:a16="http://schemas.microsoft.com/office/drawing/2014/main" id="{5A4A4D80-6EB1-428E-B6BD-01A6E22A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90600"/>
            <a:ext cx="36957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9525">
            <a:solidFill>
              <a:srgbClr val="BDB8AA"/>
            </a:solidFill>
            <a:prstDash val="solid"/>
          </a:ln>
        </p:spPr>
      </p:sp>
      <p:sp>
        <p:nvSpPr>
          <p:cNvPr id="35" name="learning-rail-accent">
            <a:extLst xmlns:a="http://schemas.openxmlformats.org/drawingml/2006/main">
              <a:ext uri="{FF2B5EF4-FFF2-40B4-BE49-F238E27FC236}">
                <a16:creationId xmlns:a16="http://schemas.microsoft.com/office/drawing/2014/main" id="{CB629F54-70B1-414D-BF63-2EF4AE86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90600"/>
            <a:ext cx="47625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earning-label">
            <a:extLst xmlns:a="http://schemas.openxmlformats.org/drawingml/2006/main">
              <a:ext uri="{FF2B5EF4-FFF2-40B4-BE49-F238E27FC236}">
                <a16:creationId xmlns:a16="http://schemas.microsoft.com/office/drawing/2014/main" id="{DEA82ADC-56E3-41ED-B356-7B14B56F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00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355D9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355D95"/>
                </a:solidFill>
                <a:latin typeface="Consolas"/>
                <a:ea typeface="Consolas"/>
                <a:cs typeface="Consolas"/>
              </a:rPr>
              <a:t>LEARNING CONTINUITY</a:t>
            </a:r>
          </a:p>
        </p:txBody>
      </p:sp>
      <p:sp>
        <p:nvSpPr>
          <p:cNvPr id="37" name="learning-title">
            <a:extLst xmlns:a="http://schemas.openxmlformats.org/drawingml/2006/main">
              <a:ext uri="{FF2B5EF4-FFF2-40B4-BE49-F238E27FC236}">
                <a16:creationId xmlns:a16="http://schemas.microsoft.com/office/drawing/2014/main" id="{9C1322D9-07D0-44B1-B983-231ED48E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9542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192B1B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92B1B"/>
                </a:solidFill>
                <a:latin typeface="Georgia"/>
                <a:ea typeface="Georgia"/>
                <a:cs typeface="Georgia"/>
              </a:rPr>
              <a:t>One useful step at a time</a:t>
            </a:r>
          </a:p>
        </p:txBody>
      </p:sp>
      <p:sp>
        <p:nvSpPr>
          <p:cNvPr id="38" name="learning-copy">
            <a:extLst xmlns:a="http://schemas.openxmlformats.org/drawingml/2006/main">
              <a:ext uri="{FF2B5EF4-FFF2-40B4-BE49-F238E27FC236}">
                <a16:creationId xmlns:a16="http://schemas.microsoft.com/office/drawing/2014/main" id="{9AD5D9E0-E136-4924-A8D5-33E50DB9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7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192B1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92B1B"/>
                </a:solidFill>
                <a:latin typeface="Arial"/>
                <a:ea typeface="Arial"/>
                <a:cs typeface="Arial"/>
              </a:rPr>
              <a:t>The selected flow keeps the board, cause, better move, and practice bridge in one path.</a:t>
            </a:r>
          </a:p>
        </p:txBody>
      </p:sp>
      <p:sp>
        <p:nvSpPr>
          <p:cNvPr id="39" name="learning-line">
            <a:extLst xmlns:a="http://schemas.openxmlformats.org/drawingml/2006/main">
              <a:ext uri="{FF2B5EF4-FFF2-40B4-BE49-F238E27FC236}">
                <a16:creationId xmlns:a16="http://schemas.microsoft.com/office/drawing/2014/main" id="{169949E7-6982-40CA-812E-7F694083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8AA"/>
            </a:solidFill>
            <a:prstDash val="solid"/>
          </a:ln>
        </p:spPr>
      </p:sp>
      <p:sp>
        <p:nvSpPr>
          <p:cNvPr id="40" name="learning-changes">
            <a:extLst xmlns:a="http://schemas.openxmlformats.org/drawingml/2006/main">
              <a:ext uri="{FF2B5EF4-FFF2-40B4-BE49-F238E27FC236}">
                <a16:creationId xmlns:a16="http://schemas.microsoft.com/office/drawing/2014/main" id="{4C0A460E-C95B-4824-82E3-9B3EA46E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242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397447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397447"/>
                </a:solidFill>
                <a:latin typeface="Consolas"/>
                <a:ea typeface="Consolas"/>
                <a:cs typeface="Consolas"/>
              </a:rPr>
              <a:t>REVISION TRACE</a:t>
            </a:r>
          </a:p>
        </p:txBody>
      </p:sp>
      <p:sp>
        <p:nvSpPr>
          <p:cNvPr id="41" name="learning-list">
            <a:extLst xmlns:a="http://schemas.openxmlformats.org/drawingml/2006/main">
              <a:ext uri="{FF2B5EF4-FFF2-40B4-BE49-F238E27FC236}">
                <a16:creationId xmlns:a16="http://schemas.microsoft.com/office/drawing/2014/main" id="{27224510-0715-40A8-8560-57F589F4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rPr>
              <a:t>C-IMP-01 · plain-language cause first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rPr>
              <a:t>C-IMP-02 · Start here + practice rationale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rPr>
              <a:t>C-IMP-03 · persistent practice action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rPr>
              <a:t>C-IMP-04 · guided recovery controls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192B1B"/>
                </a:solidFill>
                <a:latin typeface="Consolas"/>
                <a:ea typeface="Consolas"/>
                <a:cs typeface="Consolas"/>
              </a:rPr>
              <a:t>C-IMP-08 · one-mistake-at-a-time focus</a:t>
            </a:r>
          </a:p>
        </p:txBody>
      </p:sp>
      <p:sp>
        <p:nvSpPr>
          <p:cNvPr id="42" name="next-card">
            <a:extLst xmlns:a="http://schemas.openxmlformats.org/drawingml/2006/main">
              <a:ext uri="{FF2B5EF4-FFF2-40B4-BE49-F238E27FC236}">
                <a16:creationId xmlns:a16="http://schemas.microsoft.com/office/drawing/2014/main" id="{AD20A14B-4C99-4A51-BE44-4BB02FC8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95850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5F0"/>
          </a:solidFill>
          <a:ln xmlns:a="http://schemas.openxmlformats.org/drawingml/2006/main" w="9525">
            <a:solidFill>
              <a:srgbClr val="355D95"/>
            </a:solidFill>
            <a:prstDash val="solid"/>
          </a:ln>
        </p:spPr>
      </p:sp>
      <p:sp>
        <p:nvSpPr>
          <p:cNvPr id="43" name="next-card-copy">
            <a:extLst xmlns:a="http://schemas.openxmlformats.org/drawingml/2006/main">
              <a:ext uri="{FF2B5EF4-FFF2-40B4-BE49-F238E27FC236}">
                <a16:creationId xmlns:a16="http://schemas.microsoft.com/office/drawing/2014/main" id="{1CE6878F-8FDA-4B39-A76F-8C3329B8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 i="0">
                <a:solidFill>
                  <a:srgbClr val="192B1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92B1B"/>
                </a:solidFill>
                <a:latin typeface="Arial"/>
                <a:ea typeface="Arial"/>
                <a:cs typeface="Arial"/>
              </a:rPr>
              <a:t>Next mistake → Practice this idea</a:t>
            </a:r>
          </a:p>
        </p:txBody>
      </p:sp>
      <p:sp>
        <p:nvSpPr>
          <p:cNvPr id="44" name="learning-note">
            <a:extLst xmlns:a="http://schemas.openxmlformats.org/drawingml/2006/main">
              <a:ext uri="{FF2B5EF4-FFF2-40B4-BE49-F238E27FC236}">
                <a16:creationId xmlns:a16="http://schemas.microsoft.com/office/drawing/2014/main" id="{AC0F3A4A-6485-453D-92AE-E90CAC47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810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0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1">
                <a:solidFill>
                  <a:srgbClr val="69746A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69746A"/>
                </a:solidFill>
                <a:latin typeface="Arial"/>
                <a:ea typeface="Arial"/>
                <a:cs typeface="Arial"/>
              </a:rPr>
              <a:t>Designed from Chess Alt 1 strengths and recurring R2 entry/continuation risks.</a:t>
            </a:r>
          </a:p>
        </p:txBody>
      </p:sp>
    </p:spTree>
    <p:extLst>
      <p:ext uri="{BB962C8B-B14F-4D97-AF65-F5344CB8AC3E}">
        <p14:creationId xmlns:p14="http://schemas.microsoft.com/office/powerpoint/2010/main" val="130563651"/>
      </p:ext>
    </p:extLst>
  </p:cSld>
</p:sld>
</file>

<file path=ppt/theme/theme1.xml><?xml version="1.0" encoding="utf-8"?>
<a:theme xmlns:a="http://schemas.openxmlformats.org/drawingml/2006/main" name="ChatGPT">
  <a:themeElements>
    <a:clrScheme name="Grov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C8524A"/>
      </a:accent1>
      <a:accent2>
        <a:srgbClr val="397447"/>
      </a:accent2>
      <a:accent3>
        <a:srgbClr val="355D95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rov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2026-08-18T16:25:59.2560000Z</dcterms:created>
  <dcterms:modified xsi:type="dcterms:W3CDTF">2026-08-18T16:25:59.2560000Z</dcterms:modified>
</coreProperties>
</file>