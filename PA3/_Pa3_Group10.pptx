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jpeg" ContentType="image/jpeg"/>
  <Default Extension="svg" ContentType="image/svg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fcb0d01327045f3" /><Relationship Type="http://schemas.openxmlformats.org/officeDocument/2006/relationships/extended-properties" Target="/docProps/app.xml" Id="Ra96819b07f184e8f" /><Relationship Type="http://schemas.openxmlformats.org/officeDocument/2006/relationships/officeDocument" Target="/ppt/presentation.xml" Id="R24a11a57cd994eba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05f10dd111964400"/>
  </p:sldMasterIdLst>
  <p:notesMasterIdLst>
    <p:notesMasterId xmlns:r="http://schemas.openxmlformats.org/officeDocument/2006/relationships" r:id="R97aadd2c8ebd4cbd"/>
  </p:notesMasterIdLst>
  <p:sldIdLst>
    <p:sldId xmlns:r="http://schemas.openxmlformats.org/officeDocument/2006/relationships" id="256" r:id="R491ded3fd5f74036"/>
    <p:sldId xmlns:r="http://schemas.openxmlformats.org/officeDocument/2006/relationships" id="257" r:id="R77661293d8bc4d9b"/>
    <p:sldId xmlns:r="http://schemas.openxmlformats.org/officeDocument/2006/relationships" id="258" r:id="R16613280e69d4011"/>
    <p:sldId xmlns:r="http://schemas.openxmlformats.org/officeDocument/2006/relationships" id="259" r:id="Reaa0709946134de0"/>
    <p:sldId xmlns:r="http://schemas.openxmlformats.org/officeDocument/2006/relationships" id="260" r:id="R04f4889c9f8a4eab"/>
    <p:sldId xmlns:r="http://schemas.openxmlformats.org/officeDocument/2006/relationships" id="261" r:id="Rc9d4556bc1ff46e9"/>
    <p:sldId xmlns:r="http://schemas.openxmlformats.org/officeDocument/2006/relationships" id="262" r:id="Rcc77bd4060a547fe"/>
    <p:sldId xmlns:r="http://schemas.openxmlformats.org/officeDocument/2006/relationships" id="263" r:id="R703d11cb534e4258"/>
    <p:sldId xmlns:r="http://schemas.openxmlformats.org/officeDocument/2006/relationships" id="264" r:id="Rcc30c49a5e3b4f30"/>
    <p:sldId xmlns:r="http://schemas.openxmlformats.org/officeDocument/2006/relationships" id="265" r:id="Rcd81d651d42b42f5"/>
    <p:sldId xmlns:r="http://schemas.openxmlformats.org/officeDocument/2006/relationships" id="266" r:id="R3f8e614cc06b4c26"/>
    <p:sldId xmlns:r="http://schemas.openxmlformats.org/officeDocument/2006/relationships" id="267" r:id="R0229c5f5209348e7"/>
    <p:sldId xmlns:r="http://schemas.openxmlformats.org/officeDocument/2006/relationships" id="268" r:id="Rba0a3741d4ea4d82"/>
    <p:sldId xmlns:r="http://schemas.openxmlformats.org/officeDocument/2006/relationships" id="269" r:id="Rb497bba0eb0d448d"/>
    <p:sldId xmlns:r="http://schemas.openxmlformats.org/officeDocument/2006/relationships" id="270" r:id="R44e8e9e746dc4ce0"/>
    <p:sldId xmlns:r="http://schemas.openxmlformats.org/officeDocument/2006/relationships" id="271" r:id="R143cd1d0177e45e7"/>
    <p:sldId xmlns:r="http://schemas.openxmlformats.org/officeDocument/2006/relationships" id="272" r:id="Rb039551786004b53"/>
    <p:sldId xmlns:r="http://schemas.openxmlformats.org/officeDocument/2006/relationships" id="273" r:id="Ra916a616c05d44c9"/>
    <p:sldId xmlns:r="http://schemas.openxmlformats.org/officeDocument/2006/relationships" id="274" r:id="R65166decbe544848"/>
    <p:sldId xmlns:r="http://schemas.openxmlformats.org/officeDocument/2006/relationships" id="275" r:id="Rd91e2b1786d7409c"/>
    <p:sldId xmlns:r="http://schemas.openxmlformats.org/officeDocument/2006/relationships" id="276" r:id="Rd1216e4f24ea4efe"/>
    <p:sldId xmlns:r="http://schemas.openxmlformats.org/officeDocument/2006/relationships" id="277" r:id="R70eb2d135278491d"/>
    <p:sldId xmlns:r="http://schemas.openxmlformats.org/officeDocument/2006/relationships" id="278" r:id="R06d036de55224455"/>
    <p:sldId xmlns:r="http://schemas.openxmlformats.org/officeDocument/2006/relationships" id="279" r:id="Rb469007ed9db4d7d"/>
    <p:sldId xmlns:r="http://schemas.openxmlformats.org/officeDocument/2006/relationships" id="280" r:id="Readb307c125f405b"/>
    <p:sldId xmlns:r="http://schemas.openxmlformats.org/officeDocument/2006/relationships" id="281" r:id="R7b5c262cbafa472e"/>
    <p:sldId xmlns:r="http://schemas.openxmlformats.org/officeDocument/2006/relationships" id="282" r:id="R9b851bb44cd444c2"/>
    <p:sldId xmlns:r="http://schemas.openxmlformats.org/officeDocument/2006/relationships" id="283" r:id="R2e60ac50c11148a0"/>
    <p:sldId xmlns:r="http://schemas.openxmlformats.org/officeDocument/2006/relationships" id="284" r:id="R8d14c18275724a2d"/>
    <p:sldId xmlns:r="http://schemas.openxmlformats.org/officeDocument/2006/relationships" id="285" r:id="Rb47d2e95e0b34535"/>
    <p:sldId xmlns:r="http://schemas.openxmlformats.org/officeDocument/2006/relationships" id="286" r:id="Rb505e8c133aa4e2e"/>
    <p:sldId xmlns:r="http://schemas.openxmlformats.org/officeDocument/2006/relationships" id="287" r:id="R3acef5e83c0f444b"/>
    <p:sldId xmlns:r="http://schemas.openxmlformats.org/officeDocument/2006/relationships" id="288" r:id="Re8494dff428045cd"/>
    <p:sldId xmlns:r="http://schemas.openxmlformats.org/officeDocument/2006/relationships" id="289" r:id="R5d2f61a2b9cd41be"/>
    <p:sldId xmlns:r="http://schemas.openxmlformats.org/officeDocument/2006/relationships" id="290" r:id="R70fee94bdf094f8e"/>
    <p:sldId xmlns:r="http://schemas.openxmlformats.org/officeDocument/2006/relationships" id="291" r:id="R401ccda30a6d4fde"/>
    <p:sldId xmlns:r="http://schemas.openxmlformats.org/officeDocument/2006/relationships" id="292" r:id="R278b0e89adc84fcc"/>
    <p:sldId xmlns:r="http://schemas.openxmlformats.org/officeDocument/2006/relationships" id="293" r:id="Re6de86d4ceed4115"/>
    <p:sldId xmlns:r="http://schemas.openxmlformats.org/officeDocument/2006/relationships" id="294" r:id="R1a14cb2a03254159"/>
  </p:sldIdLst>
  <p:sldSz cx="18288000" cy="10287000"/>
  <p:notesSz cx="6858000" cy="9144000"/>
  <p:embeddedFontLst>
    <p:embeddedFont>
      <p:font typeface="Dynapuff Condensed"/>
      <p:regular xmlns:r="http://schemas.openxmlformats.org/officeDocument/2006/relationships" r:id="R13ae048ac54143e3"/>
    </p:embeddedFont>
    <p:embeddedFont>
      <p:font typeface="Maven Pro Bold"/>
      <p:regular xmlns:r="http://schemas.openxmlformats.org/officeDocument/2006/relationships" r:id="R410d96f4861c4032"/>
    </p:embeddedFont>
    <p:embeddedFont>
      <p:font typeface="Faustina"/>
      <p:regular xmlns:r="http://schemas.openxmlformats.org/officeDocument/2006/relationships" r:id="Re71cb6bc2e9549cf"/>
    </p:embeddedFont>
    <p:embeddedFont>
      <p:font typeface="Faustina Bold"/>
      <p:regular xmlns:r="http://schemas.openxmlformats.org/officeDocument/2006/relationships" r:id="R22f092d79480419e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286c54689b3417d" /><Relationship Type="http://schemas.openxmlformats.org/officeDocument/2006/relationships/slideMaster" Target="/ppt/slideMasters/slideMaster1.xml" Id="R05f10dd111964400" /><Relationship Type="http://schemas.openxmlformats.org/officeDocument/2006/relationships/notesMaster" Target="/ppt/notesMasters/notesMaster1.xml" Id="R97aadd2c8ebd4cbd" /><Relationship Type="http://schemas.openxmlformats.org/officeDocument/2006/relationships/presProps" Target="/ppt/presProps.xml" Id="Rbc7e65efa9e4410e" /><Relationship Type="http://schemas.openxmlformats.org/officeDocument/2006/relationships/viewProps" Target="/ppt/viewProps.xml" Id="Ra4e473d12eaa4471" /><Relationship Type="http://schemas.openxmlformats.org/officeDocument/2006/relationships/tableStyles" Target="/ppt/tableStyles.xml" Id="Rd805ae2dfd2e4418" /><Relationship Type="http://schemas.openxmlformats.org/officeDocument/2006/relationships/font" Target="/ppt/fonts/font.dat" Id="R13ae048ac54143e3" /><Relationship Type="http://schemas.openxmlformats.org/officeDocument/2006/relationships/font" Target="/ppt/fonts/font2.dat" Id="R410d96f4861c4032" /><Relationship Type="http://schemas.openxmlformats.org/officeDocument/2006/relationships/font" Target="/ppt/fonts/font3.dat" Id="Re71cb6bc2e9549cf" /><Relationship Type="http://schemas.openxmlformats.org/officeDocument/2006/relationships/font" Target="/ppt/fonts/font4.dat" Id="R22f092d79480419e" /><Relationship Type="http://schemas.openxmlformats.org/officeDocument/2006/relationships/slide" Target="/ppt/slides/slide1.xml" Id="R491ded3fd5f74036" /><Relationship Type="http://schemas.openxmlformats.org/officeDocument/2006/relationships/slide" Target="/ppt/slides/slide2.xml" Id="R77661293d8bc4d9b" /><Relationship Type="http://schemas.openxmlformats.org/officeDocument/2006/relationships/slide" Target="/ppt/slides/slide3.xml" Id="R16613280e69d4011" /><Relationship Type="http://schemas.openxmlformats.org/officeDocument/2006/relationships/slide" Target="/ppt/slides/slide4.xml" Id="Reaa0709946134de0" /><Relationship Type="http://schemas.openxmlformats.org/officeDocument/2006/relationships/slide" Target="/ppt/slides/slide5.xml" Id="R04f4889c9f8a4eab" /><Relationship Type="http://schemas.openxmlformats.org/officeDocument/2006/relationships/slide" Target="/ppt/slides/slide6.xml" Id="Rc9d4556bc1ff46e9" /><Relationship Type="http://schemas.openxmlformats.org/officeDocument/2006/relationships/slide" Target="/ppt/slides/slide7.xml" Id="Rcc77bd4060a547fe" /><Relationship Type="http://schemas.openxmlformats.org/officeDocument/2006/relationships/slide" Target="/ppt/slides/slide8.xml" Id="R703d11cb534e4258" /><Relationship Type="http://schemas.openxmlformats.org/officeDocument/2006/relationships/slide" Target="/ppt/slides/slide9.xml" Id="Rcc30c49a5e3b4f30" /><Relationship Type="http://schemas.openxmlformats.org/officeDocument/2006/relationships/slide" Target="/ppt/slides/slide10.xml" Id="Rcd81d651d42b42f5" /><Relationship Type="http://schemas.openxmlformats.org/officeDocument/2006/relationships/slide" Target="/ppt/slides/slide11.xml" Id="R3f8e614cc06b4c26" /><Relationship Type="http://schemas.openxmlformats.org/officeDocument/2006/relationships/slide" Target="/ppt/slides/slide12.xml" Id="R0229c5f5209348e7" /><Relationship Type="http://schemas.openxmlformats.org/officeDocument/2006/relationships/slide" Target="/ppt/slides/slide13.xml" Id="Rba0a3741d4ea4d82" /><Relationship Type="http://schemas.openxmlformats.org/officeDocument/2006/relationships/slide" Target="/ppt/slides/slide14.xml" Id="Rb497bba0eb0d448d" /><Relationship Type="http://schemas.openxmlformats.org/officeDocument/2006/relationships/slide" Target="/ppt/slides/slide15.xml" Id="R44e8e9e746dc4ce0" /><Relationship Type="http://schemas.openxmlformats.org/officeDocument/2006/relationships/slide" Target="/ppt/slides/slide16.xml" Id="R143cd1d0177e45e7" /><Relationship Type="http://schemas.openxmlformats.org/officeDocument/2006/relationships/slide" Target="/ppt/slides/slide17.xml" Id="Rb039551786004b53" /><Relationship Type="http://schemas.openxmlformats.org/officeDocument/2006/relationships/slide" Target="/ppt/slides/slide18.xml" Id="Ra916a616c05d44c9" /><Relationship Type="http://schemas.openxmlformats.org/officeDocument/2006/relationships/slide" Target="/ppt/slides/slide19.xml" Id="R65166decbe544848" /><Relationship Type="http://schemas.openxmlformats.org/officeDocument/2006/relationships/slide" Target="/ppt/slides/slide20.xml" Id="Rd91e2b1786d7409c" /><Relationship Type="http://schemas.openxmlformats.org/officeDocument/2006/relationships/slide" Target="/ppt/slides/slide21.xml" Id="Rd1216e4f24ea4efe" /><Relationship Type="http://schemas.openxmlformats.org/officeDocument/2006/relationships/slide" Target="/ppt/slides/slide22.xml" Id="R70eb2d135278491d" /><Relationship Type="http://schemas.openxmlformats.org/officeDocument/2006/relationships/slide" Target="/ppt/slides/slide23.xml" Id="R06d036de55224455" /><Relationship Type="http://schemas.openxmlformats.org/officeDocument/2006/relationships/slide" Target="/ppt/slides/slide24.xml" Id="Rb469007ed9db4d7d" /><Relationship Type="http://schemas.openxmlformats.org/officeDocument/2006/relationships/slide" Target="/ppt/slides/slide25.xml" Id="Readb307c125f405b" /><Relationship Type="http://schemas.openxmlformats.org/officeDocument/2006/relationships/slide" Target="/ppt/slides/slide26.xml" Id="R7b5c262cbafa472e" /><Relationship Type="http://schemas.openxmlformats.org/officeDocument/2006/relationships/slide" Target="/ppt/slides/slide27.xml" Id="R9b851bb44cd444c2" /><Relationship Type="http://schemas.openxmlformats.org/officeDocument/2006/relationships/slide" Target="/ppt/slides/slide28.xml" Id="R2e60ac50c11148a0" /><Relationship Type="http://schemas.openxmlformats.org/officeDocument/2006/relationships/slide" Target="/ppt/slides/slide29.xml" Id="R8d14c18275724a2d" /><Relationship Type="http://schemas.openxmlformats.org/officeDocument/2006/relationships/slide" Target="/ppt/slides/slide30.xml" Id="Rb47d2e95e0b34535" /><Relationship Type="http://schemas.openxmlformats.org/officeDocument/2006/relationships/slide" Target="/ppt/slides/slide31.xml" Id="Rb505e8c133aa4e2e" /><Relationship Type="http://schemas.openxmlformats.org/officeDocument/2006/relationships/slide" Target="/ppt/slides/slide32.xml" Id="R3acef5e83c0f444b" /><Relationship Type="http://schemas.openxmlformats.org/officeDocument/2006/relationships/slide" Target="/ppt/slides/slide33.xml" Id="Re8494dff428045cd" /><Relationship Type="http://schemas.openxmlformats.org/officeDocument/2006/relationships/slide" Target="/ppt/slides/slide34.xml" Id="R5d2f61a2b9cd41be" /><Relationship Type="http://schemas.openxmlformats.org/officeDocument/2006/relationships/slide" Target="/ppt/slides/slide35.xml" Id="R70fee94bdf094f8e" /><Relationship Type="http://schemas.openxmlformats.org/officeDocument/2006/relationships/slide" Target="/ppt/slides/slide36.xml" Id="R401ccda30a6d4fde" /><Relationship Type="http://schemas.openxmlformats.org/officeDocument/2006/relationships/slide" Target="/ppt/slides/slide37.xml" Id="R278b0e89adc84fcc" /><Relationship Type="http://schemas.openxmlformats.org/officeDocument/2006/relationships/slide" Target="/ppt/slides/slide38.xml" Id="Re6de86d4ceed4115" /><Relationship Type="http://schemas.openxmlformats.org/officeDocument/2006/relationships/slide" Target="/ppt/slides/slide39.xml" Id="R1a14cb2a0325415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0b588e1f20a40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d1a8fadb9834881" /><Relationship Type="http://schemas.openxmlformats.org/officeDocument/2006/relationships/notesMaster" Target="/ppt/notesMasters/notesMaster1.xml" Id="Rf7b21595244442d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99e226973d349ed" /><Relationship Type="http://schemas.openxmlformats.org/officeDocument/2006/relationships/notesMaster" Target="/ppt/notesMasters/notesMaster1.xml" Id="R9989c078c0d14d3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5a7220402154c13" /><Relationship Type="http://schemas.openxmlformats.org/officeDocument/2006/relationships/notesMaster" Target="/ppt/notesMasters/notesMaster1.xml" Id="R257a1b55fbe3425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62e8a203d4f4536" /><Relationship Type="http://schemas.openxmlformats.org/officeDocument/2006/relationships/notesMaster" Target="/ppt/notesMasters/notesMaster1.xml" Id="R814f80d77e154da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5116a752aa84ba4" /><Relationship Type="http://schemas.openxmlformats.org/officeDocument/2006/relationships/notesMaster" Target="/ppt/notesMasters/notesMaster1.xml" Id="R6a33d80de9b44b7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c15c5a0ba7c4284" /><Relationship Type="http://schemas.openxmlformats.org/officeDocument/2006/relationships/notesMaster" Target="/ppt/notesMasters/notesMaster1.xml" Id="Rea11fc9028814d6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2ca24ca7dc54ae5" /><Relationship Type="http://schemas.openxmlformats.org/officeDocument/2006/relationships/notesMaster" Target="/ppt/notesMasters/notesMaster1.xml" Id="R7f68a3e31ab04bd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3be2c4f6c614614" /><Relationship Type="http://schemas.openxmlformats.org/officeDocument/2006/relationships/notesMaster" Target="/ppt/notesMasters/notesMaster1.xml" Id="Rd91290abc1f3414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c590be82afc4571" /><Relationship Type="http://schemas.openxmlformats.org/officeDocument/2006/relationships/notesMaster" Target="/ppt/notesMasters/notesMaster1.xml" Id="R9009921316db4ab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3138037293d486a" /><Relationship Type="http://schemas.openxmlformats.org/officeDocument/2006/relationships/notesMaster" Target="/ppt/notesMasters/notesMaster1.xml" Id="R03d638400d22437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bb3e9dc88aa47c2" /><Relationship Type="http://schemas.openxmlformats.org/officeDocument/2006/relationships/notesMaster" Target="/ppt/notesMasters/notesMaster1.xml" Id="Rd72d85620cb6418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0659e33288e43f0" /><Relationship Type="http://schemas.openxmlformats.org/officeDocument/2006/relationships/notesMaster" Target="/ppt/notesMasters/notesMaster1.xml" Id="R8f63b507c4fb48b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0877d2f01e64b5d" /><Relationship Type="http://schemas.openxmlformats.org/officeDocument/2006/relationships/notesMaster" Target="/ppt/notesMasters/notesMaster1.xml" Id="Reeb9be9d3dc54fb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344f10943994bc1" /><Relationship Type="http://schemas.openxmlformats.org/officeDocument/2006/relationships/notesMaster" Target="/ppt/notesMasters/notesMaster1.xml" Id="R8f5b6d0107f8489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560dd962932420e" /><Relationship Type="http://schemas.openxmlformats.org/officeDocument/2006/relationships/notesMaster" Target="/ppt/notesMasters/notesMaster1.xml" Id="R9e9de6127ba94c9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4a40293bc8a4be6" /><Relationship Type="http://schemas.openxmlformats.org/officeDocument/2006/relationships/notesMaster" Target="/ppt/notesMasters/notesMaster1.xml" Id="Re687f41823444c1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a09bcd7a6524f84" /><Relationship Type="http://schemas.openxmlformats.org/officeDocument/2006/relationships/notesMaster" Target="/ppt/notesMasters/notesMaster1.xml" Id="Re93ebd99b347430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8c808bac4384b32" /><Relationship Type="http://schemas.openxmlformats.org/officeDocument/2006/relationships/notesMaster" Target="/ppt/notesMasters/notesMaster1.xml" Id="Rce34eaaf6e5c4f3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2a26ca96887428b" /><Relationship Type="http://schemas.openxmlformats.org/officeDocument/2006/relationships/notesMaster" Target="/ppt/notesMasters/notesMaster1.xml" Id="R8b9fe5d4272a4b2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fbf30d5b88b45b9" /><Relationship Type="http://schemas.openxmlformats.org/officeDocument/2006/relationships/notesMaster" Target="/ppt/notesMasters/notesMaster1.xml" Id="R415dd49e7316418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edd45e465a84255" /><Relationship Type="http://schemas.openxmlformats.org/officeDocument/2006/relationships/notesMaster" Target="/ppt/notesMasters/notesMaster1.xml" Id="R5cdf0bd2946d44c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e5c92d5d49f4929" /><Relationship Type="http://schemas.openxmlformats.org/officeDocument/2006/relationships/notesMaster" Target="/ppt/notesMasters/notesMaster1.xml" Id="R8aae22f85bff458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6f5bdb9bffe4d2f" /><Relationship Type="http://schemas.openxmlformats.org/officeDocument/2006/relationships/notesMaster" Target="/ppt/notesMasters/notesMaster1.xml" Id="Refe35f0489ce471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1f042c24bf341bb" /><Relationship Type="http://schemas.openxmlformats.org/officeDocument/2006/relationships/notesMaster" Target="/ppt/notesMasters/notesMaster1.xml" Id="R4fd037bb59a142f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25488f0e7704eac" /><Relationship Type="http://schemas.openxmlformats.org/officeDocument/2006/relationships/notesMaster" Target="/ppt/notesMasters/notesMaster1.xml" Id="Rd4f4b4661e1e481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0a2098e50c74a7c" /><Relationship Type="http://schemas.openxmlformats.org/officeDocument/2006/relationships/notesMaster" Target="/ppt/notesMasters/notesMaster1.xml" Id="Rd7cad2d8be3a401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957aad98c984e6f" /><Relationship Type="http://schemas.openxmlformats.org/officeDocument/2006/relationships/notesMaster" Target="/ppt/notesMasters/notesMaster1.xml" Id="Rb6ed1d5bfc14437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0e23031edf98457e" /><Relationship Type="http://schemas.openxmlformats.org/officeDocument/2006/relationships/notesMaster" Target="/ppt/notesMasters/notesMaster1.xml" Id="R44311b6d2cba4428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932c9c2e26084e41" /><Relationship Type="http://schemas.openxmlformats.org/officeDocument/2006/relationships/notesMaster" Target="/ppt/notesMasters/notesMaster1.xml" Id="Rc3d38b5ddb264907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df14718f0b3949e9" /><Relationship Type="http://schemas.openxmlformats.org/officeDocument/2006/relationships/notesMaster" Target="/ppt/notesMasters/notesMaster1.xml" Id="R37f1c76cab0e47c5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7a68e794a43b4aa9" /><Relationship Type="http://schemas.openxmlformats.org/officeDocument/2006/relationships/notesMaster" Target="/ppt/notesMasters/notesMaster1.xml" Id="R2484a64419274c90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d7de0e5803434227" /><Relationship Type="http://schemas.openxmlformats.org/officeDocument/2006/relationships/notesMaster" Target="/ppt/notesMasters/notesMaster1.xml" Id="Rf37624195c634e1f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c0deb59e4a874442" /><Relationship Type="http://schemas.openxmlformats.org/officeDocument/2006/relationships/notesMaster" Target="/ppt/notesMasters/notesMaster1.xml" Id="R5fa8d0eee82a42fe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e757080d4d28419f" /><Relationship Type="http://schemas.openxmlformats.org/officeDocument/2006/relationships/notesMaster" Target="/ppt/notesMasters/notesMaster1.xml" Id="R162dd5f9a7214636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a70979313e2f4b5e" /><Relationship Type="http://schemas.openxmlformats.org/officeDocument/2006/relationships/notesMaster" Target="/ppt/notesMasters/notesMaster1.xml" Id="R54ab939d5f0843ca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44d1499332e04d70" /><Relationship Type="http://schemas.openxmlformats.org/officeDocument/2006/relationships/notesMaster" Target="/ppt/notesMasters/notesMaster1.xml" Id="R4a13b627253f4910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7974e276d85149ef" /><Relationship Type="http://schemas.openxmlformats.org/officeDocument/2006/relationships/notesMaster" Target="/ppt/notesMasters/notesMaster1.xml" Id="R38e998154e1b4fb0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67f39c74a0a5437d" /><Relationship Type="http://schemas.openxmlformats.org/officeDocument/2006/relationships/notesMaster" Target="/ppt/notesMasters/notesMaster1.xml" Id="R7a84b8afa0fb44d7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9d8dae6f9a894f22" /><Relationship Type="http://schemas.openxmlformats.org/officeDocument/2006/relationships/notesMaster" Target="/ppt/notesMasters/notesMaster1.xml" Id="R733df89a37cc427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Content: Group10-PA3-PaperPrototypes.pptx slides 19-42.</a:t>
            </a:r>
          </a:p>
          <a:p xmlns:a="http://schemas.openxmlformats.org/drawingml/2006/main">
            <a:r>
              <a:t>Verified against submission-final/source-evidence/formative-testing-results.md.</a:t>
            </a:r>
          </a:p>
          <a:p xmlns:a="http://schemas.openxmlformats.org/drawingml/2006/main">
            <a:r>
              <a:t>Updated ending slide 31; no external assets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Content: Group10-PA3-PaperPrototypes.pptx slides 19-42.</a:t>
            </a:r>
          </a:p>
          <a:p xmlns:a="http://schemas.openxmlformats.org/drawingml/2006/main">
            <a:r>
              <a:t>Verified against submission-final/source-evidence/formative-testing-results.md.</a:t>
            </a:r>
          </a:p>
          <a:p xmlns:a="http://schemas.openxmlformats.org/drawingml/2006/main">
            <a:r>
              <a:t>Updated ending slide 32; no external assets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Content: Group10-PA3-PaperPrototypes.pptx slides 19-42.</a:t>
            </a:r>
          </a:p>
          <a:p xmlns:a="http://schemas.openxmlformats.org/drawingml/2006/main">
            <a:r>
              <a:t>Verified against submission-final/source-evidence/formative-testing-results.md.</a:t>
            </a:r>
          </a:p>
          <a:p xmlns:a="http://schemas.openxmlformats.org/drawingml/2006/main">
            <a:r>
              <a:t>Updated ending slide 33; no external assets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Content: Group10-PA3-PaperPrototypes.pptx slides 19-42.</a:t>
            </a:r>
          </a:p>
          <a:p xmlns:a="http://schemas.openxmlformats.org/drawingml/2006/main">
            <a:r>
              <a:t>Verified against submission-final/source-evidence/formative-testing-results.md.</a:t>
            </a:r>
          </a:p>
          <a:p xmlns:a="http://schemas.openxmlformats.org/drawingml/2006/main">
            <a:r>
              <a:t>Updated ending slide 34; no external assets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Content: Group10-PA3-PaperPrototypes.pptx slides 19-42.</a:t>
            </a:r>
          </a:p>
          <a:p xmlns:a="http://schemas.openxmlformats.org/drawingml/2006/main">
            <a:r>
              <a:t>Verified against submission-final/source-evidence/formative-testing-results.md.</a:t>
            </a:r>
          </a:p>
          <a:p xmlns:a="http://schemas.openxmlformats.org/drawingml/2006/main">
            <a:r>
              <a:t>Updated ending slide 35; no external assets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Content: Group10-PA3-PaperPrototypes.pptx slides 19-42.</a:t>
            </a:r>
          </a:p>
          <a:p xmlns:a="http://schemas.openxmlformats.org/drawingml/2006/main">
            <a:r>
              <a:t>Verified against submission-final/source-evidence/formative-testing-results.md.</a:t>
            </a:r>
          </a:p>
          <a:p xmlns:a="http://schemas.openxmlformats.org/drawingml/2006/main">
            <a:r>
              <a:t>Updated ending slide 36; no external assets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Content: Group10-PA3-PaperPrototypes.pptx slides 19-42.</a:t>
            </a:r>
          </a:p>
          <a:p xmlns:a="http://schemas.openxmlformats.org/drawingml/2006/main">
            <a:r>
              <a:t>Verified against submission-final/source-evidence/formative-testing-results.md.</a:t>
            </a:r>
          </a:p>
          <a:p xmlns:a="http://schemas.openxmlformats.org/drawingml/2006/main">
            <a:r>
              <a:t>Updated ending slide 37; no external assets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Content: Group10-PA3-PaperPrototypes.pptx slides 19-42.</a:t>
            </a:r>
          </a:p>
          <a:p xmlns:a="http://schemas.openxmlformats.org/drawingml/2006/main">
            <a:r>
              <a:t>Verified against submission-final/source-evidence/formative-testing-results.md.</a:t>
            </a:r>
          </a:p>
          <a:p xmlns:a="http://schemas.openxmlformats.org/drawingml/2006/main">
            <a:r>
              <a:t>Updated ending slide 38; no external assets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Content: Group10-PA3-PaperPrototypes.pptx slides 19-42.</a:t>
            </a:r>
          </a:p>
          <a:p xmlns:a="http://schemas.openxmlformats.org/drawingml/2006/main">
            <a:r>
              <a:t>Verified against submission-final/source-evidence/formative-testing-results.md.</a:t>
            </a:r>
          </a:p>
          <a:p xmlns:a="http://schemas.openxmlformats.org/drawingml/2006/main">
            <a:r>
              <a:t>Updated ending slide 39; no external assets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1aabd9cf91476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c95f06e42046b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77fe77a4804e5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34862fe0df460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b16279e7764c5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247add3c31464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14da350095488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17c7b74f4c488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473d80ad6e44c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004109be474e09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7e35848cb14832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C896E70-FFD6-4503-8E50-572B7956CE0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F36FF78D-A0EB-42B9-9F8F-95C1BBFD2BA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920307B-061F-4A90-82C5-12396508949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6CA934D-387A-4C21-B67E-615318BB16D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916E5A4-5EA8-44F8-B427-F2C60D68FA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1E550F7-0142-40DE-A6D3-205009F8EC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B64B8D8-DD5B-4EB5-B535-0D577B69655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FAC12A5-EDA8-4D87-A964-4AD05F975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E032F8C-93E2-4F99-8E82-69674C4BEFD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86B2F2F-5C65-47A6-A940-270CCD532FB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E1973F5-1676-41D3-8855-78AAB89A04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EC4335F-E3F5-4611-822F-4CB96532A3E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3877888-29E1-401A-B910-E0474D3A611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C8BDA63-D590-4D71-8A73-176E4F9EC4D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BDB974-72CC-449F-B7F8-70D699EC882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1FCF502-52AD-4C61-9B5B-329DC92EE2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601A490-B5A5-42DA-95A2-77550C9C6D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95A02662-288F-4F7F-A6E3-86278E01F73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CC963B7-6588-4B23-A9BE-EDF2CF6C8E2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B192E75-D34F-4A0E-8E3B-0CED311CC55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25AC044-6F24-4FAB-8BB1-87B383B98AD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1FC788D-38D2-428D-ACE6-A1A2399D6C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0E489DD-424B-4AF5-8915-E4E99BAA2CF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6464B95-EAB9-4B17-BA62-0E81C034A3A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E3D559F9-50F7-4B71-9DD2-2E73CE2E85A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624583AE-5988-47D6-927D-988052D48C0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3A7A6A91-A4DB-4D01-A45A-E17ADF9A683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76612F7E-7730-4533-882A-D50D2CC26CE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6D642171-69C1-4993-9676-4780C73988A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66F30AD-3E03-4005-B1EC-5DBA6E20C8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FBA3698F-D977-4905-9EEB-144EC15B2D1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04FFF7A8-C249-4F26-B693-3AC4273DC09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34ED130E-3FB3-4926-A56F-0C61AF38D19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BDF278B0-73B8-4136-AEA4-3EDCC8B4B52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C05123E7-1D12-44E3-B37D-1F600579B48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35A29043-8779-4B9E-8DAE-50A0FD200C1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E9BA528-EECB-4E1F-8919-F038ADF31A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969E242-9668-405C-820D-586921CBA3C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5882E19-4E97-4A2F-AEFA-12DDB8E4E4C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4754C59C-0064-415D-8B42-A93C84EE4EA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FFB528F-7157-4EB3-962D-414C753D4B1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3B7A2D4-9792-4EED-AC5D-DF0B495FF6A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86E18B8-A62C-41BC-9207-8F36003BD1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B0FA9C4D-7C3C-4F49-8475-F04D2B38EC2A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E3C8C9C-EB11-4BFC-8411-B318038EE71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7CE90D2-7AC6-4F8F-BC34-848507118E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31C3BBA-E4E5-46F4-A4F5-803BDD7374F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C771CDC-0A58-4E2C-A6E4-A1AF4298585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3DB8C10-8EFB-4B07-B048-BFC31E9F77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A9B81E2-BC79-44FE-A5BF-1ED3C6479A0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CCC219F-2933-46B7-93E1-55A21949FFF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D3EC564-1388-4E90-B4CD-6725F86C370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90A7B0B-4DA6-41A1-9AFF-204190D61F5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29EFB91F-BFBE-40FA-A1D9-6679C40498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11708FFD-460C-4A81-AEAA-D6F39A0B87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57B1569-101D-49AD-BDF2-D9626EB089F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5E2BB40-23F3-4080-9841-38C7C1F7DF9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5B4135D-C05D-461F-BFCC-708B3F0F9DB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f0c4b65e6a34bdc" /><Relationship Type="http://schemas.openxmlformats.org/officeDocument/2006/relationships/slideLayout" Target="/ppt/slideLayouts/slideLayout1.xml" Id="Rd5265b48748d488c" /><Relationship Type="http://schemas.openxmlformats.org/officeDocument/2006/relationships/slideLayout" Target="/ppt/slideLayouts/slideLayout2.xml" Id="R7bb71718c4ab4f84" /><Relationship Type="http://schemas.openxmlformats.org/officeDocument/2006/relationships/slideLayout" Target="/ppt/slideLayouts/slideLayout3.xml" Id="R4d74b8e0526f4678" /><Relationship Type="http://schemas.openxmlformats.org/officeDocument/2006/relationships/slideLayout" Target="/ppt/slideLayouts/slideLayout4.xml" Id="Rf835ac425af44c39" /><Relationship Type="http://schemas.openxmlformats.org/officeDocument/2006/relationships/slideLayout" Target="/ppt/slideLayouts/slideLayout5.xml" Id="R9040eb6dbc6c4719" /><Relationship Type="http://schemas.openxmlformats.org/officeDocument/2006/relationships/slideLayout" Target="/ppt/slideLayouts/slideLayout6.xml" Id="R0db26982c87542cf" /><Relationship Type="http://schemas.openxmlformats.org/officeDocument/2006/relationships/slideLayout" Target="/ppt/slideLayouts/slideLayout7.xml" Id="Rde092c8f66c040c8" /><Relationship Type="http://schemas.openxmlformats.org/officeDocument/2006/relationships/slideLayout" Target="/ppt/slideLayouts/slideLayout8.xml" Id="R7c6f6fda3dce48f6" /><Relationship Type="http://schemas.openxmlformats.org/officeDocument/2006/relationships/slideLayout" Target="/ppt/slideLayouts/slideLayout9.xml" Id="R2da85cecad6042e1" /><Relationship Type="http://schemas.openxmlformats.org/officeDocument/2006/relationships/slideLayout" Target="/ppt/slideLayouts/slideLayout10.xml" Id="Rcd46a2dad3e24d4c" /><Relationship Type="http://schemas.openxmlformats.org/officeDocument/2006/relationships/slideLayout" Target="/ppt/slideLayouts/slideLayout11.xml" Id="R52091463c096407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85DD00C6-8F82-4F3F-B07D-9E39B454C2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C9B2030-22A1-47A1-BAE2-93D5761857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069BB38-BEC9-4530-8656-BC7C903F4BE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7EFB27C-A2EF-46E3-926B-7049E0FCF0B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260917F-EF63-407A-8A61-C467BBC0091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5265b48748d488c"/>
    <p:sldLayoutId xmlns:r="http://schemas.openxmlformats.org/officeDocument/2006/relationships" id="2147483650" r:id="R7bb71718c4ab4f84"/>
    <p:sldLayoutId xmlns:r="http://schemas.openxmlformats.org/officeDocument/2006/relationships" id="2147483651" r:id="R4d74b8e0526f4678"/>
    <p:sldLayoutId xmlns:r="http://schemas.openxmlformats.org/officeDocument/2006/relationships" id="2147483652" r:id="Rf835ac425af44c39"/>
    <p:sldLayoutId xmlns:r="http://schemas.openxmlformats.org/officeDocument/2006/relationships" id="2147483653" r:id="R9040eb6dbc6c4719"/>
    <p:sldLayoutId xmlns:r="http://schemas.openxmlformats.org/officeDocument/2006/relationships" id="2147483654" r:id="R0db26982c87542cf"/>
    <p:sldLayoutId xmlns:r="http://schemas.openxmlformats.org/officeDocument/2006/relationships" id="2147483655" r:id="Rde092c8f66c040c8"/>
    <p:sldLayoutId xmlns:r="http://schemas.openxmlformats.org/officeDocument/2006/relationships" id="2147483656" r:id="R7c6f6fda3dce48f6"/>
    <p:sldLayoutId xmlns:r="http://schemas.openxmlformats.org/officeDocument/2006/relationships" id="2147483657" r:id="R2da85cecad6042e1"/>
    <p:sldLayoutId xmlns:r="http://schemas.openxmlformats.org/officeDocument/2006/relationships" id="2147483658" r:id="Rcd46a2dad3e24d4c"/>
    <p:sldLayoutId xmlns:r="http://schemas.openxmlformats.org/officeDocument/2006/relationships" id="2147483659" r:id="R52091463c0964072"/>
  </p:sldLayoutIdLst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28876823a6a424f" /><Relationship Type="http://schemas.openxmlformats.org/officeDocument/2006/relationships/image" Target="/ppt/media/image.jpeg" Id="Ree9a46bb59c4428e" /><Relationship Type="http://schemas.openxmlformats.org/officeDocument/2006/relationships/image" Target="/ppt/media/image.svg" Id="R10f1256b030a43c3" /><Relationship Type="http://schemas.openxmlformats.org/officeDocument/2006/relationships/image" Target="/ppt/media/image2.jpeg" Id="Radf237ab952d4d83" /><Relationship Type="http://schemas.openxmlformats.org/officeDocument/2006/relationships/image" Target="/ppt/media/image2.svg" Id="Rd46f371a4bb94062" /><Relationship Type="http://schemas.openxmlformats.org/officeDocument/2006/relationships/image" Target="/ppt/media/image3.jpeg" Id="R1b122f274aec430c" /><Relationship Type="http://schemas.openxmlformats.org/officeDocument/2006/relationships/image" Target="/ppt/media/image3.svg" Id="Rea447990ee254224" /><Relationship Type="http://schemas.openxmlformats.org/officeDocument/2006/relationships/image" Target="/ppt/media/image4.jpeg" Id="R14c09bd0b1c44021" /><Relationship Type="http://schemas.openxmlformats.org/officeDocument/2006/relationships/image" Target="/ppt/media/image4.svg" Id="Ra51271341c734afc" /><Relationship Type="http://schemas.openxmlformats.org/officeDocument/2006/relationships/notesSlide" Target="/ppt/notesSlides/notesSlide1.xml" Id="R7e861af43a724e3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2aa5c70491141c3" /><Relationship Type="http://schemas.openxmlformats.org/officeDocument/2006/relationships/image" Target="/ppt/media/image4.jpeg" Id="R389ebc2580924a92" /><Relationship Type="http://schemas.openxmlformats.org/officeDocument/2006/relationships/image" Target="/ppt/media/image4.svg" Id="R72c62da2fa614abd" /><Relationship Type="http://schemas.openxmlformats.org/officeDocument/2006/relationships/notesSlide" Target="/ppt/notesSlides/notesSlide2.xml" Id="Ra48650d50cfc4f4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85c2103817a4514" /><Relationship Type="http://schemas.openxmlformats.org/officeDocument/2006/relationships/image" Target="/ppt/media/image5.jpeg" Id="R907dc224a43d4633" /><Relationship Type="http://schemas.openxmlformats.org/officeDocument/2006/relationships/image" Target="/ppt/media/image5.svg" Id="R68c4db1c88e541db" /><Relationship Type="http://schemas.openxmlformats.org/officeDocument/2006/relationships/image" Target="/ppt/media/image6.jpeg" Id="R4c9ed27c154a44d4" /><Relationship Type="http://schemas.openxmlformats.org/officeDocument/2006/relationships/image" Target="/ppt/media/image6.svg" Id="Rf150ab7bf08a4c8a" /><Relationship Type="http://schemas.openxmlformats.org/officeDocument/2006/relationships/image" Target="/ppt/media/image4.jpeg" Id="R61804b1e038a478e" /><Relationship Type="http://schemas.openxmlformats.org/officeDocument/2006/relationships/image" Target="/ppt/media/image4.svg" Id="Rc9162b40790f4795" /><Relationship Type="http://schemas.openxmlformats.org/officeDocument/2006/relationships/notesSlide" Target="/ppt/notesSlides/notesSlide3.xml" Id="R0621fa5189df402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fa995b9e8364109" /><Relationship Type="http://schemas.openxmlformats.org/officeDocument/2006/relationships/image" Target="/ppt/media/image4.jpeg" Id="Rff2390f3f12645e8" /><Relationship Type="http://schemas.openxmlformats.org/officeDocument/2006/relationships/image" Target="/ppt/media/image4.svg" Id="R8c51710fe8b148bc" /><Relationship Type="http://schemas.openxmlformats.org/officeDocument/2006/relationships/image" Target="/ppt/media/image.png" Id="R2ffe03f2a7ee4b84" /><Relationship Type="http://schemas.openxmlformats.org/officeDocument/2006/relationships/image" Target="/ppt/media/image2.png" Id="R49ed9c32e4d243d3" /><Relationship Type="http://schemas.openxmlformats.org/officeDocument/2006/relationships/notesSlide" Target="/ppt/notesSlides/notesSlide4.xml" Id="R417c9b6392c64ca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2a3c0b1751d498f" /><Relationship Type="http://schemas.openxmlformats.org/officeDocument/2006/relationships/image" Target="/ppt/media/image4.jpeg" Id="R9f1302acb2564514" /><Relationship Type="http://schemas.openxmlformats.org/officeDocument/2006/relationships/image" Target="/ppt/media/image4.svg" Id="Re3d0b2b0e07748b0" /><Relationship Type="http://schemas.openxmlformats.org/officeDocument/2006/relationships/image" Target="/ppt/media/image3.png" Id="R54962972522b4b61" /><Relationship Type="http://schemas.openxmlformats.org/officeDocument/2006/relationships/image" Target="/ppt/media/image7.svg" Id="Re0f5ce57698e4b89" /><Relationship Type="http://schemas.openxmlformats.org/officeDocument/2006/relationships/notesSlide" Target="/ppt/notesSlides/notesSlide5.xml" Id="Rfbea134fb552426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3f964eb840d44a9" /><Relationship Type="http://schemas.openxmlformats.org/officeDocument/2006/relationships/image" Target="/ppt/media/image4.jpeg" Id="R062bed83cfe44c74" /><Relationship Type="http://schemas.openxmlformats.org/officeDocument/2006/relationships/image" Target="/ppt/media/image4.svg" Id="Rac16658d60b443d7" /><Relationship Type="http://schemas.openxmlformats.org/officeDocument/2006/relationships/image" Target="/ppt/media/image3.png" Id="R90a42a2ea0434b57" /><Relationship Type="http://schemas.openxmlformats.org/officeDocument/2006/relationships/image" Target="/ppt/media/image7.svg" Id="R00ed640752ae436c" /><Relationship Type="http://schemas.openxmlformats.org/officeDocument/2006/relationships/notesSlide" Target="/ppt/notesSlides/notesSlide6.xml" Id="R49705f79bb6d418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c67058e95914a09" /><Relationship Type="http://schemas.openxmlformats.org/officeDocument/2006/relationships/image" Target="/ppt/media/image4.jpeg" Id="Re95538c365ff487a" /><Relationship Type="http://schemas.openxmlformats.org/officeDocument/2006/relationships/image" Target="/ppt/media/image4.svg" Id="Rd2a5cc575c7841bd" /><Relationship Type="http://schemas.openxmlformats.org/officeDocument/2006/relationships/image" Target="/ppt/media/image4.png" Id="R1054760a85f3406f" /><Relationship Type="http://schemas.openxmlformats.org/officeDocument/2006/relationships/image" Target="/ppt/media/image.jpeg" Id="R14bbbb12b3a84720" /><Relationship Type="http://schemas.openxmlformats.org/officeDocument/2006/relationships/notesSlide" Target="/ppt/notesSlides/notesSlide7.xml" Id="Rf9da6a1cfea4421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ff3892b96ec466c" /><Relationship Type="http://schemas.openxmlformats.org/officeDocument/2006/relationships/image" Target="/ppt/media/image4.jpeg" Id="R4b4347d612564cf9" /><Relationship Type="http://schemas.openxmlformats.org/officeDocument/2006/relationships/image" Target="/ppt/media/image4.svg" Id="R2db36e76f54b4e38" /><Relationship Type="http://schemas.openxmlformats.org/officeDocument/2006/relationships/image" Target="/ppt/media/image4.png" Id="R5599ac37868d4735" /><Relationship Type="http://schemas.openxmlformats.org/officeDocument/2006/relationships/image" Target="/ppt/media/image.jpeg" Id="R7d3aabeff838445e" /><Relationship Type="http://schemas.openxmlformats.org/officeDocument/2006/relationships/notesSlide" Target="/ppt/notesSlides/notesSlide8.xml" Id="R5d04b28240ad4e5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0e91b6834c84f69" /><Relationship Type="http://schemas.openxmlformats.org/officeDocument/2006/relationships/image" Target="/ppt/media/image4.jpeg" Id="R572d0d8d33c94989" /><Relationship Type="http://schemas.openxmlformats.org/officeDocument/2006/relationships/image" Target="/ppt/media/image4.svg" Id="R7eba7979d5954e87" /><Relationship Type="http://schemas.openxmlformats.org/officeDocument/2006/relationships/image" Target="/ppt/media/image4.png" Id="R6506c1df57804068" /><Relationship Type="http://schemas.openxmlformats.org/officeDocument/2006/relationships/image" Target="/ppt/media/image.jpeg" Id="R01747d1563b84dc5" /><Relationship Type="http://schemas.openxmlformats.org/officeDocument/2006/relationships/notesSlide" Target="/ppt/notesSlides/notesSlide9.xml" Id="Rb921eafc8aa6407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3a62b40379f4b50" /><Relationship Type="http://schemas.openxmlformats.org/officeDocument/2006/relationships/image" Target="/ppt/media/image4.jpeg" Id="R726d48acf0164362" /><Relationship Type="http://schemas.openxmlformats.org/officeDocument/2006/relationships/image" Target="/ppt/media/image4.svg" Id="Rbbf6cbb3dde043ff" /><Relationship Type="http://schemas.openxmlformats.org/officeDocument/2006/relationships/image" Target="/ppt/media/image4.png" Id="Raef354793f8f40a3" /><Relationship Type="http://schemas.openxmlformats.org/officeDocument/2006/relationships/image" Target="/ppt/media/image.jpeg" Id="R7443b0beb3844c6d" /><Relationship Type="http://schemas.openxmlformats.org/officeDocument/2006/relationships/notesSlide" Target="/ppt/notesSlides/notesSlide10.xml" Id="Rfdc2ba81833247f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722d0d538b0465f" /><Relationship Type="http://schemas.openxmlformats.org/officeDocument/2006/relationships/image" Target="/ppt/media/image4.jpeg" Id="R59cc52e732c5406a" /><Relationship Type="http://schemas.openxmlformats.org/officeDocument/2006/relationships/image" Target="/ppt/media/image4.svg" Id="R3008c53c131744ff" /><Relationship Type="http://schemas.openxmlformats.org/officeDocument/2006/relationships/image" Target="/ppt/media/image4.png" Id="Re35fb8b01d9246f9" /><Relationship Type="http://schemas.openxmlformats.org/officeDocument/2006/relationships/image" Target="/ppt/media/image2.jpeg" Id="R7077efbf6e8c4cf4" /><Relationship Type="http://schemas.openxmlformats.org/officeDocument/2006/relationships/notesSlide" Target="/ppt/notesSlides/notesSlide11.xml" Id="Rc59fecf5399c4b1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b89d5ef8d9e4dfc" /><Relationship Type="http://schemas.openxmlformats.org/officeDocument/2006/relationships/image" Target="/ppt/media/image4.jpeg" Id="R9c61f0476d1a401e" /><Relationship Type="http://schemas.openxmlformats.org/officeDocument/2006/relationships/image" Target="/ppt/media/image4.svg" Id="Rb5650917c7384b02" /><Relationship Type="http://schemas.openxmlformats.org/officeDocument/2006/relationships/image" Target="/ppt/media/image4.png" Id="Rffd06dab4caa4ae9" /><Relationship Type="http://schemas.openxmlformats.org/officeDocument/2006/relationships/image" Target="/ppt/media/image2.jpeg" Id="Rd37dc52356a84baa" /><Relationship Type="http://schemas.openxmlformats.org/officeDocument/2006/relationships/notesSlide" Target="/ppt/notesSlides/notesSlide12.xml" Id="R9cf829f6e87248a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46a6d7cdb264ef3" /><Relationship Type="http://schemas.openxmlformats.org/officeDocument/2006/relationships/image" Target="/ppt/media/image4.jpeg" Id="R7d89870c71a34c11" /><Relationship Type="http://schemas.openxmlformats.org/officeDocument/2006/relationships/image" Target="/ppt/media/image4.svg" Id="R3a9cda5a55cb4fcb" /><Relationship Type="http://schemas.openxmlformats.org/officeDocument/2006/relationships/image" Target="/ppt/media/image2.jpeg" Id="R83000287fb7a4b3e" /><Relationship Type="http://schemas.openxmlformats.org/officeDocument/2006/relationships/image" Target="/ppt/media/image4.png" Id="R3bea3bce495e42b2" /><Relationship Type="http://schemas.openxmlformats.org/officeDocument/2006/relationships/notesSlide" Target="/ppt/notesSlides/notesSlide13.xml" Id="R9d47d493c15d46d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3e8c52c2c064698" /><Relationship Type="http://schemas.openxmlformats.org/officeDocument/2006/relationships/image" Target="/ppt/media/image4.jpeg" Id="R917593a6d2684026" /><Relationship Type="http://schemas.openxmlformats.org/officeDocument/2006/relationships/image" Target="/ppt/media/image4.svg" Id="Re1dd82a8dfa042a4" /><Relationship Type="http://schemas.openxmlformats.org/officeDocument/2006/relationships/image" Target="/ppt/media/image4.png" Id="R834ffc7ff0a44ef9" /><Relationship Type="http://schemas.openxmlformats.org/officeDocument/2006/relationships/image" Target="/ppt/media/image2.jpeg" Id="Ra7b7bcf8fbce481d" /><Relationship Type="http://schemas.openxmlformats.org/officeDocument/2006/relationships/notesSlide" Target="/ppt/notesSlides/notesSlide14.xml" Id="Rf563a6fd807a468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49f238c5d504c76" /><Relationship Type="http://schemas.openxmlformats.org/officeDocument/2006/relationships/image" Target="/ppt/media/image4.jpeg" Id="Ra9d58fa625fd4544" /><Relationship Type="http://schemas.openxmlformats.org/officeDocument/2006/relationships/image" Target="/ppt/media/image4.svg" Id="R5d2c36da45a84a7b" /><Relationship Type="http://schemas.openxmlformats.org/officeDocument/2006/relationships/image" Target="/ppt/media/image4.png" Id="R0e8a113f917f483b" /><Relationship Type="http://schemas.openxmlformats.org/officeDocument/2006/relationships/image" Target="/ppt/media/image3.jpeg" Id="R5701c138f0c64102" /><Relationship Type="http://schemas.openxmlformats.org/officeDocument/2006/relationships/notesSlide" Target="/ppt/notesSlides/notesSlide15.xml" Id="Re1ad9981e44347f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e4176ea4ec84f9e" /><Relationship Type="http://schemas.openxmlformats.org/officeDocument/2006/relationships/image" Target="/ppt/media/image4.jpeg" Id="Rff55953837ca4b27" /><Relationship Type="http://schemas.openxmlformats.org/officeDocument/2006/relationships/image" Target="/ppt/media/image4.svg" Id="Re80637c1dbe3478c" /><Relationship Type="http://schemas.openxmlformats.org/officeDocument/2006/relationships/image" Target="/ppt/media/image4.png" Id="R7e3627fe4aab4cc4" /><Relationship Type="http://schemas.openxmlformats.org/officeDocument/2006/relationships/image" Target="/ppt/media/image3.jpeg" Id="R9504ed47d028413e" /><Relationship Type="http://schemas.openxmlformats.org/officeDocument/2006/relationships/notesSlide" Target="/ppt/notesSlides/notesSlide16.xml" Id="R38c1bbb15d9e463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2c720ac645e43ac" /><Relationship Type="http://schemas.openxmlformats.org/officeDocument/2006/relationships/image" Target="/ppt/media/image4.jpeg" Id="R59da9c131a1a43b6" /><Relationship Type="http://schemas.openxmlformats.org/officeDocument/2006/relationships/image" Target="/ppt/media/image4.svg" Id="Rd7508ccc179e4234" /><Relationship Type="http://schemas.openxmlformats.org/officeDocument/2006/relationships/image" Target="/ppt/media/image3.jpeg" Id="R84a4194c3ba744d4" /><Relationship Type="http://schemas.openxmlformats.org/officeDocument/2006/relationships/image" Target="/ppt/media/image4.png" Id="R1ac989f323854fe2" /><Relationship Type="http://schemas.openxmlformats.org/officeDocument/2006/relationships/notesSlide" Target="/ppt/notesSlides/notesSlide17.xml" Id="Reb252145f018436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323a941ffb84274" /><Relationship Type="http://schemas.openxmlformats.org/officeDocument/2006/relationships/image" Target="/ppt/media/image4.jpeg" Id="R926d0d1c8ebe4c29" /><Relationship Type="http://schemas.openxmlformats.org/officeDocument/2006/relationships/image" Target="/ppt/media/image4.svg" Id="Rd7d5be2a47b44a8d" /><Relationship Type="http://schemas.openxmlformats.org/officeDocument/2006/relationships/image" Target="/ppt/media/image4.png" Id="R88b12b76a83844d4" /><Relationship Type="http://schemas.openxmlformats.org/officeDocument/2006/relationships/image" Target="/ppt/media/image3.jpeg" Id="R5389079faf9f497f" /><Relationship Type="http://schemas.openxmlformats.org/officeDocument/2006/relationships/notesSlide" Target="/ppt/notesSlides/notesSlide18.xml" Id="Rd25761d1e32848f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93a080161a04d04" /><Relationship Type="http://schemas.openxmlformats.org/officeDocument/2006/relationships/image" Target="/ppt/media/image4.jpeg" Id="R3e2f3c3fc2924fe4" /><Relationship Type="http://schemas.openxmlformats.org/officeDocument/2006/relationships/image" Target="/ppt/media/image4.svg" Id="Ra2e05b83bfac48b4" /><Relationship Type="http://schemas.openxmlformats.org/officeDocument/2006/relationships/image" Target="/ppt/media/image5.png" Id="R520875cd72604ddd" /><Relationship Type="http://schemas.openxmlformats.org/officeDocument/2006/relationships/notesSlide" Target="/ppt/notesSlides/notesSlide19.xml" Id="R00a9ae55f574417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890c476fae94caf" /><Relationship Type="http://schemas.openxmlformats.org/officeDocument/2006/relationships/image" Target="/ppt/media/image4.jpeg" Id="R83b79fecdaa84fdd" /><Relationship Type="http://schemas.openxmlformats.org/officeDocument/2006/relationships/image" Target="/ppt/media/image4.svg" Id="Ra49edb7f0d244519" /><Relationship Type="http://schemas.openxmlformats.org/officeDocument/2006/relationships/image" Target="/ppt/media/image5.png" Id="R10e52d42e6e04cef" /><Relationship Type="http://schemas.openxmlformats.org/officeDocument/2006/relationships/notesSlide" Target="/ppt/notesSlides/notesSlide20.xml" Id="R61eaac0b4300476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41b1ca2ff914f34" /><Relationship Type="http://schemas.openxmlformats.org/officeDocument/2006/relationships/image" Target="/ppt/media/image4.jpeg" Id="R4d76e7a0b5b84089" /><Relationship Type="http://schemas.openxmlformats.org/officeDocument/2006/relationships/image" Target="/ppt/media/image4.svg" Id="Rb119ed936dd040b0" /><Relationship Type="http://schemas.openxmlformats.org/officeDocument/2006/relationships/image" Target="/ppt/media/image5.png" Id="R98bde068445e4472" /><Relationship Type="http://schemas.openxmlformats.org/officeDocument/2006/relationships/notesSlide" Target="/ppt/notesSlides/notesSlide21.xml" Id="R4fc3b84a7a054eb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cf937548c3d4db0" /><Relationship Type="http://schemas.openxmlformats.org/officeDocument/2006/relationships/image" Target="/ppt/media/image4.jpeg" Id="Rab2388520bcc474e" /><Relationship Type="http://schemas.openxmlformats.org/officeDocument/2006/relationships/image" Target="/ppt/media/image4.svg" Id="Rfe786f6b3ca84621" /><Relationship Type="http://schemas.openxmlformats.org/officeDocument/2006/relationships/image" Target="/ppt/media/image5.png" Id="Rd5b8bd24caee4a3c" /><Relationship Type="http://schemas.openxmlformats.org/officeDocument/2006/relationships/notesSlide" Target="/ppt/notesSlides/notesSlide22.xml" Id="R94da603bba31477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0ef772b31b54163" /><Relationship Type="http://schemas.openxmlformats.org/officeDocument/2006/relationships/image" Target="/ppt/media/image4.jpeg" Id="Rec4e769bc5b84b38" /><Relationship Type="http://schemas.openxmlformats.org/officeDocument/2006/relationships/image" Target="/ppt/media/image4.svg" Id="R35df2c5913ac427f" /><Relationship Type="http://schemas.openxmlformats.org/officeDocument/2006/relationships/image" Target="/ppt/media/image5.png" Id="R4009857ad59e459b" /><Relationship Type="http://schemas.openxmlformats.org/officeDocument/2006/relationships/image" Target="/ppt/media/image5.jpeg" Id="R12075b90d04e40e3" /><Relationship Type="http://schemas.openxmlformats.org/officeDocument/2006/relationships/notesSlide" Target="/ppt/notesSlides/notesSlide23.xml" Id="R5b73622259d54e6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03558b2a51f42e8" /><Relationship Type="http://schemas.openxmlformats.org/officeDocument/2006/relationships/image" Target="/ppt/media/image4.jpeg" Id="Rf24d6644eb6f4ccb" /><Relationship Type="http://schemas.openxmlformats.org/officeDocument/2006/relationships/image" Target="/ppt/media/image4.svg" Id="Rfa32fe6ff33a4723" /><Relationship Type="http://schemas.openxmlformats.org/officeDocument/2006/relationships/image" Target="/ppt/media/image5.png" Id="Ra9f234cc719949ea" /><Relationship Type="http://schemas.openxmlformats.org/officeDocument/2006/relationships/image" Target="/ppt/media/image5.jpeg" Id="R79fe7988f94a4809" /><Relationship Type="http://schemas.openxmlformats.org/officeDocument/2006/relationships/notesSlide" Target="/ppt/notesSlides/notesSlide24.xml" Id="R436a020a84c3467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f31ed3e26ac4d29" /><Relationship Type="http://schemas.openxmlformats.org/officeDocument/2006/relationships/image" Target="/ppt/media/image4.jpeg" Id="R4601a74224bf40fd" /><Relationship Type="http://schemas.openxmlformats.org/officeDocument/2006/relationships/image" Target="/ppt/media/image4.svg" Id="R445d1c9a262045e4" /><Relationship Type="http://schemas.openxmlformats.org/officeDocument/2006/relationships/image" Target="/ppt/media/image5.jpeg" Id="R95b57f38170a4bf0" /><Relationship Type="http://schemas.openxmlformats.org/officeDocument/2006/relationships/image" Target="/ppt/media/image5.png" Id="R14ce6f6cf148452b" /><Relationship Type="http://schemas.openxmlformats.org/officeDocument/2006/relationships/notesSlide" Target="/ppt/notesSlides/notesSlide25.xml" Id="R76ccfd8c1a7742b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7e1dd3cd0674438" /><Relationship Type="http://schemas.openxmlformats.org/officeDocument/2006/relationships/image" Target="/ppt/media/image4.jpeg" Id="Re2b4d4b97a4648da" /><Relationship Type="http://schemas.openxmlformats.org/officeDocument/2006/relationships/image" Target="/ppt/media/image4.svg" Id="R8ccc1a6b374d4f4f" /><Relationship Type="http://schemas.openxmlformats.org/officeDocument/2006/relationships/image" Target="/ppt/media/image5.png" Id="R15aeec2d59aa49b6" /><Relationship Type="http://schemas.openxmlformats.org/officeDocument/2006/relationships/image" Target="/ppt/media/image5.jpeg" Id="R7a15b410cb3f44da" /><Relationship Type="http://schemas.openxmlformats.org/officeDocument/2006/relationships/notesSlide" Target="/ppt/notesSlides/notesSlide26.xml" Id="Rda082f1645504b8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3be747a718144a7" /><Relationship Type="http://schemas.openxmlformats.org/officeDocument/2006/relationships/image" Target="/ppt/media/image4.jpeg" Id="R8f0d293954404fd5" /><Relationship Type="http://schemas.openxmlformats.org/officeDocument/2006/relationships/image" Target="/ppt/media/image4.svg" Id="Ra581d3f80d434883" /><Relationship Type="http://schemas.openxmlformats.org/officeDocument/2006/relationships/image" Target="/ppt/media/image5.png" Id="R2a4798327b7545d2" /><Relationship Type="http://schemas.openxmlformats.org/officeDocument/2006/relationships/image" Target="/ppt/media/image6.jpeg" Id="Ra9d8b24f46f24569" /><Relationship Type="http://schemas.openxmlformats.org/officeDocument/2006/relationships/notesSlide" Target="/ppt/notesSlides/notesSlide27.xml" Id="R150cca6bf22c4c1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0ec27d2d7124cc7" /><Relationship Type="http://schemas.openxmlformats.org/officeDocument/2006/relationships/image" Target="/ppt/media/image4.jpeg" Id="Ra3dab869f80e44dd" /><Relationship Type="http://schemas.openxmlformats.org/officeDocument/2006/relationships/image" Target="/ppt/media/image4.svg" Id="R307d0d13588b4859" /><Relationship Type="http://schemas.openxmlformats.org/officeDocument/2006/relationships/image" Target="/ppt/media/image5.png" Id="R23cd71829f1e406b" /><Relationship Type="http://schemas.openxmlformats.org/officeDocument/2006/relationships/image" Target="/ppt/media/image6.jpeg" Id="R8a4f78bc28a54187" /><Relationship Type="http://schemas.openxmlformats.org/officeDocument/2006/relationships/notesSlide" Target="/ppt/notesSlides/notesSlide28.xml" Id="Rf50129f451da407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0f96a4433be4730" /><Relationship Type="http://schemas.openxmlformats.org/officeDocument/2006/relationships/image" Target="/ppt/media/image4.jpeg" Id="Re5f3b19b5d79406d" /><Relationship Type="http://schemas.openxmlformats.org/officeDocument/2006/relationships/image" Target="/ppt/media/image4.svg" Id="R7deac50d5da049b5" /><Relationship Type="http://schemas.openxmlformats.org/officeDocument/2006/relationships/image" Target="/ppt/media/image6.jpeg" Id="Rb2e9332f77f347b5" /><Relationship Type="http://schemas.openxmlformats.org/officeDocument/2006/relationships/image" Target="/ppt/media/image5.png" Id="R1d472bcdfca643f7" /><Relationship Type="http://schemas.openxmlformats.org/officeDocument/2006/relationships/notesSlide" Target="/ppt/notesSlides/notesSlide29.xml" Id="Rba2c39322bb640c2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dd5d3ea62624239" /><Relationship Type="http://schemas.openxmlformats.org/officeDocument/2006/relationships/image" Target="/ppt/media/image4.jpeg" Id="Rf74215c18d454e3f" /><Relationship Type="http://schemas.openxmlformats.org/officeDocument/2006/relationships/image" Target="/ppt/media/image4.svg" Id="R553769a957b94b02" /><Relationship Type="http://schemas.openxmlformats.org/officeDocument/2006/relationships/image" Target="/ppt/media/image5.png" Id="R74eb3b612c0d4c30" /><Relationship Type="http://schemas.openxmlformats.org/officeDocument/2006/relationships/image" Target="/ppt/media/image6.jpeg" Id="R78039567972b455e" /><Relationship Type="http://schemas.openxmlformats.org/officeDocument/2006/relationships/notesSlide" Target="/ppt/notesSlides/notesSlide30.xml" Id="R5c96668a7f71489c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f62750086cc4d9d" /><Relationship Type="http://schemas.openxmlformats.org/officeDocument/2006/relationships/image" Target="/ppt/media/image.jpeg" Id="R595f794d25534c19" /><Relationship Type="http://schemas.openxmlformats.org/officeDocument/2006/relationships/image" Target="/ppt/media/image.svg" Id="Rb6d80e6c681f404e" /><Relationship Type="http://schemas.openxmlformats.org/officeDocument/2006/relationships/image" Target="/ppt/media/image2.jpeg" Id="R6b3ab0c0334149dd" /><Relationship Type="http://schemas.openxmlformats.org/officeDocument/2006/relationships/image" Target="/ppt/media/image2.svg" Id="Rac1183d3170c4d20" /><Relationship Type="http://schemas.openxmlformats.org/officeDocument/2006/relationships/image" Target="/ppt/media/image3.jpeg" Id="R3c22f8dc66174ec0" /><Relationship Type="http://schemas.openxmlformats.org/officeDocument/2006/relationships/image" Target="/ppt/media/image3.svg" Id="R727da57ab1d9456f" /><Relationship Type="http://schemas.openxmlformats.org/officeDocument/2006/relationships/image" Target="/ppt/media/image3.png" Id="Re169d4f423c2407c" /><Relationship Type="http://schemas.openxmlformats.org/officeDocument/2006/relationships/image" Target="/ppt/media/image7.svg" Id="R2b9167618abf49c5" /><Relationship Type="http://schemas.openxmlformats.org/officeDocument/2006/relationships/notesSlide" Target="/ppt/notesSlides/notesSlide31.xml" Id="R3929e4cb73f24981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e261864c83447e1" /><Relationship Type="http://schemas.openxmlformats.org/officeDocument/2006/relationships/image" Target="/ppt/media/image.jpeg" Id="R118eb99d701e4457" /><Relationship Type="http://schemas.openxmlformats.org/officeDocument/2006/relationships/image" Target="/ppt/media/image.svg" Id="R3a426d3876b74b08" /><Relationship Type="http://schemas.openxmlformats.org/officeDocument/2006/relationships/image" Target="/ppt/media/image2.jpeg" Id="Rb0ecc9e209ca40bc" /><Relationship Type="http://schemas.openxmlformats.org/officeDocument/2006/relationships/image" Target="/ppt/media/image2.svg" Id="Rda955bde4b2f40ba" /><Relationship Type="http://schemas.openxmlformats.org/officeDocument/2006/relationships/image" Target="/ppt/media/image3.jpeg" Id="Rac166885f6994803" /><Relationship Type="http://schemas.openxmlformats.org/officeDocument/2006/relationships/image" Target="/ppt/media/image3.svg" Id="R3045d0431fba4938" /><Relationship Type="http://schemas.openxmlformats.org/officeDocument/2006/relationships/image" Target="/ppt/media/image3.png" Id="Ra58699a3393945d6" /><Relationship Type="http://schemas.openxmlformats.org/officeDocument/2006/relationships/image" Target="/ppt/media/image7.svg" Id="R36eac80b23cb4b01" /><Relationship Type="http://schemas.openxmlformats.org/officeDocument/2006/relationships/notesSlide" Target="/ppt/notesSlides/notesSlide32.xml" Id="R8faa311a95154e79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f8e397001ab401b" /><Relationship Type="http://schemas.openxmlformats.org/officeDocument/2006/relationships/image" Target="/ppt/media/image.jpeg" Id="Rf0dbe696a5254468" /><Relationship Type="http://schemas.openxmlformats.org/officeDocument/2006/relationships/image" Target="/ppt/media/image.svg" Id="R93172a0726324c9d" /><Relationship Type="http://schemas.openxmlformats.org/officeDocument/2006/relationships/image" Target="/ppt/media/image2.jpeg" Id="R00ac08a491f74c52" /><Relationship Type="http://schemas.openxmlformats.org/officeDocument/2006/relationships/image" Target="/ppt/media/image2.svg" Id="R8134373bb4224948" /><Relationship Type="http://schemas.openxmlformats.org/officeDocument/2006/relationships/image" Target="/ppt/media/image3.jpeg" Id="R614a144be7d64680" /><Relationship Type="http://schemas.openxmlformats.org/officeDocument/2006/relationships/image" Target="/ppt/media/image3.svg" Id="Re38966f11e764965" /><Relationship Type="http://schemas.openxmlformats.org/officeDocument/2006/relationships/image" Target="/ppt/media/image3.png" Id="R2965c9f025b64d2f" /><Relationship Type="http://schemas.openxmlformats.org/officeDocument/2006/relationships/image" Target="/ppt/media/image7.svg" Id="Red6e09f3d63e461b" /><Relationship Type="http://schemas.openxmlformats.org/officeDocument/2006/relationships/notesSlide" Target="/ppt/notesSlides/notesSlide33.xml" Id="R92c9d9039f464cab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863bb4826114a49" /><Relationship Type="http://schemas.openxmlformats.org/officeDocument/2006/relationships/image" Target="/ppt/media/image.jpeg" Id="R6c9a7a37812f4158" /><Relationship Type="http://schemas.openxmlformats.org/officeDocument/2006/relationships/image" Target="/ppt/media/image.svg" Id="R05703cf61dfb4af0" /><Relationship Type="http://schemas.openxmlformats.org/officeDocument/2006/relationships/image" Target="/ppt/media/image2.jpeg" Id="Rcb55b584b549431c" /><Relationship Type="http://schemas.openxmlformats.org/officeDocument/2006/relationships/image" Target="/ppt/media/image2.svg" Id="R17e6cc21de134af2" /><Relationship Type="http://schemas.openxmlformats.org/officeDocument/2006/relationships/image" Target="/ppt/media/image3.jpeg" Id="R89e96d807f9c45c2" /><Relationship Type="http://schemas.openxmlformats.org/officeDocument/2006/relationships/image" Target="/ppt/media/image3.svg" Id="Ree6f95a97cff4e4a" /><Relationship Type="http://schemas.openxmlformats.org/officeDocument/2006/relationships/image" Target="/ppt/media/image3.png" Id="R103226d4f33b4539" /><Relationship Type="http://schemas.openxmlformats.org/officeDocument/2006/relationships/image" Target="/ppt/media/image7.svg" Id="Rc66f780c9905496b" /><Relationship Type="http://schemas.openxmlformats.org/officeDocument/2006/relationships/image" Target="/ppt/media/image4.png" Id="R7d9a3ec6a40b4865" /><Relationship Type="http://schemas.openxmlformats.org/officeDocument/2006/relationships/notesSlide" Target="/ppt/notesSlides/notesSlide34.xml" Id="R6c9ca78a003b4968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43321df496f494f" /><Relationship Type="http://schemas.openxmlformats.org/officeDocument/2006/relationships/image" Target="/ppt/media/image.jpeg" Id="Rec1ad9c063474478" /><Relationship Type="http://schemas.openxmlformats.org/officeDocument/2006/relationships/image" Target="/ppt/media/image.svg" Id="R93f93aa62eeb46ac" /><Relationship Type="http://schemas.openxmlformats.org/officeDocument/2006/relationships/image" Target="/ppt/media/image2.jpeg" Id="R5eddccd6c07b49a4" /><Relationship Type="http://schemas.openxmlformats.org/officeDocument/2006/relationships/image" Target="/ppt/media/image2.svg" Id="Rd11641334d354452" /><Relationship Type="http://schemas.openxmlformats.org/officeDocument/2006/relationships/image" Target="/ppt/media/image3.jpeg" Id="R7728e0c87daf48e4" /><Relationship Type="http://schemas.openxmlformats.org/officeDocument/2006/relationships/image" Target="/ppt/media/image3.svg" Id="R88ab3508986142b9" /><Relationship Type="http://schemas.openxmlformats.org/officeDocument/2006/relationships/image" Target="/ppt/media/image3.png" Id="R830cb29baf5f43aa" /><Relationship Type="http://schemas.openxmlformats.org/officeDocument/2006/relationships/image" Target="/ppt/media/image7.svg" Id="R3db86e799df84b72" /><Relationship Type="http://schemas.openxmlformats.org/officeDocument/2006/relationships/image" Target="/ppt/media/image4.png" Id="Re6fdc312bb284552" /><Relationship Type="http://schemas.openxmlformats.org/officeDocument/2006/relationships/notesSlide" Target="/ppt/notesSlides/notesSlide35.xml" Id="R36a69c172ff24e73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a1b2f02cdac4136" /><Relationship Type="http://schemas.openxmlformats.org/officeDocument/2006/relationships/image" Target="/ppt/media/image.jpeg" Id="Re75ab26825184ba4" /><Relationship Type="http://schemas.openxmlformats.org/officeDocument/2006/relationships/image" Target="/ppt/media/image.svg" Id="Rcb1b3917b7884e8c" /><Relationship Type="http://schemas.openxmlformats.org/officeDocument/2006/relationships/image" Target="/ppt/media/image2.jpeg" Id="Ree7392d70f5749a8" /><Relationship Type="http://schemas.openxmlformats.org/officeDocument/2006/relationships/image" Target="/ppt/media/image2.svg" Id="R909f95ae11234e95" /><Relationship Type="http://schemas.openxmlformats.org/officeDocument/2006/relationships/image" Target="/ppt/media/image3.jpeg" Id="R03b50033e00145c8" /><Relationship Type="http://schemas.openxmlformats.org/officeDocument/2006/relationships/image" Target="/ppt/media/image3.svg" Id="R685d8c01f59d4d0d" /><Relationship Type="http://schemas.openxmlformats.org/officeDocument/2006/relationships/image" Target="/ppt/media/image3.png" Id="Ra2562e49d83b4c31" /><Relationship Type="http://schemas.openxmlformats.org/officeDocument/2006/relationships/image" Target="/ppt/media/image7.svg" Id="R71f68b78b8794f78" /><Relationship Type="http://schemas.openxmlformats.org/officeDocument/2006/relationships/image" Target="/ppt/media/image5.png" Id="R3ac662b15a0a497f" /><Relationship Type="http://schemas.openxmlformats.org/officeDocument/2006/relationships/notesSlide" Target="/ppt/notesSlides/notesSlide36.xml" Id="R87d92dde804a4ee0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27484a344d24c9c" /><Relationship Type="http://schemas.openxmlformats.org/officeDocument/2006/relationships/image" Target="/ppt/media/image.jpeg" Id="R6808835566074877" /><Relationship Type="http://schemas.openxmlformats.org/officeDocument/2006/relationships/image" Target="/ppt/media/image.svg" Id="R4da38bad9ffe4199" /><Relationship Type="http://schemas.openxmlformats.org/officeDocument/2006/relationships/image" Target="/ppt/media/image2.jpeg" Id="R64765be445b74a49" /><Relationship Type="http://schemas.openxmlformats.org/officeDocument/2006/relationships/image" Target="/ppt/media/image2.svg" Id="R9495b17c5e9148e5" /><Relationship Type="http://schemas.openxmlformats.org/officeDocument/2006/relationships/image" Target="/ppt/media/image3.jpeg" Id="Rd07b7099841f4296" /><Relationship Type="http://schemas.openxmlformats.org/officeDocument/2006/relationships/image" Target="/ppt/media/image3.svg" Id="R241925ebef174a24" /><Relationship Type="http://schemas.openxmlformats.org/officeDocument/2006/relationships/image" Target="/ppt/media/image3.png" Id="Rb1894b3a6b4344f8" /><Relationship Type="http://schemas.openxmlformats.org/officeDocument/2006/relationships/image" Target="/ppt/media/image7.svg" Id="Rbd07a8f537a64bd5" /><Relationship Type="http://schemas.openxmlformats.org/officeDocument/2006/relationships/image" Target="/ppt/media/image5.png" Id="R0fa83c871e744bb6" /><Relationship Type="http://schemas.openxmlformats.org/officeDocument/2006/relationships/notesSlide" Target="/ppt/notesSlides/notesSlide37.xml" Id="R3d671aa251094edb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df97671b53f4520" /><Relationship Type="http://schemas.openxmlformats.org/officeDocument/2006/relationships/image" Target="/ppt/media/image.jpeg" Id="Rf4457dd706b147ce" /><Relationship Type="http://schemas.openxmlformats.org/officeDocument/2006/relationships/image" Target="/ppt/media/image.svg" Id="R5dd168cd8ef74048" /><Relationship Type="http://schemas.openxmlformats.org/officeDocument/2006/relationships/image" Target="/ppt/media/image2.jpeg" Id="R81c0cfb537c545c3" /><Relationship Type="http://schemas.openxmlformats.org/officeDocument/2006/relationships/image" Target="/ppt/media/image2.svg" Id="R0dfa5296617f4540" /><Relationship Type="http://schemas.openxmlformats.org/officeDocument/2006/relationships/image" Target="/ppt/media/image3.jpeg" Id="R5b80477cec2841bc" /><Relationship Type="http://schemas.openxmlformats.org/officeDocument/2006/relationships/image" Target="/ppt/media/image3.svg" Id="R65faa3fcc7a44fbf" /><Relationship Type="http://schemas.openxmlformats.org/officeDocument/2006/relationships/image" Target="/ppt/media/image3.png" Id="R307e14d24a7e4777" /><Relationship Type="http://schemas.openxmlformats.org/officeDocument/2006/relationships/image" Target="/ppt/media/image7.svg" Id="R3504eb7b96874663" /><Relationship Type="http://schemas.openxmlformats.org/officeDocument/2006/relationships/notesSlide" Target="/ppt/notesSlides/notesSlide38.xml" Id="R16a596ead4be40ed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381d22e965b4d2d" /><Relationship Type="http://schemas.openxmlformats.org/officeDocument/2006/relationships/image" Target="/ppt/media/image.jpeg" Id="R56c00b22e48b4631" /><Relationship Type="http://schemas.openxmlformats.org/officeDocument/2006/relationships/image" Target="/ppt/media/image.svg" Id="R8b2952a0317f45d4" /><Relationship Type="http://schemas.openxmlformats.org/officeDocument/2006/relationships/image" Target="/ppt/media/image2.jpeg" Id="Re9a564dca5244b1e" /><Relationship Type="http://schemas.openxmlformats.org/officeDocument/2006/relationships/image" Target="/ppt/media/image2.svg" Id="R60fd94b9c36f4edb" /><Relationship Type="http://schemas.openxmlformats.org/officeDocument/2006/relationships/image" Target="/ppt/media/image3.jpeg" Id="R637b4d6eaf704f6e" /><Relationship Type="http://schemas.openxmlformats.org/officeDocument/2006/relationships/image" Target="/ppt/media/image3.svg" Id="Rc60a700652d54cab" /><Relationship Type="http://schemas.openxmlformats.org/officeDocument/2006/relationships/image" Target="/ppt/media/image4.jpeg" Id="R5f1914aa634c4226" /><Relationship Type="http://schemas.openxmlformats.org/officeDocument/2006/relationships/image" Target="/ppt/media/image4.svg" Id="R046af138ddbd4c1d" /><Relationship Type="http://schemas.openxmlformats.org/officeDocument/2006/relationships/notesSlide" Target="/ppt/notesSlides/notesSlide39.xml" Id="R5f8766b3d0cc474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EFD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DD58BFA0-203E-4BCB-A925-FDD7A9AED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832400" y="7194055"/>
            <a:ext cx="6103108" cy="4114800"/>
          </a:xfrm>
          <a:custGeom xmlns:a="http://schemas.openxmlformats.org/drawingml/2006/main">
            <a:rect l="l" t="t" r="r" b="b"/>
            <a:pathLst>
              <a:path w="6103108" h="4114800">
                <a:moveTo>
                  <a:pt x="0" y="0"/>
                </a:moveTo>
                <a:lnTo>
                  <a:pt x="6103108" y="0"/>
                </a:lnTo>
                <a:lnTo>
                  <a:pt x="61031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e9a46bb59c4428e">
              <a:extLst>
                <a:ext uri="{96DAC541-7B7A-43D3-8B79-37D633B846F1}">
                  <asvg:svgBlip xmlns:asvg="http://schemas.microsoft.com/office/drawing/2016/SVG/main" r:embed="R10f1256b030a43c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13641A3A-6F52-45F2-BA25-982B3A977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1">
            <a:off x="12184892" y="-238125"/>
            <a:ext cx="6103108" cy="4114800"/>
          </a:xfrm>
          <a:custGeom xmlns:a="http://schemas.openxmlformats.org/drawingml/2006/main">
            <a:rect l="l" t="t" r="r" b="b"/>
            <a:pathLst>
              <a:path w="6103108" h="4114800">
                <a:moveTo>
                  <a:pt x="610310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103108" y="0"/>
                </a:lnTo>
                <a:lnTo>
                  <a:pt x="6103108" y="41148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e9a46bb59c4428e">
              <a:extLst>
                <a:ext uri="{96DAC541-7B7A-43D3-8B79-37D633B846F1}">
                  <asvg:svgBlip xmlns:asvg="http://schemas.microsoft.com/office/drawing/2016/SVG/main" r:embed="R10f1256b030a43c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1A0D76E1-8B42-4B10-8FE4-6C378D78C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13428" y="6533208"/>
            <a:ext cx="8261144" cy="6608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ts val="5482"/>
              </a:lnSpc>
              <a:spcBef>
                <a:spcPct val="0"/>
              </a:spcBef>
              <a:buNone/>
            </a:pPr>
            <a:r>
              <a:rPr sz="3654" spc="109">
                <a:solidFill>
                  <a:srgbClr val="3F3E3A"/>
                </a:solidFill>
                <a:latin typeface="Dynapuff Condensed"/>
                <a:ea typeface="Dynapuff Condensed"/>
                <a:cs typeface="Dynapuff Condensed"/>
              </a:rPr>
              <a:t>Group 10</a:t>
            </a:r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6255A092-AFB0-4CD2-BE3C-E2059CEB2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117254" y="-238125"/>
            <a:ext cx="5040401" cy="4114800"/>
          </a:xfrm>
          <a:custGeom xmlns:a="http://schemas.openxmlformats.org/drawingml/2006/main">
            <a:rect l="l" t="t" r="r" b="b"/>
            <a:pathLst>
              <a:path w="5040401" h="4114800">
                <a:moveTo>
                  <a:pt x="0" y="0"/>
                </a:moveTo>
                <a:lnTo>
                  <a:pt x="5040401" y="0"/>
                </a:lnTo>
                <a:lnTo>
                  <a:pt x="504040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df237ab952d4d83">
              <a:extLst>
                <a:ext uri="{96DAC541-7B7A-43D3-8B79-37D633B846F1}">
                  <asvg:svgBlip xmlns:asvg="http://schemas.microsoft.com/office/drawing/2016/SVG/main" r:embed="Rd46f371a4bb9406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4AFA9235-FD10-40A6-BC2C-DEF72E11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2487" y="6811920"/>
            <a:ext cx="2369825" cy="2300885"/>
          </a:xfrm>
          <a:custGeom xmlns:a="http://schemas.openxmlformats.org/drawingml/2006/main">
            <a:rect l="l" t="t" r="r" b="b"/>
            <a:pathLst>
              <a:path w="2369825" h="2300885">
                <a:moveTo>
                  <a:pt x="0" y="0"/>
                </a:moveTo>
                <a:lnTo>
                  <a:pt x="2369826" y="0"/>
                </a:lnTo>
                <a:lnTo>
                  <a:pt x="2369826" y="2300885"/>
                </a:lnTo>
                <a:lnTo>
                  <a:pt x="0" y="230088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b122f274aec430c">
              <a:extLst>
                <a:ext uri="{96DAC541-7B7A-43D3-8B79-37D633B846F1}">
                  <asvg:svgBlip xmlns:asvg="http://schemas.microsoft.com/office/drawing/2016/SVG/main" r:embed="Rea447990ee2542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7BA0A28B-4B18-4BCF-BC75-065B52A0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86806" y="2817570"/>
            <a:ext cx="14314388" cy="33546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3208"/>
              </a:lnSpc>
              <a:buNone/>
            </a:pPr>
            <a:r>
              <a:rPr sz="11007" spc="330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</a:rPr>
              <a:t>PAPER PROTOTYPE &amp;</a:t>
            </a:r>
          </a:p>
          <a:p xmlns:a="http://schemas.openxmlformats.org/drawingml/2006/main">
            <a:pPr marL="0" lvl="0" indent="0" algn="ctr">
              <a:lnSpc>
                <a:spcPts val="13208"/>
              </a:lnSpc>
              <a:spcBef>
                <a:spcPct val="0"/>
              </a:spcBef>
              <a:buNone/>
            </a:pPr>
            <a:r>
              <a:rPr sz="11007" spc="330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</a:rPr>
              <a:t>INFORMAL TESTING</a:t>
            </a:r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8C23E886-5003-4F4D-A2F2-F9953496E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1">
            <a:off x="0" y="0"/>
            <a:ext cx="4114800" cy="4114800"/>
          </a:xfrm>
          <a:custGeom xmlns:a="http://schemas.openxmlformats.org/drawingml/2006/main">
            <a:rect l="l" t="t" r="r" b="b"/>
            <a:pathLst>
              <a:path w="4114800" h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4c09bd0b1c44021">
              <a:extLst>
                <a:ext uri="{96DAC541-7B7A-43D3-8B79-37D633B846F1}">
                  <asvg:svgBlip xmlns:asvg="http://schemas.microsoft.com/office/drawing/2016/SVG/main" r:embed="Ra51271341c734afc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AD7049EF-19BA-4BB8-9A6B-16752C241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14418111" y="6172200"/>
            <a:ext cx="4114800" cy="4114800"/>
          </a:xfrm>
          <a:custGeom xmlns:a="http://schemas.openxmlformats.org/drawingml/2006/main">
            <a:rect l="l" t="t" r="r" b="b"/>
            <a:pathLst>
              <a:path w="4114800" h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4c09bd0b1c44021">
              <a:extLst>
                <a:ext uri="{96DAC541-7B7A-43D3-8B79-37D633B846F1}">
                  <asvg:svgBlip xmlns:asvg="http://schemas.microsoft.com/office/drawing/2016/SVG/main" r:embed="Ra51271341c734afc"/>
                </a:ext>
              </a:extLst>
            </a:blip>
            <a:stretch>
              <a:fillRect l="0" t="0" r="0" b="0"/>
            </a:stretch>
          </a:blipFill>
        </p:spPr>
      </p:sp>
    </p:spTree>
    <p:extLst>
      <p:ext uri="{BB962C8B-B14F-4D97-AF65-F5344CB8AC3E}">
        <p14:creationId xmlns:p14="http://schemas.microsoft.com/office/powerpoint/2010/main" val="1851129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EFD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074DECD4-BB82-4D05-88B9-88BA90D29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68002" y="1892578"/>
            <a:ext cx="10551996" cy="12828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ts val="9883"/>
              </a:lnSpc>
              <a:buNone/>
            </a:pPr>
            <a:r>
              <a:rPr sz="8903" b="1">
                <a:solidFill>
                  <a:srgbClr val="754820"/>
                </a:solidFill>
                <a:latin typeface="Maven Pro Bold"/>
                <a:ea typeface="Maven Pro Bold"/>
                <a:cs typeface="Maven Pro Bold"/>
              </a:rPr>
              <a:t>TEAM MEMBERS</a:t>
            </a:r>
          </a:p>
        </p:txBody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4D681A93-6B93-40F5-8B1F-DAA8E958C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6172200"/>
            <a:ext cx="4114800" cy="4114800"/>
          </a:xfrm>
          <a:custGeom xmlns:a="http://schemas.openxmlformats.org/drawingml/2006/main"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89ebc2580924a92">
              <a:extLst>
                <a:ext uri="{96DAC541-7B7A-43D3-8B79-37D633B846F1}">
                  <asvg:svgBlip xmlns:asvg="http://schemas.microsoft.com/office/drawing/2016/SVG/main" r:embed="R72c62da2fa614abd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C5A18F83-0C94-41A6-BBF9-97AB1A903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1">
            <a:off x="14425139" y="0"/>
            <a:ext cx="4114800" cy="4114800"/>
          </a:xfrm>
          <a:custGeom xmlns:a="http://schemas.openxmlformats.org/drawingml/2006/main"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89ebc2580924a92">
              <a:extLst>
                <a:ext uri="{96DAC541-7B7A-43D3-8B79-37D633B846F1}">
                  <asvg:svgBlip xmlns:asvg="http://schemas.microsoft.com/office/drawing/2016/SVG/main" r:embed="R72c62da2fa614abd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18591F2A-5892-4773-929A-FFE18911A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20529" y="3996168"/>
            <a:ext cx="7249930" cy="30422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  <a:p xmlns:a="http://schemas.openxmlformats.org/drawingml/2006/main">
            <a:pPr algn="just">
              <a:lnSpc>
                <a:spcPts val="5561"/>
              </a:lnSpc>
              <a:buNone/>
            </a:pPr>
            <a:r>
              <a:rPr sz="4634">
                <a:solidFill>
                  <a:srgbClr val="602E17"/>
                </a:solidFill>
                <a:latin typeface="Faustina"/>
                <a:ea typeface="Faustina"/>
                <a:cs typeface="Faustina"/>
              </a:rPr>
              <a:t>Nguyễn Vũ Bách</a:t>
            </a:r>
          </a:p>
          <a:p xmlns:a="http://schemas.openxmlformats.org/drawingml/2006/main">
            <a:pPr algn="just">
              <a:lnSpc>
                <a:spcPts val="5561"/>
              </a:lnSpc>
              <a:buNone/>
            </a:pPr>
            <a:r>
              <a:rPr sz="4634">
                <a:solidFill>
                  <a:srgbClr val="602E17"/>
                </a:solidFill>
                <a:latin typeface="Faustina"/>
                <a:ea typeface="Faustina"/>
                <a:cs typeface="Faustina"/>
              </a:rPr>
              <a:t>Lê Minh</a:t>
            </a:r>
          </a:p>
          <a:p xmlns:a="http://schemas.openxmlformats.org/drawingml/2006/main">
            <a:pPr algn="just">
              <a:lnSpc>
                <a:spcPts val="5561"/>
              </a:lnSpc>
              <a:buNone/>
            </a:pPr>
            <a:r>
              <a:rPr sz="4634">
                <a:solidFill>
                  <a:srgbClr val="602E17"/>
                </a:solidFill>
                <a:latin typeface="Faustina"/>
                <a:ea typeface="Faustina"/>
                <a:cs typeface="Faustina"/>
              </a:rPr>
              <a:t>Phạm Nguyễn Gia Bảo</a:t>
            </a:r>
          </a:p>
          <a:p xmlns:a="http://schemas.openxmlformats.org/drawingml/2006/main">
            <a:pPr algn="just">
              <a:lnSpc>
                <a:spcPts val="5561"/>
              </a:lnSpc>
              <a:buNone/>
            </a:pPr>
            <a:r>
              <a:rPr sz="4634">
                <a:solidFill>
                  <a:srgbClr val="602E17"/>
                </a:solidFill>
                <a:latin typeface="Faustina"/>
                <a:ea typeface="Faustina"/>
                <a:cs typeface="Faustina"/>
              </a:rPr>
              <a:t>Trang Minh Nhựt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032D9AB5-E12A-46F2-97E2-CFAAB2B61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99255" y="4053318"/>
            <a:ext cx="3368214" cy="30422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  <a:p xmlns:a="http://schemas.openxmlformats.org/drawingml/2006/main">
            <a:pPr algn="ctr">
              <a:lnSpc>
                <a:spcPts val="5561"/>
              </a:lnSpc>
              <a:buNone/>
            </a:pPr>
            <a:r>
              <a:rPr sz="4634">
                <a:solidFill>
                  <a:srgbClr val="190400"/>
                </a:solidFill>
                <a:latin typeface="Faustina"/>
                <a:ea typeface="Faustina"/>
                <a:cs typeface="Faustina"/>
              </a:rPr>
              <a:t>21127224</a:t>
            </a:r>
          </a:p>
          <a:p xmlns:a="http://schemas.openxmlformats.org/drawingml/2006/main">
            <a:pPr algn="ctr">
              <a:lnSpc>
                <a:spcPts val="5561"/>
              </a:lnSpc>
              <a:buNone/>
            </a:pPr>
            <a:r>
              <a:rPr sz="4634">
                <a:solidFill>
                  <a:srgbClr val="190400"/>
                </a:solidFill>
                <a:latin typeface="Faustina"/>
                <a:ea typeface="Faustina"/>
                <a:cs typeface="Faustina"/>
              </a:rPr>
              <a:t>21127645</a:t>
            </a:r>
          </a:p>
          <a:p xmlns:a="http://schemas.openxmlformats.org/drawingml/2006/main">
            <a:pPr algn="ctr">
              <a:lnSpc>
                <a:spcPts val="5561"/>
              </a:lnSpc>
              <a:buNone/>
            </a:pPr>
            <a:r>
              <a:rPr sz="4634">
                <a:solidFill>
                  <a:srgbClr val="190400"/>
                </a:solidFill>
                <a:latin typeface="Faustina"/>
                <a:ea typeface="Faustina"/>
                <a:cs typeface="Faustina"/>
              </a:rPr>
              <a:t>20127119</a:t>
            </a:r>
          </a:p>
          <a:p xmlns:a="http://schemas.openxmlformats.org/drawingml/2006/main">
            <a:pPr algn="ctr">
              <a:lnSpc>
                <a:spcPts val="5561"/>
              </a:lnSpc>
              <a:buNone/>
            </a:pPr>
            <a:r>
              <a:rPr sz="4634">
                <a:solidFill>
                  <a:srgbClr val="190400"/>
                </a:solidFill>
                <a:latin typeface="Faustina"/>
                <a:ea typeface="Faustina"/>
                <a:cs typeface="Faustina"/>
              </a:rPr>
              <a:t>22127318</a:t>
            </a:r>
          </a:p>
        </p:txBody>
      </p:sp>
    </p:spTree>
    <p:extLst>
      <p:ext uri="{BB962C8B-B14F-4D97-AF65-F5344CB8AC3E}">
        <p14:creationId xmlns:p14="http://schemas.microsoft.com/office/powerpoint/2010/main" val="7068394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EFD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C41DAF11-D5E6-45EB-8217-A546CAE73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02728" y="3093960"/>
            <a:ext cx="898554" cy="895287"/>
          </a:xfrm>
          <a:custGeom xmlns:a="http://schemas.openxmlformats.org/drawingml/2006/main">
            <a:rect l="l" t="t" r="r" b="b"/>
            <a:pathLst>
              <a:path w="898554" h="895287">
                <a:moveTo>
                  <a:pt x="0" y="0"/>
                </a:moveTo>
                <a:lnTo>
                  <a:pt x="898554" y="0"/>
                </a:lnTo>
                <a:lnTo>
                  <a:pt x="898554" y="895287"/>
                </a:lnTo>
                <a:lnTo>
                  <a:pt x="0" y="89528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07dc224a43d4633">
              <a:extLst>
                <a:ext uri="{96DAC541-7B7A-43D3-8B79-37D633B846F1}">
                  <asvg:svgBlip xmlns:asvg="http://schemas.microsoft.com/office/drawing/2016/SVG/main" r:embed="R68c4db1c88e541db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0B30922C-5650-46A8-A4B1-06E8220E5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61724" y="3074910"/>
            <a:ext cx="898554" cy="895287"/>
          </a:xfrm>
          <a:custGeom xmlns:a="http://schemas.openxmlformats.org/drawingml/2006/main">
            <a:rect l="l" t="t" r="r" b="b"/>
            <a:pathLst>
              <a:path w="898554" h="895287">
                <a:moveTo>
                  <a:pt x="0" y="0"/>
                </a:moveTo>
                <a:lnTo>
                  <a:pt x="898554" y="0"/>
                </a:lnTo>
                <a:lnTo>
                  <a:pt x="898554" y="895287"/>
                </a:lnTo>
                <a:lnTo>
                  <a:pt x="0" y="89528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07dc224a43d4633">
              <a:extLst>
                <a:ext uri="{96DAC541-7B7A-43D3-8B79-37D633B846F1}">
                  <asvg:svgBlip xmlns:asvg="http://schemas.microsoft.com/office/drawing/2016/SVG/main" r:embed="R68c4db1c88e541db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42EF96E3-ACDB-4DA9-9147-89F14B397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86718" y="3093960"/>
            <a:ext cx="898554" cy="895287"/>
          </a:xfrm>
          <a:custGeom xmlns:a="http://schemas.openxmlformats.org/drawingml/2006/main">
            <a:rect l="l" t="t" r="r" b="b"/>
            <a:pathLst>
              <a:path w="898554" h="895287">
                <a:moveTo>
                  <a:pt x="0" y="0"/>
                </a:moveTo>
                <a:lnTo>
                  <a:pt x="898554" y="0"/>
                </a:lnTo>
                <a:lnTo>
                  <a:pt x="898554" y="895287"/>
                </a:lnTo>
                <a:lnTo>
                  <a:pt x="0" y="89528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07dc224a43d4633">
              <a:extLst>
                <a:ext uri="{96DAC541-7B7A-43D3-8B79-37D633B846F1}">
                  <asvg:svgBlip xmlns:asvg="http://schemas.microsoft.com/office/drawing/2016/SVG/main" r:embed="R68c4db1c88e541db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6B647697-17C1-459D-9425-B6A4CEEDC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201282" y="3522554"/>
            <a:ext cx="3760442" cy="190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A211B6D-5167-4910-A148-0F321F1A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278" y="3524882"/>
            <a:ext cx="3226440" cy="16722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7D0B9544-3CB7-4E33-AFB9-156327B9B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6781" y="1720805"/>
            <a:ext cx="8394439" cy="1181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ts val="9230"/>
              </a:lnSpc>
              <a:spcBef>
                <a:spcPct val="0"/>
              </a:spcBef>
              <a:buNone/>
            </a:pPr>
            <a:r>
              <a:rPr sz="7692" b="1">
                <a:solidFill>
                  <a:srgbClr val="754820"/>
                </a:solidFill>
                <a:latin typeface="Maven Pro Bold"/>
                <a:ea typeface="Maven Pro Bold"/>
                <a:cs typeface="Maven Pro Bold"/>
              </a:rPr>
              <a:t>CONTENTS</a:t>
            </a:r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51353CCE-26ED-46BA-9F32-0B09BA767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75679" flipH="0" flipV="0">
            <a:off x="11866033" y="4326350"/>
            <a:ext cx="3422545" cy="3265735"/>
          </a:xfrm>
          <a:custGeom xmlns:a="http://schemas.openxmlformats.org/drawingml/2006/main">
            <a:rect l="l" t="t" r="r" b="b"/>
            <a:pathLst>
              <a:path w="3422545" h="3265735">
                <a:moveTo>
                  <a:pt x="0" y="0"/>
                </a:moveTo>
                <a:lnTo>
                  <a:pt x="3422545" y="0"/>
                </a:lnTo>
                <a:lnTo>
                  <a:pt x="3422545" y="3265735"/>
                </a:lnTo>
                <a:lnTo>
                  <a:pt x="0" y="326573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c9ed27c154a44d4">
              <a:extLst>
                <a:ext uri="{96DAC541-7B7A-43D3-8B79-37D633B846F1}">
                  <asvg:svgBlip xmlns:asvg="http://schemas.microsoft.com/office/drawing/2016/SVG/main" r:embed="Rf150ab7bf08a4c8a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DDCC3FF8-E43A-47FF-9106-8ED13FD2F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75679" flipH="0" flipV="0">
            <a:off x="7633323" y="4181024"/>
            <a:ext cx="3555356" cy="3392461"/>
          </a:xfrm>
          <a:custGeom xmlns:a="http://schemas.openxmlformats.org/drawingml/2006/main">
            <a:rect l="l" t="t" r="r" b="b"/>
            <a:pathLst>
              <a:path w="3555356" h="3392461">
                <a:moveTo>
                  <a:pt x="0" y="0"/>
                </a:moveTo>
                <a:lnTo>
                  <a:pt x="3555356" y="0"/>
                </a:lnTo>
                <a:lnTo>
                  <a:pt x="3555356" y="3392460"/>
                </a:lnTo>
                <a:lnTo>
                  <a:pt x="0" y="339246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c9ed27c154a44d4">
              <a:extLst>
                <a:ext uri="{96DAC541-7B7A-43D3-8B79-37D633B846F1}">
                  <asvg:svgBlip xmlns:asvg="http://schemas.microsoft.com/office/drawing/2016/SVG/main" r:embed="Rf150ab7bf08a4c8a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D589D187-2131-4D62-ACED-94F4AF8EF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50592" flipH="0" flipV="0">
            <a:off x="2969645" y="4176555"/>
            <a:ext cx="3564719" cy="3401395"/>
          </a:xfrm>
          <a:custGeom xmlns:a="http://schemas.openxmlformats.org/drawingml/2006/main">
            <a:rect l="l" t="t" r="r" b="b"/>
            <a:pathLst>
              <a:path w="4752959" h="4535194">
                <a:moveTo>
                  <a:pt x="0" y="0"/>
                </a:moveTo>
                <a:lnTo>
                  <a:pt x="4752959" y="0"/>
                </a:lnTo>
                <a:lnTo>
                  <a:pt x="4752959" y="4535194"/>
                </a:lnTo>
                <a:lnTo>
                  <a:pt x="0" y="453519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c9ed27c154a44d4">
              <a:extLst>
                <a:ext uri="{96DAC541-7B7A-43D3-8B79-37D633B846F1}">
                  <asvg:svgBlip xmlns:asvg="http://schemas.microsoft.com/office/drawing/2016/SVG/main" r:embed="Rf150ab7bf08a4c8a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83C89BB8-2E01-4993-AF80-9E607D886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30606" y="5076743"/>
            <a:ext cx="2242797" cy="177485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5501"/>
              </a:lnSpc>
              <a:buNone/>
            </a:pPr>
            <a:r>
              <a:rPr sz="3929" b="1">
                <a:solidFill>
                  <a:srgbClr val="000000"/>
                </a:solidFill>
                <a:latin typeface="Faustina Bold"/>
                <a:ea typeface="Faustina Bold"/>
                <a:cs typeface="Faustina Bold"/>
              </a:rPr>
              <a:t>Problems</a:t>
            </a:r>
          </a:p>
          <a:p xmlns:a="http://schemas.openxmlformats.org/drawingml/2006/main">
            <a:pPr algn="ctr">
              <a:lnSpc>
                <a:spcPts val="4381"/>
              </a:lnSpc>
              <a:buNone/>
            </a:pPr>
            <a:r>
              <a:rPr sz="3129">
                <a:solidFill>
                  <a:srgbClr val="000000"/>
                </a:solidFill>
                <a:latin typeface="Faustina"/>
                <a:ea typeface="Faustina"/>
                <a:cs typeface="Faustina"/>
              </a:rPr>
              <a:t>W</a:t>
            </a:r>
            <a:r>
              <a:rPr sz="3129">
                <a:solidFill>
                  <a:srgbClr val="000000"/>
                </a:solidFill>
                <a:latin typeface="Faustina"/>
                <a:ea typeface="Faustina"/>
                <a:cs typeface="Faustina"/>
              </a:rPr>
              <a:t>hat are we solving</a:t>
            </a:r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EAB0E322-48C9-4862-B891-59634752B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1">
            <a:off x="-250222" y="-103861"/>
            <a:ext cx="4114800" cy="4114800"/>
          </a:xfrm>
          <a:custGeom xmlns:a="http://schemas.openxmlformats.org/drawingml/2006/main">
            <a:rect l="l" t="t" r="r" b="b"/>
            <a:pathLst>
              <a:path w="4114800" h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1804b1e038a478e">
              <a:extLst>
                <a:ext uri="{96DAC541-7B7A-43D3-8B79-37D633B846F1}">
                  <asvg:svgBlip xmlns:asvg="http://schemas.microsoft.com/office/drawing/2016/SVG/main" r:embed="Rc9162b40790f479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97563740-07F7-449B-A41D-644F9829F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1">
            <a:off x="14425139" y="0"/>
            <a:ext cx="4114800" cy="4114800"/>
          </a:xfrm>
          <a:custGeom xmlns:a="http://schemas.openxmlformats.org/drawingml/2006/main"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1804b1e038a478e">
              <a:extLst>
                <a:ext uri="{96DAC541-7B7A-43D3-8B79-37D633B846F1}">
                  <asvg:svgBlip xmlns:asvg="http://schemas.microsoft.com/office/drawing/2016/SVG/main" r:embed="Rc9162b40790f479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2923DB7F-08CC-400C-AC2F-A42B310F1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89602" y="5057775"/>
            <a:ext cx="2242798" cy="17962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5501"/>
              </a:lnSpc>
              <a:buNone/>
            </a:pPr>
            <a:r>
              <a:rPr sz="3929" b="1">
                <a:solidFill>
                  <a:srgbClr val="000000"/>
                </a:solidFill>
                <a:latin typeface="Faustina Bold"/>
                <a:ea typeface="Faustina Bold"/>
                <a:cs typeface="Faustina Bold"/>
              </a:rPr>
              <a:t>Solutions</a:t>
            </a:r>
          </a:p>
          <a:p xmlns:a="http://schemas.openxmlformats.org/drawingml/2006/main">
            <a:pPr algn="ctr">
              <a:lnSpc>
                <a:spcPts val="4381"/>
              </a:lnSpc>
              <a:buNone/>
            </a:pPr>
            <a:r>
              <a:rPr sz="3129">
                <a:solidFill>
                  <a:srgbClr val="000000"/>
                </a:solidFill>
                <a:latin typeface="Faustina"/>
                <a:ea typeface="Faustina"/>
                <a:cs typeface="Faustina"/>
              </a:rPr>
              <a:t>How </a:t>
            </a:r>
            <a:r>
              <a:rPr sz="3129">
                <a:solidFill>
                  <a:srgbClr val="000000"/>
                </a:solidFill>
                <a:latin typeface="Faustina"/>
                <a:ea typeface="Faustina"/>
                <a:cs typeface="Faustina"/>
              </a:rPr>
              <a:t>are we solving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12A7EEE8-2062-455D-832F-9728A5476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14596" y="5057775"/>
            <a:ext cx="2242798" cy="17962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5501"/>
              </a:lnSpc>
              <a:buNone/>
            </a:pPr>
            <a:r>
              <a:rPr sz="3929" b="1">
                <a:solidFill>
                  <a:srgbClr val="000000"/>
                </a:solidFill>
                <a:latin typeface="Faustina Bold"/>
                <a:ea typeface="Faustina Bold"/>
                <a:cs typeface="Faustina Bold"/>
              </a:rPr>
              <a:t>Results</a:t>
            </a:r>
          </a:p>
          <a:p xmlns:a="http://schemas.openxmlformats.org/drawingml/2006/main">
            <a:pPr algn="ctr">
              <a:lnSpc>
                <a:spcPts val="4381"/>
              </a:lnSpc>
              <a:buNone/>
            </a:pPr>
            <a:r>
              <a:rPr sz="3129">
                <a:solidFill>
                  <a:srgbClr val="000000"/>
                </a:solidFill>
                <a:latin typeface="Faustina"/>
                <a:ea typeface="Faustina"/>
                <a:cs typeface="Faustina"/>
              </a:rPr>
              <a:t>Did we solve it?</a:t>
            </a:r>
          </a:p>
        </p:txBody>
      </p:sp>
    </p:spTree>
    <p:extLst>
      <p:ext uri="{BB962C8B-B14F-4D97-AF65-F5344CB8AC3E}">
        <p14:creationId xmlns:p14="http://schemas.microsoft.com/office/powerpoint/2010/main" val="5562414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EFD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3A169E48-C179-43C2-805A-19D8902DD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6056213"/>
            <a:ext cx="4114800" cy="4114800"/>
          </a:xfrm>
          <a:custGeom xmlns:a="http://schemas.openxmlformats.org/drawingml/2006/main"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f2390f3f12645e8">
              <a:extLst>
                <a:ext uri="{96DAC541-7B7A-43D3-8B79-37D633B846F1}">
                  <asvg:svgBlip xmlns:asvg="http://schemas.microsoft.com/office/drawing/2016/SVG/main" r:embed="R8c51710fe8b148bc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F7CAF913-AC1F-4576-9E7D-39CCF0AAC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1">
            <a:off x="14425139" y="0"/>
            <a:ext cx="4114800" cy="4114800"/>
          </a:xfrm>
          <a:custGeom xmlns:a="http://schemas.openxmlformats.org/drawingml/2006/main"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f2390f3f12645e8">
              <a:extLst>
                <a:ext uri="{96DAC541-7B7A-43D3-8B79-37D633B846F1}">
                  <asvg:svgBlip xmlns:asvg="http://schemas.microsoft.com/office/drawing/2016/SVG/main" r:embed="R8c51710fe8b148bc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7A6DA26D-2C66-4AF8-9372-B3AAE8C7F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8700" y="3187227"/>
            <a:ext cx="7243308" cy="5532077"/>
          </a:xfrm>
          <a:custGeom xmlns:a="http://schemas.openxmlformats.org/drawingml/2006/main">
            <a:rect l="l" t="t" r="r" b="b"/>
            <a:pathLst>
              <a:path w="9657744" h="7376102">
                <a:moveTo>
                  <a:pt x="0" y="0"/>
                </a:moveTo>
                <a:lnTo>
                  <a:pt x="9657744" y="0"/>
                </a:lnTo>
                <a:lnTo>
                  <a:pt x="9657744" y="7376102"/>
                </a:lnTo>
                <a:lnTo>
                  <a:pt x="0" y="737610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ffe03f2a7ee4b84"/>
            <a:stretch>
              <a:fillRect l="0" t="0" r="0" b="0"/>
            </a:stretch>
          </a:blip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2188905D-A5E9-4BDE-87E0-C12D71959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6609" y="4074244"/>
            <a:ext cx="7087489" cy="36937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5705"/>
              </a:lnSpc>
              <a:buNone/>
            </a:pPr>
            <a:r>
              <a:rPr sz="4075" b="1">
                <a:solidFill>
                  <a:srgbClr val="000000"/>
                </a:solidFill>
                <a:latin typeface="Faustina Bold"/>
                <a:ea typeface="Faustina Bold"/>
                <a:cs typeface="Faustina Bold"/>
              </a:rPr>
              <a:t>Poor Ticket Visibil</a:t>
            </a:r>
            <a:r>
              <a:rPr sz="4075" b="1">
                <a:solidFill>
                  <a:srgbClr val="000000"/>
                </a:solidFill>
                <a:latin typeface="Faustina Bold"/>
                <a:ea typeface="Faustina Bold"/>
                <a:cs typeface="Faustina Bold"/>
              </a:rPr>
              <a:t>i</a:t>
            </a:r>
            <a:r>
              <a:rPr sz="4075" b="1">
                <a:solidFill>
                  <a:srgbClr val="000000"/>
                </a:solidFill>
                <a:latin typeface="Faustina Bold"/>
                <a:ea typeface="Faustina Bold"/>
                <a:cs typeface="Faustina Bold"/>
              </a:rPr>
              <a:t>ty</a:t>
            </a:r>
          </a:p>
          <a:p xmlns:a="http://schemas.openxmlformats.org/drawingml/2006/main">
            <a:pPr algn="l">
              <a:lnSpc>
                <a:spcPts val="4746"/>
              </a:lnSpc>
              <a:buNone/>
            </a:pPr>
            <a:r>
              <a:rPr sz="3390">
                <a:solidFill>
                  <a:srgbClr val="000000"/>
                </a:solidFill>
                <a:latin typeface="Faustina"/>
                <a:ea typeface="Faustina"/>
                <a:cs typeface="Faustina"/>
              </a:rPr>
              <a:t>Users</a:t>
            </a:r>
            <a:r>
              <a:rPr sz="3390">
                <a:solidFill>
                  <a:srgbClr val="000000"/>
                </a:solidFill>
                <a:latin typeface="Faustina"/>
                <a:ea typeface="Faustina"/>
                <a:cs typeface="Faustina"/>
              </a:rPr>
              <a:t> have difficulty finding ticket status, progress, and next actions.</a:t>
            </a:r>
          </a:p>
          <a:p xmlns:a="http://schemas.openxmlformats.org/drawingml/2006/main">
            <a:pPr algn="l">
              <a:lnSpc>
                <a:spcPts val="4746"/>
              </a:lnSpc>
              <a:buNone/>
            </a:pPr>
          </a:p>
          <a:p xmlns:a="http://schemas.openxmlformats.org/drawingml/2006/main">
            <a:pPr algn="l">
              <a:lnSpc>
                <a:spcPts val="4746"/>
              </a:lnSpc>
              <a:buNone/>
            </a:pPr>
            <a:r>
              <a:rPr sz="3390" b="1">
                <a:solidFill>
                  <a:srgbClr val="000000"/>
                </a:solidFill>
                <a:latin typeface="Faustina Bold"/>
                <a:ea typeface="Faustina Bold"/>
                <a:cs typeface="Faustina Bold"/>
              </a:rPr>
              <a:t>⇒ </a:t>
            </a:r>
            <a:r>
              <a:rPr sz="3390">
                <a:solidFill>
                  <a:srgbClr val="000000"/>
                </a:solidFill>
                <a:latin typeface="Faustina"/>
                <a:ea typeface="Faustina"/>
                <a:cs typeface="Faustina"/>
              </a:rPr>
              <a:t>They feel uncertain and lack confidence.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80057398-2922-4F8B-8FC2-9FA467701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34502" y="2356648"/>
            <a:ext cx="3631704" cy="7162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ts val="5219"/>
              </a:lnSpc>
              <a:spcBef>
                <a:spcPct val="0"/>
              </a:spcBef>
              <a:buNone/>
            </a:pPr>
            <a:r>
              <a:rPr sz="5799" b="1">
                <a:solidFill>
                  <a:srgbClr val="602E17"/>
                </a:solidFill>
                <a:latin typeface="Faustina Bold"/>
                <a:ea typeface="Faustina Bold"/>
                <a:cs typeface="Faustina Bold"/>
              </a:rPr>
              <a:t>FIFA.COM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3B1BA4AE-5260-4504-95F0-C022A5BD5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94080" y="2356648"/>
            <a:ext cx="4300805" cy="7162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ts val="5219"/>
              </a:lnSpc>
              <a:spcBef>
                <a:spcPct val="0"/>
              </a:spcBef>
              <a:buNone/>
            </a:pPr>
            <a:r>
              <a:rPr sz="5799" b="1">
                <a:solidFill>
                  <a:srgbClr val="602E17"/>
                </a:solidFill>
                <a:latin typeface="Faustina Bold"/>
                <a:ea typeface="Faustina Bold"/>
                <a:cs typeface="Faustina Bold"/>
              </a:rPr>
              <a:t>CHESS.COM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BF85D1B9-55F5-478F-B58C-AF24D01ED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7418" y="3187227"/>
            <a:ext cx="0" cy="6071073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602E1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4B6E4D71-BE25-43A9-902F-1AA5C1A9C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00393" y="956191"/>
            <a:ext cx="5815035" cy="11242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8426"/>
              </a:lnSpc>
              <a:buNone/>
            </a:pPr>
            <a:r>
              <a:rPr sz="8426" b="1">
                <a:solidFill>
                  <a:srgbClr val="754820"/>
                </a:solidFill>
                <a:latin typeface="Maven Pro Bold"/>
                <a:ea typeface="Maven Pro Bold"/>
                <a:cs typeface="Maven Pro Bold"/>
              </a:rPr>
              <a:t>PROBLEMS</a:t>
            </a:r>
          </a:p>
        </p:txBody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97DE292E-BC5F-47CD-B869-56B44D2D2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22828" y="3187227"/>
            <a:ext cx="7243308" cy="5532077"/>
          </a:xfrm>
          <a:custGeom xmlns:a="http://schemas.openxmlformats.org/drawingml/2006/main">
            <a:rect l="l" t="t" r="r" b="b"/>
            <a:pathLst>
              <a:path w="7243308" h="5532077">
                <a:moveTo>
                  <a:pt x="0" y="0"/>
                </a:moveTo>
                <a:lnTo>
                  <a:pt x="7243308" y="0"/>
                </a:lnTo>
                <a:lnTo>
                  <a:pt x="7243308" y="5532077"/>
                </a:lnTo>
                <a:lnTo>
                  <a:pt x="0" y="553207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9ed9c32e4d243d3"/>
            <a:stretch>
              <a:fillRect l="0" t="0" r="0" b="0"/>
            </a:stretch>
          </a:blipFill>
        </p:spPr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9A423B1C-D968-4904-8AAC-F3239646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00738" y="4052814"/>
            <a:ext cx="7087489" cy="3715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5705"/>
              </a:lnSpc>
              <a:buNone/>
            </a:pPr>
            <a:r>
              <a:rPr sz="4075" b="1">
                <a:solidFill>
                  <a:srgbClr val="000000"/>
                </a:solidFill>
                <a:latin typeface="Faustina Bold"/>
                <a:ea typeface="Faustina Bold"/>
                <a:cs typeface="Faustina Bold"/>
              </a:rPr>
              <a:t>Low Review Learnabil</a:t>
            </a:r>
            <a:r>
              <a:rPr sz="4075" b="1">
                <a:solidFill>
                  <a:srgbClr val="000000"/>
                </a:solidFill>
                <a:latin typeface="Faustina Bold"/>
                <a:ea typeface="Faustina Bold"/>
                <a:cs typeface="Faustina Bold"/>
              </a:rPr>
              <a:t>i</a:t>
            </a:r>
            <a:r>
              <a:rPr sz="4075" b="1">
                <a:solidFill>
                  <a:srgbClr val="000000"/>
                </a:solidFill>
                <a:latin typeface="Faustina Bold"/>
                <a:ea typeface="Faustina Bold"/>
                <a:cs typeface="Faustina Bold"/>
              </a:rPr>
              <a:t>ty</a:t>
            </a:r>
          </a:p>
          <a:p xmlns:a="http://schemas.openxmlformats.org/drawingml/2006/main">
            <a:pPr algn="l">
              <a:lnSpc>
                <a:spcPts val="4746"/>
              </a:lnSpc>
              <a:buNone/>
            </a:pPr>
            <a:r>
              <a:rPr sz="3390">
                <a:solidFill>
                  <a:srgbClr val="000000"/>
                </a:solidFill>
                <a:latin typeface="Faustina"/>
                <a:ea typeface="Faustina"/>
                <a:cs typeface="Faustina"/>
              </a:rPr>
              <a:t>Users</a:t>
            </a:r>
            <a:r>
              <a:rPr sz="3390">
                <a:solidFill>
                  <a:srgbClr val="000000"/>
                </a:solidFill>
                <a:latin typeface="Faustina"/>
                <a:ea typeface="Faustina"/>
                <a:cs typeface="Faustina"/>
              </a:rPr>
              <a:t> struggle to understand mistakes, analysis, and what to do next.</a:t>
            </a:r>
          </a:p>
          <a:p xmlns:a="http://schemas.openxmlformats.org/drawingml/2006/main">
            <a:pPr algn="l">
              <a:lnSpc>
                <a:spcPts val="4746"/>
              </a:lnSpc>
              <a:buNone/>
            </a:pPr>
          </a:p>
          <a:p xmlns:a="http://schemas.openxmlformats.org/drawingml/2006/main">
            <a:pPr algn="l">
              <a:lnSpc>
                <a:spcPts val="4746"/>
              </a:lnSpc>
              <a:buNone/>
            </a:pPr>
            <a:r>
              <a:rPr sz="3390" b="1">
                <a:solidFill>
                  <a:srgbClr val="000000"/>
                </a:solidFill>
                <a:latin typeface="Faustina Bold"/>
                <a:ea typeface="Faustina Bold"/>
                <a:cs typeface="Faustina Bold"/>
              </a:rPr>
              <a:t>⇒ </a:t>
            </a:r>
            <a:r>
              <a:rPr sz="3390">
                <a:solidFill>
                  <a:srgbClr val="000000"/>
                </a:solidFill>
                <a:latin typeface="Faustina"/>
                <a:ea typeface="Faustina"/>
                <a:cs typeface="Faustina"/>
              </a:rPr>
              <a:t>They feel overwhelmed and have difficulty turning review into practice.</a:t>
            </a:r>
          </a:p>
        </p:txBody>
      </p:sp>
    </p:spTree>
    <p:extLst>
      <p:ext uri="{BB962C8B-B14F-4D97-AF65-F5344CB8AC3E}">
        <p14:creationId xmlns:p14="http://schemas.microsoft.com/office/powerpoint/2010/main" val="18785950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EFD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5AF11431-AC7D-4CFD-B4A5-36360ACF9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6056213"/>
            <a:ext cx="4114800" cy="4114800"/>
          </a:xfrm>
          <a:custGeom xmlns:a="http://schemas.openxmlformats.org/drawingml/2006/main"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f1302acb2564514">
              <a:extLst>
                <a:ext uri="{96DAC541-7B7A-43D3-8B79-37D633B846F1}">
                  <asvg:svgBlip xmlns:asvg="http://schemas.microsoft.com/office/drawing/2016/SVG/main" r:embed="Re3d0b2b0e07748b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E2F88930-D97C-41F0-BFD0-1584D40CE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1">
            <a:off x="14425139" y="0"/>
            <a:ext cx="4114800" cy="4114800"/>
          </a:xfrm>
          <a:custGeom xmlns:a="http://schemas.openxmlformats.org/drawingml/2006/main"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f1302acb2564514">
              <a:extLst>
                <a:ext uri="{96DAC541-7B7A-43D3-8B79-37D633B846F1}">
                  <asvg:svgBlip xmlns:asvg="http://schemas.microsoft.com/office/drawing/2016/SVG/main" r:embed="Re3d0b2b0e07748b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313ADB63-A607-491F-BCBD-54948718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93623" y="1491275"/>
            <a:ext cx="11700754" cy="7304451"/>
          </a:xfrm>
          <a:custGeom xmlns:a="http://schemas.openxmlformats.org/drawingml/2006/main">
            <a:rect l="l" t="t" r="r" b="b"/>
            <a:pathLst>
              <a:path w="11700754" h="7304451">
                <a:moveTo>
                  <a:pt x="0" y="0"/>
                </a:moveTo>
                <a:lnTo>
                  <a:pt x="11700754" y="0"/>
                </a:lnTo>
                <a:lnTo>
                  <a:pt x="11700754" y="7304450"/>
                </a:lnTo>
                <a:lnTo>
                  <a:pt x="0" y="730445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4962972522b4b61">
              <a:extLst>
                <a:ext uri="{96DAC541-7B7A-43D3-8B79-37D633B846F1}">
                  <asvg:svgBlip xmlns:asvg="http://schemas.microsoft.com/office/drawing/2016/SVG/main" r:embed="Re0f5ce57698e4b8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799DC783-39A5-484F-BED8-56FC3848E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1740" y="540687"/>
            <a:ext cx="6144520" cy="11284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8426"/>
              </a:lnSpc>
              <a:buNone/>
            </a:pPr>
            <a:r>
              <a:rPr sz="8426" b="1">
                <a:solidFill>
                  <a:srgbClr val="754820"/>
                </a:solidFill>
                <a:latin typeface="Maven Pro Bold"/>
                <a:ea typeface="Maven Pro Bold"/>
                <a:cs typeface="Maven Pro Bold"/>
              </a:rPr>
              <a:t>SOLUTIONS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934EF51F-278B-4E09-9936-E1F7C1A40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26836" y="4273767"/>
            <a:ext cx="4634328" cy="2507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6864"/>
              </a:lnSpc>
              <a:buNone/>
            </a:pPr>
            <a:r>
              <a:rPr sz="4290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Stat</a:t>
            </a:r>
            <a:r>
              <a:rPr sz="4290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us Dashboard</a:t>
            </a:r>
          </a:p>
          <a:p xmlns:a="http://schemas.openxmlformats.org/drawingml/2006/main">
            <a:pPr algn="ctr">
              <a:lnSpc>
                <a:spcPts val="6864"/>
              </a:lnSpc>
              <a:buNone/>
            </a:pPr>
            <a:r>
              <a:rPr sz="4290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Timeline</a:t>
            </a:r>
            <a:r>
              <a:rPr sz="4290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 Tracker</a:t>
            </a:r>
          </a:p>
          <a:p xmlns:a="http://schemas.openxmlformats.org/drawingml/2006/main">
            <a:pPr algn="ctr">
              <a:lnSpc>
                <a:spcPts val="6864"/>
              </a:lnSpc>
              <a:buNone/>
            </a:pPr>
            <a:r>
              <a:rPr sz="4290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A</a:t>
            </a:r>
            <a:r>
              <a:rPr sz="4290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ction Hub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3E58FB78-C22F-4933-87FF-CBE48DB2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9416" y="2748966"/>
            <a:ext cx="8729169" cy="91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694"/>
              </a:lnSpc>
              <a:spcBef>
                <a:spcPct val="0"/>
              </a:spcBef>
              <a:buNone/>
            </a:pPr>
            <a:r>
              <a:rPr sz="5496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rPr>
              <a:t>FIFA Ticke</a:t>
            </a:r>
            <a:r>
              <a:rPr sz="5496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rPr>
              <a:t>ting Solutions</a:t>
            </a:r>
          </a:p>
        </p:txBody>
      </p:sp>
    </p:spTree>
    <p:extLst>
      <p:ext uri="{BB962C8B-B14F-4D97-AF65-F5344CB8AC3E}">
        <p14:creationId xmlns:p14="http://schemas.microsoft.com/office/powerpoint/2010/main" val="6399234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EFD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9ED49805-EEFE-4305-A9B5-C27934DD8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6056213"/>
            <a:ext cx="4114800" cy="4114800"/>
          </a:xfrm>
          <a:custGeom xmlns:a="http://schemas.openxmlformats.org/drawingml/2006/main"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62bed83cfe44c74">
              <a:extLst>
                <a:ext uri="{96DAC541-7B7A-43D3-8B79-37D633B846F1}">
                  <asvg:svgBlip xmlns:asvg="http://schemas.microsoft.com/office/drawing/2016/SVG/main" r:embed="Rac16658d60b443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14171AB9-FD83-476B-96D2-7B9429F00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1">
            <a:off x="14425139" y="0"/>
            <a:ext cx="4114800" cy="4114800"/>
          </a:xfrm>
          <a:custGeom xmlns:a="http://schemas.openxmlformats.org/drawingml/2006/main"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62bed83cfe44c74">
              <a:extLst>
                <a:ext uri="{96DAC541-7B7A-43D3-8B79-37D633B846F1}">
                  <asvg:svgBlip xmlns:asvg="http://schemas.microsoft.com/office/drawing/2016/SVG/main" r:embed="Rac16658d60b443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266C944F-6D93-4E52-AE72-1F5002F4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93623" y="1491275"/>
            <a:ext cx="11700754" cy="7304451"/>
          </a:xfrm>
          <a:custGeom xmlns:a="http://schemas.openxmlformats.org/drawingml/2006/main">
            <a:rect l="l" t="t" r="r" b="b"/>
            <a:pathLst>
              <a:path w="11700754" h="7304451">
                <a:moveTo>
                  <a:pt x="0" y="0"/>
                </a:moveTo>
                <a:lnTo>
                  <a:pt x="11700754" y="0"/>
                </a:lnTo>
                <a:lnTo>
                  <a:pt x="11700754" y="7304450"/>
                </a:lnTo>
                <a:lnTo>
                  <a:pt x="0" y="730445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0a42a2ea0434b57">
              <a:extLst>
                <a:ext uri="{96DAC541-7B7A-43D3-8B79-37D633B846F1}">
                  <asvg:svgBlip xmlns:asvg="http://schemas.microsoft.com/office/drawing/2016/SVG/main" r:embed="R00ed640752ae436c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EA0836C9-8196-4C5D-99E1-B9AB8681E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1740" y="540687"/>
            <a:ext cx="6144520" cy="11284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8426"/>
              </a:lnSpc>
              <a:buNone/>
            </a:pPr>
            <a:r>
              <a:rPr sz="8426" b="1">
                <a:solidFill>
                  <a:srgbClr val="754820"/>
                </a:solidFill>
                <a:latin typeface="Maven Pro Bold"/>
                <a:ea typeface="Maven Pro Bold"/>
                <a:cs typeface="Maven Pro Bold"/>
              </a:rPr>
              <a:t>SOLUTIONS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19F507FF-282F-433C-9770-1E0760DB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29848" y="4318643"/>
            <a:ext cx="6028303" cy="2507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6864"/>
              </a:lnSpc>
              <a:buNone/>
            </a:pPr>
            <a:r>
              <a:rPr sz="4290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Beginner Review</a:t>
            </a:r>
            <a:r>
              <a:rPr sz="4290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 Flow</a:t>
            </a:r>
          </a:p>
          <a:p xmlns:a="http://schemas.openxmlformats.org/drawingml/2006/main">
            <a:pPr algn="ctr">
              <a:lnSpc>
                <a:spcPts val="6864"/>
              </a:lnSpc>
              <a:buNone/>
            </a:pPr>
            <a:r>
              <a:rPr sz="4290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Card R</a:t>
            </a:r>
            <a:r>
              <a:rPr sz="4290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eview</a:t>
            </a:r>
            <a:r>
              <a:rPr sz="4290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 Mode</a:t>
            </a:r>
          </a:p>
          <a:p xmlns:a="http://schemas.openxmlformats.org/drawingml/2006/main">
            <a:pPr algn="ctr">
              <a:lnSpc>
                <a:spcPts val="6864"/>
              </a:lnSpc>
              <a:buNone/>
            </a:pPr>
            <a:r>
              <a:rPr sz="4290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AI Review Ass</a:t>
            </a:r>
            <a:r>
              <a:rPr sz="4290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istant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9681DAA6-6825-4B6B-A1DB-808C8A3C4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9416" y="2771230"/>
            <a:ext cx="8729169" cy="91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694"/>
              </a:lnSpc>
              <a:spcBef>
                <a:spcPct val="0"/>
              </a:spcBef>
              <a:buNone/>
            </a:pPr>
            <a:r>
              <a:rPr sz="5496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rPr>
              <a:t>Chess Rev</a:t>
            </a:r>
            <a:r>
              <a:rPr sz="5496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rPr>
              <a:t>iew Solutions</a:t>
            </a:r>
          </a:p>
        </p:txBody>
      </p:sp>
    </p:spTree>
    <p:extLst>
      <p:ext uri="{BB962C8B-B14F-4D97-AF65-F5344CB8AC3E}">
        <p14:creationId xmlns:p14="http://schemas.microsoft.com/office/powerpoint/2010/main" val="17662774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EFD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0699FBF9-AF0D-4FD4-AC43-AE01759EA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6056213"/>
            <a:ext cx="4114800" cy="4114800"/>
          </a:xfrm>
          <a:custGeom xmlns:a="http://schemas.openxmlformats.org/drawingml/2006/main"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95538c365ff487a">
              <a:extLst>
                <a:ext uri="{96DAC541-7B7A-43D3-8B79-37D633B846F1}">
                  <asvg:svgBlip xmlns:asvg="http://schemas.microsoft.com/office/drawing/2016/SVG/main" r:embed="Rd2a5cc575c7841bd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48DFFE68-445C-4683-B026-6F4212B7B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1">
            <a:off x="14425139" y="0"/>
            <a:ext cx="4114800" cy="4114800"/>
          </a:xfrm>
          <a:custGeom xmlns:a="http://schemas.openxmlformats.org/drawingml/2006/main"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95538c365ff487a">
              <a:extLst>
                <a:ext uri="{96DAC541-7B7A-43D3-8B79-37D633B846F1}">
                  <asvg:svgBlip xmlns:asvg="http://schemas.microsoft.com/office/drawing/2016/SVG/main" r:embed="Rd2a5cc575c7841bd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7B7FF807-23D2-4B99-BE56-9150E085E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0800" y="272440"/>
            <a:ext cx="2187357" cy="1069709"/>
          </a:xfrm>
          <a:custGeom xmlns:a="http://schemas.openxmlformats.org/drawingml/2006/main">
            <a:rect l="l" t="t" r="r" b="b"/>
            <a:pathLst>
              <a:path w="2187357" h="1069709">
                <a:moveTo>
                  <a:pt x="0" y="0"/>
                </a:moveTo>
                <a:lnTo>
                  <a:pt x="2187356" y="0"/>
                </a:lnTo>
                <a:lnTo>
                  <a:pt x="2187356" y="1069709"/>
                </a:lnTo>
                <a:lnTo>
                  <a:pt x="0" y="106970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054760a85f3406f"/>
            <a:stretch>
              <a:fillRect l="0" t="-53474" r="0" b="-51006"/>
            </a:stretch>
          </a:blip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F9A0930A-E360-4782-8D52-CDB5224E4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10279862" y="1595139"/>
            <a:ext cx="6184923" cy="8456647"/>
          </a:xfrm>
          <a:custGeom xmlns:a="http://schemas.openxmlformats.org/drawingml/2006/main">
            <a:rect l="l" t="t" r="r" b="b"/>
            <a:pathLst>
              <a:path w="6184923" h="8456647">
                <a:moveTo>
                  <a:pt x="0" y="0"/>
                </a:moveTo>
                <a:lnTo>
                  <a:pt x="6184923" y="0"/>
                </a:lnTo>
                <a:lnTo>
                  <a:pt x="6184923" y="8456647"/>
                </a:lnTo>
                <a:lnTo>
                  <a:pt x="0" y="845664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4bbbb12b3a84720"/>
            <a:stretch>
              <a:fillRect l="-21426" t="-8927" r="-19980" b="-28966"/>
            </a:stretch>
          </a:blip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6DDA0C32-25E6-477E-8D40-559DCB43E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57441" y="1152525"/>
            <a:ext cx="11325187" cy="10040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420"/>
              </a:lnSpc>
              <a:buNone/>
            </a:pPr>
            <a:r>
              <a:rPr sz="7420" b="1">
                <a:solidFill>
                  <a:srgbClr val="754820"/>
                </a:solidFill>
                <a:latin typeface="Maven Pro Bold"/>
                <a:ea typeface="Maven Pro Bold"/>
                <a:cs typeface="Maven Pro Bold"/>
              </a:rPr>
              <a:t>POOR TICKET VISIBILITY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72D8B193-182B-4E16-AB34-9A31145A4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9100" y="3971925"/>
            <a:ext cx="7276982" cy="31768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142"/>
              </a:lnSpc>
              <a:buNone/>
            </a:pPr>
            <a:r>
              <a:rPr sz="3838" b="1">
                <a:solidFill>
                  <a:srgbClr val="754820"/>
                </a:solidFill>
                <a:latin typeface="Faustina Bold"/>
                <a:ea typeface="Faustina Bold"/>
                <a:cs typeface="Faustina Bold"/>
              </a:rPr>
              <a:t>See your ticket stat</a:t>
            </a:r>
            <a:r>
              <a:rPr sz="3838" b="1">
                <a:solidFill>
                  <a:srgbClr val="754820"/>
                </a:solidFill>
                <a:latin typeface="Faustina Bold"/>
                <a:ea typeface="Faustina Bold"/>
                <a:cs typeface="Faustina Bold"/>
              </a:rPr>
              <a:t>us at a glan</a:t>
            </a:r>
            <a:r>
              <a:rPr sz="3838" b="1">
                <a:solidFill>
                  <a:srgbClr val="754820"/>
                </a:solidFill>
                <a:latin typeface="Faustina Bold"/>
                <a:ea typeface="Faustina Bold"/>
                <a:cs typeface="Faustina Bold"/>
              </a:rPr>
              <a:t>ce</a:t>
            </a:r>
          </a:p>
          <a:p xmlns:a="http://schemas.openxmlformats.org/drawingml/2006/main">
            <a:pPr algn="l">
              <a:lnSpc>
                <a:spcPts val="2093"/>
              </a:lnSpc>
              <a:buNone/>
            </a:pPr>
          </a:p>
          <a:p xmlns:a="http://schemas.openxmlformats.org/drawingml/2006/main">
            <a:pPr algn="l">
              <a:lnSpc>
                <a:spcPts val="4344"/>
              </a:lnSpc>
              <a:buNone/>
            </a:pPr>
            <a:r>
              <a:rPr sz="2715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Clear status cards show Confirmed, Pending, Action Needed, and Cancelled tickets, so users can quickly understand their ticket situation and decide what to do next.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F3914517-1233-49F6-A9DE-F998733FA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4478" y="2974545"/>
            <a:ext cx="5602406" cy="857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6959"/>
              </a:lnSpc>
              <a:spcBef>
                <a:spcPct val="0"/>
              </a:spcBef>
              <a:buNone/>
            </a:pPr>
            <a:r>
              <a:rPr sz="4970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rPr>
              <a:t>Status Dashboard</a:t>
            </a:r>
          </a:p>
        </p:txBody>
      </p:sp>
    </p:spTree>
    <p:extLst>
      <p:ext uri="{BB962C8B-B14F-4D97-AF65-F5344CB8AC3E}">
        <p14:creationId xmlns:p14="http://schemas.microsoft.com/office/powerpoint/2010/main" val="12839168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EFD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95801BA5-7B02-4936-848A-2AE8C7EE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6056213"/>
            <a:ext cx="4114800" cy="4114800"/>
          </a:xfrm>
          <a:custGeom xmlns:a="http://schemas.openxmlformats.org/drawingml/2006/main"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b4347d612564cf9">
              <a:extLst>
                <a:ext uri="{96DAC541-7B7A-43D3-8B79-37D633B846F1}">
                  <asvg:svgBlip xmlns:asvg="http://schemas.microsoft.com/office/drawing/2016/SVG/main" r:embed="R2db36e76f54b4e3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F7113241-F511-48C3-A0D7-04AD7240A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1">
            <a:off x="14425139" y="0"/>
            <a:ext cx="4114800" cy="4114800"/>
          </a:xfrm>
          <a:custGeom xmlns:a="http://schemas.openxmlformats.org/drawingml/2006/main"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b4347d612564cf9">
              <a:extLst>
                <a:ext uri="{96DAC541-7B7A-43D3-8B79-37D633B846F1}">
                  <asvg:svgBlip xmlns:asvg="http://schemas.microsoft.com/office/drawing/2016/SVG/main" r:embed="R2db36e76f54b4e3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CB413D32-4FD2-47F5-9321-2722A6DD4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0800" y="272440"/>
            <a:ext cx="2187357" cy="1069709"/>
          </a:xfrm>
          <a:custGeom xmlns:a="http://schemas.openxmlformats.org/drawingml/2006/main">
            <a:rect l="l" t="t" r="r" b="b"/>
            <a:pathLst>
              <a:path w="2187357" h="1069709">
                <a:moveTo>
                  <a:pt x="0" y="0"/>
                </a:moveTo>
                <a:lnTo>
                  <a:pt x="2187356" y="0"/>
                </a:lnTo>
                <a:lnTo>
                  <a:pt x="2187356" y="1069709"/>
                </a:lnTo>
                <a:lnTo>
                  <a:pt x="0" y="106970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599ac37868d4735"/>
            <a:stretch>
              <a:fillRect l="0" t="-53474" r="0" b="-51006"/>
            </a:stretch>
          </a:blip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6EAF04C1-4195-4916-B512-6A3B21FC6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10279862" y="1595139"/>
            <a:ext cx="6184923" cy="8456647"/>
          </a:xfrm>
          <a:custGeom xmlns:a="http://schemas.openxmlformats.org/drawingml/2006/main">
            <a:rect l="l" t="t" r="r" b="b"/>
            <a:pathLst>
              <a:path w="6184923" h="8456647">
                <a:moveTo>
                  <a:pt x="0" y="0"/>
                </a:moveTo>
                <a:lnTo>
                  <a:pt x="6184923" y="0"/>
                </a:lnTo>
                <a:lnTo>
                  <a:pt x="6184923" y="8456647"/>
                </a:lnTo>
                <a:lnTo>
                  <a:pt x="0" y="845664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d3aabeff838445e"/>
            <a:stretch>
              <a:fillRect l="-21426" t="-8927" r="-19980" b="-28966"/>
            </a:stretch>
          </a:blip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1DAF1D33-9200-4B5C-801B-B76ED83A5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57441" y="1152525"/>
            <a:ext cx="11325187" cy="10040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420"/>
              </a:lnSpc>
              <a:buNone/>
            </a:pPr>
            <a:r>
              <a:rPr sz="7420" b="1">
                <a:solidFill>
                  <a:srgbClr val="754820"/>
                </a:solidFill>
                <a:latin typeface="Maven Pro Bold"/>
                <a:ea typeface="Maven Pro Bold"/>
                <a:cs typeface="Maven Pro Bold"/>
              </a:rPr>
              <a:t>POOR TICKET VISIBILITY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28DF028B-E8AA-42C5-A8C4-A97D6384C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3725182"/>
            <a:ext cx="7265843" cy="19823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612"/>
              </a:lnSpc>
              <a:buNone/>
            </a:pPr>
            <a:r>
              <a:rPr sz="4133" b="1">
                <a:solidFill>
                  <a:srgbClr val="754820"/>
                </a:solidFill>
                <a:latin typeface="Faustina Bold"/>
                <a:ea typeface="Faustina Bold"/>
                <a:cs typeface="Faustina Bold"/>
              </a:rPr>
              <a:t>Motivation:</a:t>
            </a:r>
          </a:p>
          <a:p xmlns:a="http://schemas.openxmlformats.org/drawingml/2006/main">
            <a:pPr algn="l">
              <a:lnSpc>
                <a:spcPts val="4676"/>
              </a:lnSpc>
              <a:buNone/>
            </a:pPr>
            <a:r>
              <a:rPr sz="2923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p</a:t>
            </a:r>
            <a:r>
              <a:rPr sz="2923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rovide instant ticket status visibility and reduce user uncertainty.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99D182EC-49A8-47DC-9D52-8D174CF1A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5940" y="2540543"/>
            <a:ext cx="5754476" cy="857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6959"/>
              </a:lnSpc>
              <a:spcBef>
                <a:spcPct val="0"/>
              </a:spcBef>
              <a:buNone/>
            </a:pPr>
            <a:r>
              <a:rPr sz="4970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rPr>
              <a:t>Status Dashboard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4E9FD4CE-1A1E-4774-B76F-A9E8FD88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5641679"/>
            <a:ext cx="7265843" cy="25669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612"/>
              </a:lnSpc>
              <a:buNone/>
            </a:pPr>
            <a:r>
              <a:rPr sz="4133" b="1">
                <a:solidFill>
                  <a:srgbClr val="754820"/>
                </a:solidFill>
                <a:latin typeface="Faustina Bold"/>
                <a:ea typeface="Faustina Bold"/>
                <a:cs typeface="Faustina Bold"/>
              </a:rPr>
              <a:t>Why:</a:t>
            </a:r>
          </a:p>
          <a:p xmlns:a="http://schemas.openxmlformats.org/drawingml/2006/main">
            <a:pPr algn="l">
              <a:lnSpc>
                <a:spcPts val="4676"/>
              </a:lnSpc>
              <a:buNone/>
            </a:pPr>
            <a:r>
              <a:rPr sz="2923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use</a:t>
            </a:r>
            <a:r>
              <a:rPr sz="2923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rs need a quick way to know whether their tickets are confirmed, pending, or require action.</a:t>
            </a:r>
          </a:p>
        </p:txBody>
      </p:sp>
    </p:spTree>
    <p:extLst>
      <p:ext uri="{BB962C8B-B14F-4D97-AF65-F5344CB8AC3E}">
        <p14:creationId xmlns:p14="http://schemas.microsoft.com/office/powerpoint/2010/main" val="10885879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EFD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E8BF1250-D749-4390-960C-B8E35E9C4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6056213"/>
            <a:ext cx="4114800" cy="4114800"/>
          </a:xfrm>
          <a:custGeom xmlns:a="http://schemas.openxmlformats.org/drawingml/2006/main"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72d0d8d33c94989">
              <a:extLst>
                <a:ext uri="{96DAC541-7B7A-43D3-8B79-37D633B846F1}">
                  <asvg:svgBlip xmlns:asvg="http://schemas.microsoft.com/office/drawing/2016/SVG/main" r:embed="R7eba7979d5954e8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5FD1C255-B2E1-4633-A25B-55CDB7742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1">
            <a:off x="14425139" y="0"/>
            <a:ext cx="4114800" cy="4114800"/>
          </a:xfrm>
          <a:custGeom xmlns:a="http://schemas.openxmlformats.org/drawingml/2006/main"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72d0d8d33c94989">
              <a:extLst>
                <a:ext uri="{96DAC541-7B7A-43D3-8B79-37D633B846F1}">
                  <asvg:svgBlip xmlns:asvg="http://schemas.microsoft.com/office/drawing/2016/SVG/main" r:embed="R7eba7979d5954e8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F8389A4E-13D5-4CE2-9364-30082154D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0800" y="272440"/>
            <a:ext cx="2187357" cy="1069709"/>
          </a:xfrm>
          <a:custGeom xmlns:a="http://schemas.openxmlformats.org/drawingml/2006/main">
            <a:rect l="l" t="t" r="r" b="b"/>
            <a:pathLst>
              <a:path w="2187357" h="1069709">
                <a:moveTo>
                  <a:pt x="0" y="0"/>
                </a:moveTo>
                <a:lnTo>
                  <a:pt x="2187356" y="0"/>
                </a:lnTo>
                <a:lnTo>
                  <a:pt x="2187356" y="1069709"/>
                </a:lnTo>
                <a:lnTo>
                  <a:pt x="0" y="106970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506c1df57804068"/>
            <a:stretch>
              <a:fillRect l="0" t="-53474" r="0" b="-51006"/>
            </a:stretch>
          </a:blip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1162C8FD-64A4-4561-8B2D-CAF2DEC4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10279862" y="1595139"/>
            <a:ext cx="6184923" cy="8456647"/>
          </a:xfrm>
          <a:custGeom xmlns:a="http://schemas.openxmlformats.org/drawingml/2006/main">
            <a:rect l="l" t="t" r="r" b="b"/>
            <a:pathLst>
              <a:path w="6184923" h="8456647">
                <a:moveTo>
                  <a:pt x="0" y="0"/>
                </a:moveTo>
                <a:lnTo>
                  <a:pt x="6184923" y="0"/>
                </a:lnTo>
                <a:lnTo>
                  <a:pt x="6184923" y="8456647"/>
                </a:lnTo>
                <a:lnTo>
                  <a:pt x="0" y="845664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1747d1563b84dc5"/>
            <a:stretch>
              <a:fillRect l="-21426" t="-8927" r="-19980" b="-28966"/>
            </a:stretch>
          </a:blip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228130A9-BAA4-464F-A914-E10C59DC9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57441" y="1152525"/>
            <a:ext cx="11325187" cy="10040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420"/>
              </a:lnSpc>
              <a:buNone/>
            </a:pPr>
            <a:r>
              <a:rPr sz="7420" b="1">
                <a:solidFill>
                  <a:srgbClr val="754820"/>
                </a:solidFill>
                <a:latin typeface="Maven Pro Bold"/>
                <a:ea typeface="Maven Pro Bold"/>
                <a:cs typeface="Maven Pro Bold"/>
              </a:rPr>
              <a:t>POOR TICKET VISIBILITY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186A1B01-75B0-4421-8E0E-6078117D7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3236443"/>
            <a:ext cx="7387934" cy="46849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7091"/>
              </a:lnSpc>
              <a:buNone/>
            </a:pPr>
            <a:r>
              <a:rPr sz="4432" b="1">
                <a:solidFill>
                  <a:srgbClr val="754820"/>
                </a:solidFill>
                <a:latin typeface="Faustina Bold"/>
                <a:ea typeface="Faustina Bold"/>
                <a:cs typeface="Faustina Bold"/>
              </a:rPr>
              <a:t>How:</a:t>
            </a:r>
          </a:p>
          <a:p xmlns:a="http://schemas.openxmlformats.org/drawingml/2006/main">
            <a:pPr marL="676772" lvl="1" indent="-338386" algn="l">
              <a:lnSpc>
                <a:spcPts val="5015"/>
              </a:lnSpc>
              <a:buFont typeface="Arial"/>
              <a:buChar char="•"/>
            </a:pPr>
            <a:r>
              <a:rPr sz="3134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Sh</a:t>
            </a:r>
            <a:r>
              <a:rPr sz="3134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ow key ticket statuses at a glance </a:t>
            </a:r>
            <a:r>
              <a:rPr sz="3134" b="1">
                <a:solidFill>
                  <a:srgbClr val="FF3131"/>
                </a:solidFill>
                <a:latin typeface="Faustina Bold"/>
                <a:ea typeface="Faustina Bold"/>
                <a:cs typeface="Faustina Bold"/>
              </a:rPr>
              <a:t>[1]</a:t>
            </a:r>
          </a:p>
          <a:p xmlns:a="http://schemas.openxmlformats.org/drawingml/2006/main">
            <a:pPr marL="676772" lvl="1" indent="-338386" algn="l">
              <a:lnSpc>
                <a:spcPts val="5015"/>
              </a:lnSpc>
              <a:buFont typeface="Arial"/>
              <a:buChar char="•"/>
            </a:pPr>
            <a:r>
              <a:rPr sz="3134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Display status clearly on each upcoming event </a:t>
            </a:r>
            <a:r>
              <a:rPr sz="3134" b="1">
                <a:solidFill>
                  <a:srgbClr val="FF3131"/>
                </a:solidFill>
                <a:latin typeface="Faustina Bold"/>
                <a:ea typeface="Faustina Bold"/>
                <a:cs typeface="Faustina Bold"/>
              </a:rPr>
              <a:t>[2]</a:t>
            </a:r>
          </a:p>
          <a:p xmlns:a="http://schemas.openxmlformats.org/drawingml/2006/main">
            <a:pPr marL="676772" lvl="1" indent="-338386" algn="l">
              <a:lnSpc>
                <a:spcPts val="5015"/>
              </a:lnSpc>
              <a:buFont typeface="Arial"/>
              <a:buChar char="•"/>
            </a:pPr>
            <a:r>
              <a:rPr sz="3134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Provide quick actions for fast access</a:t>
            </a:r>
            <a:r>
              <a:rPr sz="3134" b="1">
                <a:solidFill>
                  <a:srgbClr val="FF3131"/>
                </a:solidFill>
                <a:latin typeface="Faustina Bold"/>
                <a:ea typeface="Faustina Bold"/>
                <a:cs typeface="Faustina Bold"/>
              </a:rPr>
              <a:t> [3]</a:t>
            </a:r>
          </a:p>
          <a:p xmlns:a="http://schemas.openxmlformats.org/drawingml/2006/main">
            <a:pPr marL="676772" lvl="1" indent="-338386" algn="l">
              <a:lnSpc>
                <a:spcPts val="5015"/>
              </a:lnSpc>
              <a:buFont typeface="Arial"/>
              <a:buChar char="•"/>
            </a:pPr>
            <a:r>
              <a:rPr sz="3134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Keep users updated with notifications </a:t>
            </a:r>
            <a:r>
              <a:rPr sz="3134" b="1">
                <a:solidFill>
                  <a:srgbClr val="FF3131"/>
                </a:solidFill>
                <a:latin typeface="Faustina Bold"/>
                <a:ea typeface="Faustina Bold"/>
                <a:cs typeface="Faustina Bold"/>
              </a:rPr>
              <a:t>[4]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C27AA80A-A67E-41AD-B4B3-379BD784A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5940" y="2540543"/>
            <a:ext cx="5754476" cy="857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6959"/>
              </a:lnSpc>
              <a:spcBef>
                <a:spcPct val="0"/>
              </a:spcBef>
              <a:buNone/>
            </a:pPr>
            <a:r>
              <a:rPr sz="4970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rPr>
              <a:t>Status Dashboard</a:t>
            </a:r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8902D223-180F-42FE-A1D9-2492037A5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45110" y="4360800"/>
            <a:ext cx="4758870" cy="1235915"/>
          </a:xfrm>
          <a:custGeom xmlns:a="http://schemas.openxmlformats.org/drawingml/2006/main">
            <a:rect l="l" t="t" r="r" b="b"/>
            <a:pathLst>
              <a:path w="1253365" h="325509">
                <a:moveTo>
                  <a:pt x="27656" y="0"/>
                </a:moveTo>
                <a:lnTo>
                  <a:pt x="1225709" y="0"/>
                </a:lnTo>
                <a:cubicBezTo>
                  <a:pt x="1240983" y="0"/>
                  <a:pt x="1253365" y="12382"/>
                  <a:pt x="1253365" y="27656"/>
                </a:cubicBezTo>
                <a:lnTo>
                  <a:pt x="1253365" y="297852"/>
                </a:lnTo>
                <a:cubicBezTo>
                  <a:pt x="1253365" y="305187"/>
                  <a:pt x="1250451" y="312222"/>
                  <a:pt x="1245264" y="317408"/>
                </a:cubicBezTo>
                <a:cubicBezTo>
                  <a:pt x="1240078" y="322595"/>
                  <a:pt x="1233044" y="325509"/>
                  <a:pt x="1225709" y="325509"/>
                </a:cubicBezTo>
                <a:lnTo>
                  <a:pt x="27656" y="325509"/>
                </a:lnTo>
                <a:cubicBezTo>
                  <a:pt x="12382" y="325509"/>
                  <a:pt x="0" y="313126"/>
                  <a:pt x="0" y="297852"/>
                </a:cubicBezTo>
                <a:lnTo>
                  <a:pt x="0" y="27656"/>
                </a:lnTo>
                <a:cubicBezTo>
                  <a:pt x="0" y="12382"/>
                  <a:pt x="12382" y="0"/>
                  <a:pt x="27656" y="0"/>
                </a:cubicBezTo>
                <a:close/>
              </a:path>
            </a:pathLst>
          </a:custGeom>
          <a:ln xmlns:a="http://schemas.openxmlformats.org/drawingml/2006/main" w="95250">
            <a:solidFill>
              <a:srgbClr val="FF3131"/>
            </a:solidFill>
            <a:prstDash val="solid"/>
          </a:ln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0F92A5FC-EF5A-4C12-AF22-AAF3E8365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45110" y="3999149"/>
            <a:ext cx="4758870" cy="15975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900"/>
              </a:lnSpc>
              <a:buNone/>
            </a:pPr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644BA61D-B5FB-4123-80FA-6E045F2A5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45110" y="5823463"/>
            <a:ext cx="4530765" cy="1996265"/>
          </a:xfrm>
          <a:custGeom xmlns:a="http://schemas.openxmlformats.org/drawingml/2006/main">
            <a:rect l="l" t="t" r="r" b="b"/>
            <a:pathLst>
              <a:path w="1193288" h="525765">
                <a:moveTo>
                  <a:pt x="29049" y="0"/>
                </a:moveTo>
                <a:lnTo>
                  <a:pt x="1164239" y="0"/>
                </a:lnTo>
                <a:cubicBezTo>
                  <a:pt x="1180282" y="0"/>
                  <a:pt x="1193288" y="13006"/>
                  <a:pt x="1193288" y="29049"/>
                </a:cubicBezTo>
                <a:lnTo>
                  <a:pt x="1193288" y="496717"/>
                </a:lnTo>
                <a:cubicBezTo>
                  <a:pt x="1193288" y="512760"/>
                  <a:pt x="1180282" y="525765"/>
                  <a:pt x="1164239" y="525765"/>
                </a:cubicBezTo>
                <a:lnTo>
                  <a:pt x="29049" y="525765"/>
                </a:lnTo>
                <a:cubicBezTo>
                  <a:pt x="13006" y="525765"/>
                  <a:pt x="0" y="512760"/>
                  <a:pt x="0" y="496717"/>
                </a:cubicBezTo>
                <a:lnTo>
                  <a:pt x="0" y="29049"/>
                </a:lnTo>
                <a:cubicBezTo>
                  <a:pt x="0" y="13006"/>
                  <a:pt x="13006" y="0"/>
                  <a:pt x="29049" y="0"/>
                </a:cubicBezTo>
                <a:close/>
              </a:path>
            </a:pathLst>
          </a:custGeom>
          <a:ln xmlns:a="http://schemas.openxmlformats.org/drawingml/2006/main" w="95250">
            <a:solidFill>
              <a:srgbClr val="FF3131"/>
            </a:solidFill>
            <a:prstDash val="solid"/>
          </a:ln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F1510DFF-C854-496F-BB3A-55B448CD4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45110" y="5461811"/>
            <a:ext cx="4530765" cy="23579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900"/>
              </a:lnSpc>
              <a:buNone/>
            </a:pPr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A89AFF80-05E1-4393-A463-C388B64B8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560032" y="7819728"/>
            <a:ext cx="4815843" cy="922620"/>
          </a:xfrm>
          <a:custGeom xmlns:a="http://schemas.openxmlformats.org/drawingml/2006/main">
            <a:rect l="l" t="t" r="r" b="b"/>
            <a:pathLst>
              <a:path w="1268370" h="242995">
                <a:moveTo>
                  <a:pt x="27329" y="0"/>
                </a:moveTo>
                <a:lnTo>
                  <a:pt x="1241041" y="0"/>
                </a:lnTo>
                <a:cubicBezTo>
                  <a:pt x="1256134" y="0"/>
                  <a:pt x="1268370" y="12236"/>
                  <a:pt x="1268370" y="27329"/>
                </a:cubicBezTo>
                <a:lnTo>
                  <a:pt x="1268370" y="215666"/>
                </a:lnTo>
                <a:cubicBezTo>
                  <a:pt x="1268370" y="230759"/>
                  <a:pt x="1256134" y="242995"/>
                  <a:pt x="1241041" y="242995"/>
                </a:cubicBezTo>
                <a:lnTo>
                  <a:pt x="27329" y="242995"/>
                </a:lnTo>
                <a:cubicBezTo>
                  <a:pt x="12236" y="242995"/>
                  <a:pt x="0" y="230759"/>
                  <a:pt x="0" y="215666"/>
                </a:cubicBezTo>
                <a:lnTo>
                  <a:pt x="0" y="27329"/>
                </a:lnTo>
                <a:cubicBezTo>
                  <a:pt x="0" y="12236"/>
                  <a:pt x="12236" y="0"/>
                  <a:pt x="27329" y="0"/>
                </a:cubicBezTo>
                <a:close/>
              </a:path>
            </a:pathLst>
          </a:custGeom>
          <a:ln xmlns:a="http://schemas.openxmlformats.org/drawingml/2006/main" w="95250">
            <a:solidFill>
              <a:srgbClr val="FF3131"/>
            </a:solidFill>
            <a:prstDash val="solid"/>
          </a:ln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2FA2B246-A554-4926-874D-707D67EA4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560032" y="7458077"/>
            <a:ext cx="4815843" cy="128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900"/>
              </a:lnSpc>
              <a:buNone/>
            </a:pPr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45A689EB-CEB9-482C-A013-8C34079A2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603980" y="3955610"/>
            <a:ext cx="1489365" cy="2117487"/>
          </a:xfrm>
          <a:custGeom xmlns:a="http://schemas.openxmlformats.org/drawingml/2006/main">
            <a:rect l="l" t="t" r="r" b="b"/>
            <a:pathLst>
              <a:path w="392261" h="557692">
                <a:moveTo>
                  <a:pt x="88368" y="0"/>
                </a:moveTo>
                <a:lnTo>
                  <a:pt x="303892" y="0"/>
                </a:lnTo>
                <a:cubicBezTo>
                  <a:pt x="352697" y="0"/>
                  <a:pt x="392261" y="39564"/>
                  <a:pt x="392261" y="88368"/>
                </a:cubicBezTo>
                <a:lnTo>
                  <a:pt x="392261" y="469324"/>
                </a:lnTo>
                <a:cubicBezTo>
                  <a:pt x="392261" y="518128"/>
                  <a:pt x="352697" y="557692"/>
                  <a:pt x="303892" y="557692"/>
                </a:cubicBezTo>
                <a:lnTo>
                  <a:pt x="88368" y="557692"/>
                </a:lnTo>
                <a:cubicBezTo>
                  <a:pt x="39564" y="557692"/>
                  <a:pt x="0" y="518128"/>
                  <a:pt x="0" y="469324"/>
                </a:cubicBezTo>
                <a:lnTo>
                  <a:pt x="0" y="88368"/>
                </a:lnTo>
                <a:cubicBezTo>
                  <a:pt x="0" y="39564"/>
                  <a:pt x="39564" y="0"/>
                  <a:pt x="88368" y="0"/>
                </a:cubicBezTo>
                <a:close/>
              </a:path>
            </a:pathLst>
          </a:custGeom>
          <a:ln xmlns:a="http://schemas.openxmlformats.org/drawingml/2006/main" w="95250">
            <a:solidFill>
              <a:srgbClr val="FF3131"/>
            </a:solidFill>
            <a:prstDash val="solid"/>
          </a:ln>
        </p:spPr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3C8AC2A1-F5A0-4952-8F72-22022AE04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603980" y="3593958"/>
            <a:ext cx="1489365" cy="24791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900"/>
              </a:lnSpc>
              <a:buNone/>
            </a:pP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7A3DBFF0-0F66-430F-BF0D-1688DCADB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53407" y="4079823"/>
            <a:ext cx="291703" cy="4667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900"/>
              </a:lnSpc>
              <a:spcBef>
                <a:spcPct val="0"/>
              </a:spcBef>
              <a:buNone/>
            </a:pPr>
            <a:r>
              <a:rPr sz="2437" b="1">
                <a:solidFill>
                  <a:srgbClr val="FF3131"/>
                </a:solidFill>
                <a:latin typeface="Faustina Bold"/>
                <a:ea typeface="Faustina Bold"/>
                <a:cs typeface="Faustina Bold"/>
              </a:rPr>
              <a:t>[1]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B5778AC0-5A85-4821-8220-7255DD326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01678" y="6683799"/>
            <a:ext cx="316706" cy="4667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900"/>
              </a:lnSpc>
              <a:spcBef>
                <a:spcPct val="0"/>
              </a:spcBef>
              <a:buNone/>
            </a:pPr>
            <a:r>
              <a:rPr sz="2437" b="1">
                <a:solidFill>
                  <a:srgbClr val="FF3131"/>
                </a:solidFill>
                <a:latin typeface="Faustina Bold"/>
                <a:ea typeface="Faustina Bold"/>
                <a:cs typeface="Faustina Bold"/>
              </a:rPr>
              <a:t>[2]</a:t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17F6B59B-75C1-4F8C-A308-7FE83D8E7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82539" y="5960963"/>
            <a:ext cx="307479" cy="4667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900"/>
              </a:lnSpc>
              <a:spcBef>
                <a:spcPct val="0"/>
              </a:spcBef>
              <a:buNone/>
            </a:pPr>
            <a:r>
              <a:rPr sz="2437" b="1">
                <a:solidFill>
                  <a:srgbClr val="FF3131"/>
                </a:solidFill>
                <a:latin typeface="Faustina Bold"/>
                <a:ea typeface="Faustina Bold"/>
                <a:cs typeface="Faustina Bold"/>
              </a:rPr>
              <a:t>[3]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0136D308-E129-401D-A26B-0B56DDAE2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78854" y="7923455"/>
            <a:ext cx="319484" cy="4667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900"/>
              </a:lnSpc>
              <a:spcBef>
                <a:spcPct val="0"/>
              </a:spcBef>
              <a:buNone/>
            </a:pPr>
            <a:r>
              <a:rPr sz="2437" b="1">
                <a:solidFill>
                  <a:srgbClr val="FF3131"/>
                </a:solidFill>
                <a:latin typeface="Faustina Bold"/>
                <a:ea typeface="Faustina Bold"/>
                <a:cs typeface="Faustina Bold"/>
              </a:rPr>
              <a:t>[4]</a:t>
            </a:r>
          </a:p>
        </p:txBody>
      </p:sp>
    </p:spTree>
    <p:extLst>
      <p:ext uri="{BB962C8B-B14F-4D97-AF65-F5344CB8AC3E}">
        <p14:creationId xmlns:p14="http://schemas.microsoft.com/office/powerpoint/2010/main" val="95213399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EFD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3DD26CBC-7142-4EA2-965B-B6565EB7A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6056213"/>
            <a:ext cx="4114800" cy="4114800"/>
          </a:xfrm>
          <a:custGeom xmlns:a="http://schemas.openxmlformats.org/drawingml/2006/main"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26d48acf0164362">
              <a:extLst>
                <a:ext uri="{96DAC541-7B7A-43D3-8B79-37D633B846F1}">
                  <asvg:svgBlip xmlns:asvg="http://schemas.microsoft.com/office/drawing/2016/SVG/main" r:embed="Rbbf6cbb3dde043ff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F0C0EB56-FB22-4F4A-B6BF-606E86D29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1">
            <a:off x="14425139" y="0"/>
            <a:ext cx="4114800" cy="4114800"/>
          </a:xfrm>
          <a:custGeom xmlns:a="http://schemas.openxmlformats.org/drawingml/2006/main"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26d48acf0164362">
              <a:extLst>
                <a:ext uri="{96DAC541-7B7A-43D3-8B79-37D633B846F1}">
                  <asvg:svgBlip xmlns:asvg="http://schemas.microsoft.com/office/drawing/2016/SVG/main" r:embed="Rbbf6cbb3dde043ff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61DD6066-C8AE-4F46-A2FF-806FB1CD9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0800" y="272440"/>
            <a:ext cx="2187357" cy="1069709"/>
          </a:xfrm>
          <a:custGeom xmlns:a="http://schemas.openxmlformats.org/drawingml/2006/main">
            <a:rect l="l" t="t" r="r" b="b"/>
            <a:pathLst>
              <a:path w="2187357" h="1069709">
                <a:moveTo>
                  <a:pt x="0" y="0"/>
                </a:moveTo>
                <a:lnTo>
                  <a:pt x="2187356" y="0"/>
                </a:lnTo>
                <a:lnTo>
                  <a:pt x="2187356" y="1069709"/>
                </a:lnTo>
                <a:lnTo>
                  <a:pt x="0" y="106970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ef354793f8f40a3"/>
            <a:stretch>
              <a:fillRect l="0" t="-53474" r="0" b="-51006"/>
            </a:stretch>
          </a:blip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20F58617-C56B-475F-B9E9-E6627A2D4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10279862" y="1595139"/>
            <a:ext cx="6184923" cy="8456647"/>
          </a:xfrm>
          <a:custGeom xmlns:a="http://schemas.openxmlformats.org/drawingml/2006/main">
            <a:rect l="l" t="t" r="r" b="b"/>
            <a:pathLst>
              <a:path w="6184923" h="8456647">
                <a:moveTo>
                  <a:pt x="0" y="0"/>
                </a:moveTo>
                <a:lnTo>
                  <a:pt x="6184923" y="0"/>
                </a:lnTo>
                <a:lnTo>
                  <a:pt x="6184923" y="8456647"/>
                </a:lnTo>
                <a:lnTo>
                  <a:pt x="0" y="845664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443b0beb3844c6d"/>
            <a:stretch>
              <a:fillRect l="-21426" t="-8927" r="-19980" b="-28966"/>
            </a:stretch>
          </a:blip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CF89373C-76D4-4037-A746-574BFA0F0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57441" y="1152525"/>
            <a:ext cx="11325187" cy="10040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420"/>
              </a:lnSpc>
              <a:buNone/>
            </a:pPr>
            <a:r>
              <a:rPr sz="7420" b="1">
                <a:solidFill>
                  <a:srgbClr val="754820"/>
                </a:solidFill>
                <a:latin typeface="Maven Pro Bold"/>
                <a:ea typeface="Maven Pro Bold"/>
                <a:cs typeface="Maven Pro Bold"/>
              </a:rPr>
              <a:t>POOR TICKET VISIBILITY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D914425E-6FBE-46BF-9BF6-C8237D7EC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0515" y="3265018"/>
            <a:ext cx="6128570" cy="31556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515"/>
              </a:lnSpc>
              <a:buNone/>
            </a:pPr>
            <a:r>
              <a:rPr sz="3447" b="1">
                <a:solidFill>
                  <a:srgbClr val="754820"/>
                </a:solidFill>
                <a:latin typeface="Faustina Bold"/>
                <a:ea typeface="Faustina Bold"/>
                <a:cs typeface="Faustina Bold"/>
              </a:rPr>
              <a:t>Pros:</a:t>
            </a:r>
          </a:p>
          <a:p xmlns:a="http://schemas.openxmlformats.org/drawingml/2006/main">
            <a:pPr marL="526342" lvl="1" indent="-263171" algn="l">
              <a:lnSpc>
                <a:spcPts val="3900"/>
              </a:lnSpc>
              <a:buFont typeface="Arial"/>
              <a:buChar char="•"/>
            </a:pPr>
            <a:r>
              <a:rPr sz="2437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Clear ticket status at a glance</a:t>
            </a:r>
          </a:p>
          <a:p xmlns:a="http://schemas.openxmlformats.org/drawingml/2006/main">
            <a:pPr marL="526342" lvl="1" indent="-263171" algn="l">
              <a:lnSpc>
                <a:spcPts val="3900"/>
              </a:lnSpc>
              <a:buFont typeface="Arial"/>
              <a:buChar char="•"/>
            </a:pPr>
            <a:r>
              <a:rPr sz="2437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Reduces anxiety with reassuring information</a:t>
            </a:r>
          </a:p>
          <a:p xmlns:a="http://schemas.openxmlformats.org/drawingml/2006/main">
            <a:pPr marL="526342" lvl="1" indent="-263171" algn="l">
              <a:lnSpc>
                <a:spcPts val="3900"/>
              </a:lnSpc>
              <a:buFont typeface="Arial"/>
              <a:buChar char="•"/>
            </a:pPr>
            <a:r>
              <a:rPr sz="2437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Makes next actions easy to find</a:t>
            </a:r>
          </a:p>
          <a:p xmlns:a="http://schemas.openxmlformats.org/drawingml/2006/main">
            <a:pPr marL="526342" lvl="1" indent="-263171" algn="l">
              <a:lnSpc>
                <a:spcPts val="3900"/>
              </a:lnSpc>
              <a:buFont typeface="Arial"/>
              <a:buChar char="•"/>
            </a:pPr>
            <a:r>
              <a:rPr sz="2437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Important ticket information is centralized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535301CD-5BED-4363-B2D8-A47F428B8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5940" y="2540543"/>
            <a:ext cx="5754476" cy="857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6959"/>
              </a:lnSpc>
              <a:spcBef>
                <a:spcPct val="0"/>
              </a:spcBef>
              <a:buNone/>
            </a:pPr>
            <a:r>
              <a:rPr sz="4970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rPr>
              <a:t>Status Dashboard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A25E60D8-901F-410C-B92B-8028ABD8B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0515" y="6443816"/>
            <a:ext cx="6534090" cy="1669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515"/>
              </a:lnSpc>
              <a:buNone/>
            </a:pPr>
            <a:r>
              <a:rPr sz="3447" b="1">
                <a:solidFill>
                  <a:srgbClr val="754820"/>
                </a:solidFill>
                <a:latin typeface="Faustina Bold"/>
                <a:ea typeface="Faustina Bold"/>
                <a:cs typeface="Faustina Bold"/>
              </a:rPr>
              <a:t>Cons:</a:t>
            </a:r>
          </a:p>
          <a:p xmlns:a="http://schemas.openxmlformats.org/drawingml/2006/main">
            <a:pPr marL="526342" lvl="1" indent="-263171" algn="l">
              <a:lnSpc>
                <a:spcPts val="3900"/>
              </a:lnSpc>
              <a:buFont typeface="Arial"/>
              <a:buChar char="•"/>
            </a:pPr>
            <a:r>
              <a:rPr sz="2437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M</a:t>
            </a:r>
            <a:r>
              <a:rPr sz="2437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any quick actions can make the UI feel busy</a:t>
            </a:r>
          </a:p>
          <a:p xmlns:a="http://schemas.openxmlformats.org/drawingml/2006/main">
            <a:pPr marL="526342" lvl="1" indent="-263171" algn="l">
              <a:lnSpc>
                <a:spcPts val="3900"/>
              </a:lnSpc>
              <a:buFont typeface="Arial"/>
              <a:buChar char="•"/>
            </a:pPr>
            <a:r>
              <a:rPr sz="2437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Less visibility into the full ticket process</a:t>
            </a:r>
          </a:p>
        </p:txBody>
      </p:sp>
    </p:spTree>
    <p:extLst>
      <p:ext uri="{BB962C8B-B14F-4D97-AF65-F5344CB8AC3E}">
        <p14:creationId xmlns:p14="http://schemas.microsoft.com/office/powerpoint/2010/main" val="117948505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EFD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33EBC8C2-AAFD-4AF9-AD14-777450C08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6056213"/>
            <a:ext cx="4114800" cy="4114800"/>
          </a:xfrm>
          <a:custGeom xmlns:a="http://schemas.openxmlformats.org/drawingml/2006/main"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9cc52e732c5406a">
              <a:extLst>
                <a:ext uri="{96DAC541-7B7A-43D3-8B79-37D633B846F1}">
                  <asvg:svgBlip xmlns:asvg="http://schemas.microsoft.com/office/drawing/2016/SVG/main" r:embed="R3008c53c131744ff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C640CFEB-7750-4A78-8C23-EE4044A13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1">
            <a:off x="14425139" y="0"/>
            <a:ext cx="4114800" cy="4114800"/>
          </a:xfrm>
          <a:custGeom xmlns:a="http://schemas.openxmlformats.org/drawingml/2006/main"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9cc52e732c5406a">
              <a:extLst>
                <a:ext uri="{96DAC541-7B7A-43D3-8B79-37D633B846F1}">
                  <asvg:svgBlip xmlns:asvg="http://schemas.microsoft.com/office/drawing/2016/SVG/main" r:embed="R3008c53c131744ff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2FADF7B4-639A-401D-BF62-5C37128EF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0800" y="272440"/>
            <a:ext cx="2187357" cy="1069709"/>
          </a:xfrm>
          <a:custGeom xmlns:a="http://schemas.openxmlformats.org/drawingml/2006/main">
            <a:rect l="l" t="t" r="r" b="b"/>
            <a:pathLst>
              <a:path w="2187357" h="1069709">
                <a:moveTo>
                  <a:pt x="0" y="0"/>
                </a:moveTo>
                <a:lnTo>
                  <a:pt x="2187356" y="0"/>
                </a:lnTo>
                <a:lnTo>
                  <a:pt x="2187356" y="1069709"/>
                </a:lnTo>
                <a:lnTo>
                  <a:pt x="0" y="106970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35fb8b01d9246f9"/>
            <a:stretch>
              <a:fillRect l="0" t="-53474" r="0" b="-51006"/>
            </a:stretch>
          </a:blip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B5F3AAAD-E8C5-4A50-B3A1-35BAE8B2C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10390936" y="1376280"/>
            <a:ext cx="5869868" cy="8915654"/>
          </a:xfrm>
          <a:custGeom xmlns:a="http://schemas.openxmlformats.org/drawingml/2006/main">
            <a:rect l="l" t="t" r="r" b="b"/>
            <a:pathLst>
              <a:path w="5869868" h="8915654">
                <a:moveTo>
                  <a:pt x="0" y="0"/>
                </a:moveTo>
                <a:lnTo>
                  <a:pt x="5869868" y="0"/>
                </a:lnTo>
                <a:lnTo>
                  <a:pt x="5869868" y="8915654"/>
                </a:lnTo>
                <a:lnTo>
                  <a:pt x="0" y="891565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077efbf6e8c4cf4"/>
            <a:stretch>
              <a:fillRect l="-32768" t="-7191" r="-15911" b="-23325"/>
            </a:stretch>
          </a:blip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AECF2D0A-1F97-42F2-B192-482C5B60B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57441" y="1152525"/>
            <a:ext cx="11325187" cy="10040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420"/>
              </a:lnSpc>
              <a:buNone/>
            </a:pPr>
            <a:r>
              <a:rPr sz="7420" b="1">
                <a:solidFill>
                  <a:srgbClr val="754820"/>
                </a:solidFill>
                <a:latin typeface="Maven Pro Bold"/>
                <a:ea typeface="Maven Pro Bold"/>
                <a:cs typeface="Maven Pro Bold"/>
              </a:rPr>
              <a:t>POOR TICKET VISIBILITY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967DACBD-1144-4790-ADF6-B58829C11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9100" y="3816303"/>
            <a:ext cx="7097558" cy="4297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674"/>
              </a:lnSpc>
              <a:buNone/>
            </a:pPr>
            <a:r>
              <a:rPr sz="4171" b="1">
                <a:solidFill>
                  <a:srgbClr val="754820"/>
                </a:solidFill>
                <a:latin typeface="Faustina Bold"/>
                <a:ea typeface="Faustina Bold"/>
                <a:cs typeface="Faustina Bold"/>
              </a:rPr>
              <a:t>Track every ticket step</a:t>
            </a:r>
            <a:r>
              <a:rPr sz="4171" b="1">
                <a:solidFill>
                  <a:srgbClr val="754820"/>
                </a:solidFill>
                <a:latin typeface="Faustina Bold"/>
                <a:ea typeface="Faustina Bold"/>
                <a:cs typeface="Faustina Bold"/>
              </a:rPr>
              <a:t> with confiden</a:t>
            </a:r>
            <a:r>
              <a:rPr sz="4171" b="1">
                <a:solidFill>
                  <a:srgbClr val="754820"/>
                </a:solidFill>
                <a:latin typeface="Faustina Bold"/>
                <a:ea typeface="Faustina Bold"/>
                <a:cs typeface="Faustina Bold"/>
              </a:rPr>
              <a:t>ce</a:t>
            </a:r>
          </a:p>
          <a:p xmlns:a="http://schemas.openxmlformats.org/drawingml/2006/main">
            <a:pPr algn="l">
              <a:lnSpc>
                <a:spcPts val="2275"/>
              </a:lnSpc>
              <a:buNone/>
            </a:pPr>
          </a:p>
          <a:p xmlns:a="http://schemas.openxmlformats.org/drawingml/2006/main">
            <a:pPr algn="l">
              <a:lnSpc>
                <a:spcPts val="4720"/>
              </a:lnSpc>
              <a:buNone/>
            </a:pPr>
            <a:r>
              <a:rPr sz="2950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Clear timelines show each stage of the ticket process, helping users understand their current progress, what happens next, and whether their information is up to date.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E2C903EE-C169-4B4B-8A8B-E629408A8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3081309"/>
            <a:ext cx="5779821" cy="857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6959"/>
              </a:lnSpc>
              <a:spcBef>
                <a:spcPct val="0"/>
              </a:spcBef>
              <a:buNone/>
            </a:pPr>
            <a:r>
              <a:rPr sz="4970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rPr>
              <a:t>Timeline</a:t>
            </a:r>
            <a:r>
              <a:rPr sz="4970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rPr>
              <a:t> Tracker</a:t>
            </a:r>
          </a:p>
        </p:txBody>
      </p:sp>
    </p:spTree>
    <p:extLst>
      <p:ext uri="{BB962C8B-B14F-4D97-AF65-F5344CB8AC3E}">
        <p14:creationId xmlns:p14="http://schemas.microsoft.com/office/powerpoint/2010/main" val="38559969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EFD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270F4484-BB01-4815-BC90-039CA9A09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6056213"/>
            <a:ext cx="4114800" cy="4114800"/>
          </a:xfrm>
          <a:custGeom xmlns:a="http://schemas.openxmlformats.org/drawingml/2006/main"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c61f0476d1a401e">
              <a:extLst>
                <a:ext uri="{96DAC541-7B7A-43D3-8B79-37D633B846F1}">
                  <asvg:svgBlip xmlns:asvg="http://schemas.microsoft.com/office/drawing/2016/SVG/main" r:embed="Rb5650917c7384b0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13E14C0A-6580-4F1C-B6A2-F20D45C35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1">
            <a:off x="14425139" y="0"/>
            <a:ext cx="4114800" cy="4114800"/>
          </a:xfrm>
          <a:custGeom xmlns:a="http://schemas.openxmlformats.org/drawingml/2006/main"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c61f0476d1a401e">
              <a:extLst>
                <a:ext uri="{96DAC541-7B7A-43D3-8B79-37D633B846F1}">
                  <asvg:svgBlip xmlns:asvg="http://schemas.microsoft.com/office/drawing/2016/SVG/main" r:embed="Rb5650917c7384b0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3287450E-56BF-4332-B4E7-98D9973A9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0800" y="272440"/>
            <a:ext cx="2187357" cy="1069709"/>
          </a:xfrm>
          <a:custGeom xmlns:a="http://schemas.openxmlformats.org/drawingml/2006/main">
            <a:rect l="l" t="t" r="r" b="b"/>
            <a:pathLst>
              <a:path w="2187357" h="1069709">
                <a:moveTo>
                  <a:pt x="0" y="0"/>
                </a:moveTo>
                <a:lnTo>
                  <a:pt x="2187356" y="0"/>
                </a:lnTo>
                <a:lnTo>
                  <a:pt x="2187356" y="1069709"/>
                </a:lnTo>
                <a:lnTo>
                  <a:pt x="0" y="106970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fd06dab4caa4ae9"/>
            <a:stretch>
              <a:fillRect l="0" t="-53474" r="0" b="-51006"/>
            </a:stretch>
          </a:blipFill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4FAB60CC-004C-44D2-8A6F-AD1475B16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57441" y="1152525"/>
            <a:ext cx="11325187" cy="10040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420"/>
              </a:lnSpc>
              <a:buNone/>
            </a:pPr>
            <a:r>
              <a:rPr sz="7420" b="1">
                <a:solidFill>
                  <a:srgbClr val="754820"/>
                </a:solidFill>
                <a:latin typeface="Maven Pro Bold"/>
                <a:ea typeface="Maven Pro Bold"/>
                <a:cs typeface="Maven Pro Bold"/>
              </a:rPr>
              <a:t>POOR TICKET VISIBILITY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779E29D8-FF0B-4D02-941A-5DE8A14B2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3725182"/>
            <a:ext cx="7265843" cy="19823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612"/>
              </a:lnSpc>
              <a:buNone/>
            </a:pPr>
            <a:r>
              <a:rPr sz="4133" b="1">
                <a:solidFill>
                  <a:srgbClr val="754820"/>
                </a:solidFill>
                <a:latin typeface="Faustina Bold"/>
                <a:ea typeface="Faustina Bold"/>
                <a:cs typeface="Faustina Bold"/>
              </a:rPr>
              <a:t>Motivation:</a:t>
            </a:r>
          </a:p>
          <a:p xmlns:a="http://schemas.openxmlformats.org/drawingml/2006/main">
            <a:pPr algn="l">
              <a:lnSpc>
                <a:spcPts val="4676"/>
              </a:lnSpc>
              <a:buNone/>
            </a:pPr>
            <a:r>
              <a:rPr sz="2923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make ticket progress transparent and keep information up to date.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DF86CE8E-20B1-43D6-AD12-E2EA0B3A2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0203" y="2934032"/>
            <a:ext cx="5526371" cy="857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6959"/>
              </a:lnSpc>
              <a:spcBef>
                <a:spcPct val="0"/>
              </a:spcBef>
              <a:buNone/>
            </a:pPr>
            <a:r>
              <a:rPr sz="4970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rPr>
              <a:t>Timeline tracker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63525027-67CA-4A18-BFAB-BD5703510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5641679"/>
            <a:ext cx="7265843" cy="25669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612"/>
              </a:lnSpc>
              <a:buNone/>
            </a:pPr>
            <a:r>
              <a:rPr sz="4133" b="1">
                <a:solidFill>
                  <a:srgbClr val="754820"/>
                </a:solidFill>
                <a:latin typeface="Faustina Bold"/>
                <a:ea typeface="Faustina Bold"/>
                <a:cs typeface="Faustina Bold"/>
              </a:rPr>
              <a:t>Why:</a:t>
            </a:r>
          </a:p>
          <a:p xmlns:a="http://schemas.openxmlformats.org/drawingml/2006/main">
            <a:pPr algn="l">
              <a:lnSpc>
                <a:spcPts val="4676"/>
              </a:lnSpc>
              <a:buNone/>
            </a:pPr>
            <a:r>
              <a:rPr sz="2923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use</a:t>
            </a:r>
            <a:r>
              <a:rPr sz="2923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rs need to know where their ticket stands, what step comes next, and whether the latest information is reliable.</a:t>
            </a: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5E3AF75B-9121-460E-B29B-E556285CF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10390936" y="1376280"/>
            <a:ext cx="5869868" cy="8915654"/>
          </a:xfrm>
          <a:custGeom xmlns:a="http://schemas.openxmlformats.org/drawingml/2006/main">
            <a:rect l="l" t="t" r="r" b="b"/>
            <a:pathLst>
              <a:path w="5869868" h="8915654">
                <a:moveTo>
                  <a:pt x="0" y="0"/>
                </a:moveTo>
                <a:lnTo>
                  <a:pt x="5869868" y="0"/>
                </a:lnTo>
                <a:lnTo>
                  <a:pt x="5869868" y="8915654"/>
                </a:lnTo>
                <a:lnTo>
                  <a:pt x="0" y="891565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37dc52356a84baa"/>
            <a:stretch>
              <a:fillRect l="-32768" t="-7191" r="-15911" b="-23325"/>
            </a:stretch>
          </a:blipFill>
        </p:spPr>
      </p:sp>
    </p:spTree>
    <p:extLst>
      <p:ext uri="{BB962C8B-B14F-4D97-AF65-F5344CB8AC3E}">
        <p14:creationId xmlns:p14="http://schemas.microsoft.com/office/powerpoint/2010/main" val="151103208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EFD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F450A40A-4ABF-49EB-B5D5-CA0D75863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6056213"/>
            <a:ext cx="4114800" cy="4114800"/>
          </a:xfrm>
          <a:custGeom xmlns:a="http://schemas.openxmlformats.org/drawingml/2006/main"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d89870c71a34c11">
              <a:extLst>
                <a:ext uri="{96DAC541-7B7A-43D3-8B79-37D633B846F1}">
                  <asvg:svgBlip xmlns:asvg="http://schemas.microsoft.com/office/drawing/2016/SVG/main" r:embed="R3a9cda5a55cb4fcb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F9CEDF17-A300-4D54-A0C9-9BC729A01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10390936" y="1376280"/>
            <a:ext cx="5869868" cy="8915654"/>
          </a:xfrm>
          <a:custGeom xmlns:a="http://schemas.openxmlformats.org/drawingml/2006/main">
            <a:rect l="l" t="t" r="r" b="b"/>
            <a:pathLst>
              <a:path w="5869868" h="8915654">
                <a:moveTo>
                  <a:pt x="0" y="0"/>
                </a:moveTo>
                <a:lnTo>
                  <a:pt x="5869868" y="0"/>
                </a:lnTo>
                <a:lnTo>
                  <a:pt x="5869868" y="8915654"/>
                </a:lnTo>
                <a:lnTo>
                  <a:pt x="0" y="891565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3000287fb7a4b3e"/>
            <a:stretch>
              <a:fillRect l="-32768" t="-7191" r="-15911" b="-23325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97701C3C-A128-4F16-B8E2-24C4185DD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1">
            <a:off x="14425139" y="0"/>
            <a:ext cx="4114800" cy="4114800"/>
          </a:xfrm>
          <a:custGeom xmlns:a="http://schemas.openxmlformats.org/drawingml/2006/main"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d89870c71a34c11">
              <a:extLst>
                <a:ext uri="{96DAC541-7B7A-43D3-8B79-37D633B846F1}">
                  <asvg:svgBlip xmlns:asvg="http://schemas.microsoft.com/office/drawing/2016/SVG/main" r:embed="R3a9cda5a55cb4fcb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CC36149C-8187-478F-A8A6-2EFA6C749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0800" y="272440"/>
            <a:ext cx="2187357" cy="1069709"/>
          </a:xfrm>
          <a:custGeom xmlns:a="http://schemas.openxmlformats.org/drawingml/2006/main">
            <a:rect l="l" t="t" r="r" b="b"/>
            <a:pathLst>
              <a:path w="2187357" h="1069709">
                <a:moveTo>
                  <a:pt x="0" y="0"/>
                </a:moveTo>
                <a:lnTo>
                  <a:pt x="2187356" y="0"/>
                </a:lnTo>
                <a:lnTo>
                  <a:pt x="2187356" y="1069709"/>
                </a:lnTo>
                <a:lnTo>
                  <a:pt x="0" y="106970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bea3bce495e42b2"/>
            <a:stretch>
              <a:fillRect l="0" t="-53474" r="0" b="-51006"/>
            </a:stretch>
          </a:blip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19A80152-E072-4339-AA7C-BE5F08C7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57441" y="1152525"/>
            <a:ext cx="11325187" cy="10040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420"/>
              </a:lnSpc>
              <a:buNone/>
            </a:pPr>
            <a:r>
              <a:rPr sz="7420" b="1">
                <a:solidFill>
                  <a:srgbClr val="754820"/>
                </a:solidFill>
                <a:latin typeface="Maven Pro Bold"/>
                <a:ea typeface="Maven Pro Bold"/>
                <a:cs typeface="Maven Pro Bold"/>
              </a:rPr>
              <a:t>POOR TICKET VISIBILITY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663AE2A2-7AE9-451D-961F-A6C6A58B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3353656"/>
            <a:ext cx="7239000" cy="49114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527"/>
              </a:lnSpc>
              <a:buNone/>
            </a:pPr>
            <a:r>
              <a:rPr sz="4079" b="1">
                <a:solidFill>
                  <a:srgbClr val="754820"/>
                </a:solidFill>
                <a:latin typeface="Faustina Bold"/>
                <a:ea typeface="Faustina Bold"/>
                <a:cs typeface="Faustina Bold"/>
              </a:rPr>
              <a:t>How:</a:t>
            </a:r>
          </a:p>
          <a:p xmlns:a="http://schemas.openxmlformats.org/drawingml/2006/main">
            <a:pPr marL="622954" lvl="1" indent="-311477" algn="l">
              <a:lnSpc>
                <a:spcPts val="4616"/>
              </a:lnSpc>
              <a:buFont typeface="Arial"/>
              <a:buChar char="•"/>
            </a:pPr>
            <a:r>
              <a:rPr sz="2885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Sh</a:t>
            </a:r>
            <a:r>
              <a:rPr sz="2885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ow the ticket process as a step-by-step timeline </a:t>
            </a:r>
            <a:r>
              <a:rPr sz="2885" b="1">
                <a:solidFill>
                  <a:srgbClr val="FF3131"/>
                </a:solidFill>
                <a:latin typeface="Faustina Bold"/>
                <a:ea typeface="Faustina Bold"/>
                <a:cs typeface="Faustina Bold"/>
              </a:rPr>
              <a:t>[1]</a:t>
            </a:r>
          </a:p>
          <a:p xmlns:a="http://schemas.openxmlformats.org/drawingml/2006/main">
            <a:pPr marL="622954" lvl="1" indent="-311477" algn="l">
              <a:lnSpc>
                <a:spcPts val="4616"/>
              </a:lnSpc>
              <a:buFont typeface="Arial"/>
              <a:buChar char="•"/>
            </a:pPr>
            <a:r>
              <a:rPr sz="2885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Highlight completed, current, and upcoming steps </a:t>
            </a:r>
            <a:r>
              <a:rPr sz="2885" b="1">
                <a:solidFill>
                  <a:srgbClr val="FF3131"/>
                </a:solidFill>
                <a:latin typeface="Faustina Bold"/>
                <a:ea typeface="Faustina Bold"/>
                <a:cs typeface="Faustina Bold"/>
              </a:rPr>
              <a:t>[2]</a:t>
            </a:r>
          </a:p>
          <a:p xmlns:a="http://schemas.openxmlformats.org/drawingml/2006/main">
            <a:pPr marL="622954" lvl="1" indent="-311477" algn="l">
              <a:lnSpc>
                <a:spcPts val="4616"/>
              </a:lnSpc>
              <a:buFont typeface="Arial"/>
              <a:buChar char="•"/>
            </a:pPr>
            <a:r>
              <a:rPr sz="2885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Show latest updates and update history</a:t>
            </a:r>
            <a:r>
              <a:rPr sz="2885" b="1">
                <a:solidFill>
                  <a:srgbClr val="FF3131"/>
                </a:solidFill>
                <a:latin typeface="Faustina Bold"/>
                <a:ea typeface="Faustina Bold"/>
                <a:cs typeface="Faustina Bold"/>
              </a:rPr>
              <a:t> [3]</a:t>
            </a:r>
          </a:p>
          <a:p xmlns:a="http://schemas.openxmlformats.org/drawingml/2006/main">
            <a:pPr marL="622954" lvl="1" indent="-311477" algn="l">
              <a:lnSpc>
                <a:spcPts val="4616"/>
              </a:lnSpc>
              <a:buFont typeface="Arial"/>
              <a:buChar char="•"/>
            </a:pPr>
            <a:r>
              <a:rPr sz="2885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Provide official next steps and reliable information </a:t>
            </a:r>
            <a:r>
              <a:rPr sz="2885" b="1">
                <a:solidFill>
                  <a:srgbClr val="FF3131"/>
                </a:solidFill>
                <a:latin typeface="Faustina Bold"/>
                <a:ea typeface="Faustina Bold"/>
                <a:cs typeface="Faustina Bold"/>
              </a:rPr>
              <a:t>[4]</a:t>
            </a: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A130203F-2885-437C-9EB1-25CEF5CA8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45110" y="5371605"/>
            <a:ext cx="4439063" cy="1109190"/>
          </a:xfrm>
          <a:custGeom xmlns:a="http://schemas.openxmlformats.org/drawingml/2006/main">
            <a:rect l="l" t="t" r="r" b="b"/>
            <a:pathLst>
              <a:path w="1169136" h="292132">
                <a:moveTo>
                  <a:pt x="29649" y="0"/>
                </a:moveTo>
                <a:lnTo>
                  <a:pt x="1139487" y="0"/>
                </a:lnTo>
                <a:cubicBezTo>
                  <a:pt x="1155862" y="0"/>
                  <a:pt x="1169136" y="13274"/>
                  <a:pt x="1169136" y="29649"/>
                </a:cubicBezTo>
                <a:lnTo>
                  <a:pt x="1169136" y="262484"/>
                </a:lnTo>
                <a:cubicBezTo>
                  <a:pt x="1169136" y="270347"/>
                  <a:pt x="1166012" y="277888"/>
                  <a:pt x="1160452" y="283448"/>
                </a:cubicBezTo>
                <a:cubicBezTo>
                  <a:pt x="1154892" y="289009"/>
                  <a:pt x="1147350" y="292132"/>
                  <a:pt x="1139487" y="292132"/>
                </a:cubicBezTo>
                <a:lnTo>
                  <a:pt x="29649" y="292132"/>
                </a:lnTo>
                <a:cubicBezTo>
                  <a:pt x="21785" y="292132"/>
                  <a:pt x="14244" y="289009"/>
                  <a:pt x="8684" y="283448"/>
                </a:cubicBezTo>
                <a:cubicBezTo>
                  <a:pt x="3124" y="277888"/>
                  <a:pt x="0" y="270347"/>
                  <a:pt x="0" y="262484"/>
                </a:cubicBezTo>
                <a:lnTo>
                  <a:pt x="0" y="29649"/>
                </a:lnTo>
                <a:cubicBezTo>
                  <a:pt x="0" y="21785"/>
                  <a:pt x="3124" y="14244"/>
                  <a:pt x="8684" y="8684"/>
                </a:cubicBezTo>
                <a:cubicBezTo>
                  <a:pt x="14244" y="3124"/>
                  <a:pt x="21785" y="0"/>
                  <a:pt x="29649" y="0"/>
                </a:cubicBezTo>
                <a:close/>
              </a:path>
            </a:pathLst>
          </a:custGeom>
          <a:ln xmlns:a="http://schemas.openxmlformats.org/drawingml/2006/main" w="95250">
            <a:solidFill>
              <a:srgbClr val="FF3131"/>
            </a:solidFill>
            <a:prstDash val="solid"/>
          </a:ln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BE185065-1C7B-47D0-9CE4-0B43A7307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45110" y="5009953"/>
            <a:ext cx="4439063" cy="14708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900"/>
              </a:lnSpc>
              <a:buNone/>
            </a:pPr>
          </a:p>
        </p:txBody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FCDF5124-20CF-444D-A2D3-2BB2C79B2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602554" y="4418940"/>
            <a:ext cx="1001426" cy="383473"/>
          </a:xfrm>
          <a:custGeom xmlns:a="http://schemas.openxmlformats.org/drawingml/2006/main">
            <a:rect l="l" t="t" r="r" b="b"/>
            <a:pathLst>
              <a:path w="263750" h="100997">
                <a:moveTo>
                  <a:pt x="50499" y="0"/>
                </a:moveTo>
                <a:lnTo>
                  <a:pt x="213251" y="0"/>
                </a:lnTo>
                <a:cubicBezTo>
                  <a:pt x="226645" y="0"/>
                  <a:pt x="239489" y="5320"/>
                  <a:pt x="248959" y="14791"/>
                </a:cubicBezTo>
                <a:cubicBezTo>
                  <a:pt x="258430" y="24261"/>
                  <a:pt x="263750" y="37106"/>
                  <a:pt x="263750" y="50499"/>
                </a:cubicBezTo>
                <a:lnTo>
                  <a:pt x="263750" y="50499"/>
                </a:lnTo>
                <a:cubicBezTo>
                  <a:pt x="263750" y="63892"/>
                  <a:pt x="258430" y="76736"/>
                  <a:pt x="248959" y="86206"/>
                </a:cubicBezTo>
                <a:cubicBezTo>
                  <a:pt x="239489" y="95677"/>
                  <a:pt x="226645" y="100997"/>
                  <a:pt x="213251" y="100997"/>
                </a:cubicBezTo>
                <a:lnTo>
                  <a:pt x="50499" y="100997"/>
                </a:lnTo>
                <a:cubicBezTo>
                  <a:pt x="37106" y="100997"/>
                  <a:pt x="24261" y="95677"/>
                  <a:pt x="14791" y="86206"/>
                </a:cubicBezTo>
                <a:cubicBezTo>
                  <a:pt x="5320" y="76736"/>
                  <a:pt x="0" y="63892"/>
                  <a:pt x="0" y="50499"/>
                </a:cubicBezTo>
                <a:lnTo>
                  <a:pt x="0" y="50499"/>
                </a:lnTo>
                <a:cubicBezTo>
                  <a:pt x="0" y="37106"/>
                  <a:pt x="5320" y="24261"/>
                  <a:pt x="14791" y="14791"/>
                </a:cubicBezTo>
                <a:cubicBezTo>
                  <a:pt x="24261" y="5320"/>
                  <a:pt x="37106" y="0"/>
                  <a:pt x="50499" y="0"/>
                </a:cubicBezTo>
                <a:close/>
              </a:path>
            </a:pathLst>
          </a:custGeom>
          <a:ln xmlns:a="http://schemas.openxmlformats.org/drawingml/2006/main" w="95250">
            <a:solidFill>
              <a:srgbClr val="FF3131"/>
            </a:solidFill>
            <a:prstDash val="solid"/>
          </a:ln>
        </p:spPr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40511EC5-B845-4D10-B913-DB5B1B79C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602554" y="4057288"/>
            <a:ext cx="1001426" cy="74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900"/>
              </a:lnSpc>
              <a:buNone/>
            </a:pPr>
          </a:p>
        </p:txBody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365DB365-6DE9-4C6C-947A-5CC1EB3A2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718385" y="6785595"/>
            <a:ext cx="5119983" cy="1657625"/>
          </a:xfrm>
          <a:custGeom xmlns:a="http://schemas.openxmlformats.org/drawingml/2006/main">
            <a:rect l="l" t="t" r="r" b="b"/>
            <a:pathLst>
              <a:path w="1348473" h="436576">
                <a:moveTo>
                  <a:pt x="25706" y="0"/>
                </a:moveTo>
                <a:lnTo>
                  <a:pt x="1322767" y="0"/>
                </a:lnTo>
                <a:cubicBezTo>
                  <a:pt x="1329585" y="0"/>
                  <a:pt x="1336123" y="2708"/>
                  <a:pt x="1340944" y="7529"/>
                </a:cubicBezTo>
                <a:cubicBezTo>
                  <a:pt x="1345765" y="12350"/>
                  <a:pt x="1348473" y="18888"/>
                  <a:pt x="1348473" y="25706"/>
                </a:cubicBezTo>
                <a:lnTo>
                  <a:pt x="1348473" y="410871"/>
                </a:lnTo>
                <a:cubicBezTo>
                  <a:pt x="1348473" y="417688"/>
                  <a:pt x="1345765" y="424226"/>
                  <a:pt x="1340944" y="429047"/>
                </a:cubicBezTo>
                <a:cubicBezTo>
                  <a:pt x="1336123" y="433868"/>
                  <a:pt x="1329585" y="436576"/>
                  <a:pt x="1322767" y="436576"/>
                </a:cubicBezTo>
                <a:lnTo>
                  <a:pt x="25706" y="436576"/>
                </a:lnTo>
                <a:cubicBezTo>
                  <a:pt x="18888" y="436576"/>
                  <a:pt x="12350" y="433868"/>
                  <a:pt x="7529" y="429047"/>
                </a:cubicBezTo>
                <a:cubicBezTo>
                  <a:pt x="2708" y="424226"/>
                  <a:pt x="0" y="417688"/>
                  <a:pt x="0" y="410871"/>
                </a:cubicBezTo>
                <a:lnTo>
                  <a:pt x="0" y="25706"/>
                </a:lnTo>
                <a:cubicBezTo>
                  <a:pt x="0" y="18888"/>
                  <a:pt x="2708" y="12350"/>
                  <a:pt x="7529" y="7529"/>
                </a:cubicBezTo>
                <a:cubicBezTo>
                  <a:pt x="12350" y="2708"/>
                  <a:pt x="18888" y="0"/>
                  <a:pt x="25706" y="0"/>
                </a:cubicBezTo>
                <a:close/>
              </a:path>
            </a:pathLst>
          </a:custGeom>
          <a:ln xmlns:a="http://schemas.openxmlformats.org/drawingml/2006/main" w="95250">
            <a:solidFill>
              <a:srgbClr val="FF3131"/>
            </a:solidFill>
            <a:prstDash val="solid"/>
          </a:ln>
        </p:spPr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DF941DCD-E2C7-4ACD-9DF0-031D5AC59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718385" y="6423943"/>
            <a:ext cx="5119983" cy="20192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900"/>
              </a:lnSpc>
              <a:buNone/>
            </a:pPr>
          </a:p>
        </p:txBody>
      </p:sp>
      <p:sp>
        <p:nvSpPr>
          <p:cNvPr id="18" name="Freeform 18">
            <a:extLst xmlns:a="http://schemas.openxmlformats.org/drawingml/2006/main">
              <a:ext uri="{FF2B5EF4-FFF2-40B4-BE49-F238E27FC236}">
                <a16:creationId xmlns:a16="http://schemas.microsoft.com/office/drawing/2014/main" id="{61DE31FD-3FCC-4678-A922-98282B91E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838368" y="5212902"/>
            <a:ext cx="1945329" cy="1686622"/>
          </a:xfrm>
          <a:custGeom xmlns:a="http://schemas.openxmlformats.org/drawingml/2006/main">
            <a:rect l="l" t="t" r="r" b="b"/>
            <a:pathLst>
              <a:path w="512350" h="444213">
                <a:moveTo>
                  <a:pt x="67656" y="0"/>
                </a:moveTo>
                <a:lnTo>
                  <a:pt x="444694" y="0"/>
                </a:lnTo>
                <a:cubicBezTo>
                  <a:pt x="462638" y="0"/>
                  <a:pt x="479846" y="7128"/>
                  <a:pt x="492534" y="19816"/>
                </a:cubicBezTo>
                <a:cubicBezTo>
                  <a:pt x="505222" y="32504"/>
                  <a:pt x="512350" y="49712"/>
                  <a:pt x="512350" y="67656"/>
                </a:cubicBezTo>
                <a:lnTo>
                  <a:pt x="512350" y="376557"/>
                </a:lnTo>
                <a:cubicBezTo>
                  <a:pt x="512350" y="394501"/>
                  <a:pt x="505222" y="411709"/>
                  <a:pt x="492534" y="424397"/>
                </a:cubicBezTo>
                <a:cubicBezTo>
                  <a:pt x="479846" y="437085"/>
                  <a:pt x="462638" y="444213"/>
                  <a:pt x="444694" y="444213"/>
                </a:cubicBezTo>
                <a:lnTo>
                  <a:pt x="67656" y="444213"/>
                </a:lnTo>
                <a:cubicBezTo>
                  <a:pt x="49712" y="444213"/>
                  <a:pt x="32504" y="437085"/>
                  <a:pt x="19816" y="424397"/>
                </a:cubicBezTo>
                <a:cubicBezTo>
                  <a:pt x="7128" y="411709"/>
                  <a:pt x="0" y="394501"/>
                  <a:pt x="0" y="376557"/>
                </a:cubicBezTo>
                <a:lnTo>
                  <a:pt x="0" y="67656"/>
                </a:lnTo>
                <a:cubicBezTo>
                  <a:pt x="0" y="49712"/>
                  <a:pt x="7128" y="32504"/>
                  <a:pt x="19816" y="19816"/>
                </a:cubicBezTo>
                <a:cubicBezTo>
                  <a:pt x="32504" y="7128"/>
                  <a:pt x="49712" y="0"/>
                  <a:pt x="67656" y="0"/>
                </a:cubicBezTo>
                <a:close/>
              </a:path>
            </a:pathLst>
          </a:custGeom>
          <a:ln xmlns:a="http://schemas.openxmlformats.org/drawingml/2006/main" w="95250">
            <a:solidFill>
              <a:srgbClr val="FF3131"/>
            </a:solidFill>
            <a:prstDash val="solid"/>
          </a:ln>
        </p:spPr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9010D0C5-E833-4565-9D67-75B27BA1A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838368" y="4851250"/>
            <a:ext cx="1945329" cy="204827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900"/>
              </a:lnSpc>
              <a:buNone/>
            </a:pP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83290D9E-5D22-44F4-AC1F-FCA854AF3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2533" y="5048250"/>
            <a:ext cx="291703" cy="4667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900"/>
              </a:lnSpc>
              <a:spcBef>
                <a:spcPct val="0"/>
              </a:spcBef>
              <a:buNone/>
            </a:pPr>
            <a:r>
              <a:rPr sz="2437" b="1">
                <a:solidFill>
                  <a:srgbClr val="FF3131"/>
                </a:solidFill>
                <a:latin typeface="Faustina Bold"/>
                <a:ea typeface="Faustina Bold"/>
                <a:cs typeface="Faustina Bold"/>
              </a:rPr>
              <a:t>[1]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97638A7D-18D2-41D0-826C-55518B240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66785" y="4143972"/>
            <a:ext cx="316706" cy="4667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900"/>
              </a:lnSpc>
              <a:spcBef>
                <a:spcPct val="0"/>
              </a:spcBef>
              <a:buNone/>
            </a:pPr>
            <a:r>
              <a:rPr sz="2437" b="1">
                <a:solidFill>
                  <a:srgbClr val="FF3131"/>
                </a:solidFill>
                <a:latin typeface="Faustina Bold"/>
                <a:ea typeface="Faustina Bold"/>
                <a:cs typeface="Faustina Bold"/>
              </a:rPr>
              <a:t>[2]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B24FF36E-9AAE-4961-9BA1-C87095A60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10906" y="7147703"/>
            <a:ext cx="307479" cy="4667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900"/>
              </a:lnSpc>
              <a:spcBef>
                <a:spcPct val="0"/>
              </a:spcBef>
              <a:buNone/>
            </a:pPr>
            <a:r>
              <a:rPr sz="2437" b="1">
                <a:solidFill>
                  <a:srgbClr val="FF3131"/>
                </a:solidFill>
                <a:latin typeface="Faustina Bold"/>
                <a:ea typeface="Faustina Bold"/>
                <a:cs typeface="Faustina Bold"/>
              </a:rPr>
              <a:t>[3]</a:t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4751289E-0469-4AA2-A455-DA3593B9E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518883" y="5419705"/>
            <a:ext cx="319484" cy="4667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900"/>
              </a:lnSpc>
              <a:spcBef>
                <a:spcPct val="0"/>
              </a:spcBef>
              <a:buNone/>
            </a:pPr>
            <a:r>
              <a:rPr sz="2437" b="1">
                <a:solidFill>
                  <a:srgbClr val="FF3131"/>
                </a:solidFill>
                <a:latin typeface="Faustina Bold"/>
                <a:ea typeface="Faustina Bold"/>
                <a:cs typeface="Faustina Bold"/>
              </a:rPr>
              <a:t>[4]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0F75B9D6-F3E3-4715-9FC1-A68759121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2660765"/>
            <a:ext cx="4994126" cy="8548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959"/>
              </a:lnSpc>
              <a:spcBef>
                <a:spcPct val="0"/>
              </a:spcBef>
              <a:buNone/>
            </a:pPr>
            <a:r>
              <a:rPr sz="4970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rPr>
              <a:t>Timeline tracker</a:t>
            </a:r>
          </a:p>
        </p:txBody>
      </p:sp>
    </p:spTree>
    <p:extLst>
      <p:ext uri="{BB962C8B-B14F-4D97-AF65-F5344CB8AC3E}">
        <p14:creationId xmlns:p14="http://schemas.microsoft.com/office/powerpoint/2010/main" val="63853614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EFD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02FCC6AC-4A48-4872-B7A2-F811B82F6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6056213"/>
            <a:ext cx="4114800" cy="4114800"/>
          </a:xfrm>
          <a:custGeom xmlns:a="http://schemas.openxmlformats.org/drawingml/2006/main"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17593a6d2684026">
              <a:extLst>
                <a:ext uri="{96DAC541-7B7A-43D3-8B79-37D633B846F1}">
                  <asvg:svgBlip xmlns:asvg="http://schemas.microsoft.com/office/drawing/2016/SVG/main" r:embed="Re1dd82a8dfa042a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3F8AD63C-9DFF-40C8-8D52-C00E8A02E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1">
            <a:off x="14425139" y="0"/>
            <a:ext cx="4114800" cy="4114800"/>
          </a:xfrm>
          <a:custGeom xmlns:a="http://schemas.openxmlformats.org/drawingml/2006/main"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17593a6d2684026">
              <a:extLst>
                <a:ext uri="{96DAC541-7B7A-43D3-8B79-37D633B846F1}">
                  <asvg:svgBlip xmlns:asvg="http://schemas.microsoft.com/office/drawing/2016/SVG/main" r:embed="Re1dd82a8dfa042a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3FC83DD2-19DC-4EB7-ACAC-06DA2385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0800" y="272440"/>
            <a:ext cx="2187357" cy="1069709"/>
          </a:xfrm>
          <a:custGeom xmlns:a="http://schemas.openxmlformats.org/drawingml/2006/main">
            <a:rect l="l" t="t" r="r" b="b"/>
            <a:pathLst>
              <a:path w="2187357" h="1069709">
                <a:moveTo>
                  <a:pt x="0" y="0"/>
                </a:moveTo>
                <a:lnTo>
                  <a:pt x="2187356" y="0"/>
                </a:lnTo>
                <a:lnTo>
                  <a:pt x="2187356" y="1069709"/>
                </a:lnTo>
                <a:lnTo>
                  <a:pt x="0" y="106970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34ffc7ff0a44ef9"/>
            <a:stretch>
              <a:fillRect l="0" t="-53474" r="0" b="-51006"/>
            </a:stretch>
          </a:blipFill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8C7C11AC-2368-41A3-8C8F-F99A0713F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57441" y="1152525"/>
            <a:ext cx="11325187" cy="10040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420"/>
              </a:lnSpc>
              <a:buNone/>
            </a:pPr>
            <a:r>
              <a:rPr sz="7420" b="1">
                <a:solidFill>
                  <a:srgbClr val="754820"/>
                </a:solidFill>
                <a:latin typeface="Maven Pro Bold"/>
                <a:ea typeface="Maven Pro Bold"/>
                <a:cs typeface="Maven Pro Bold"/>
              </a:rPr>
              <a:t>POOR TICKET VISIBILITY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A33FB0BB-34A2-4164-B114-130857671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0515" y="3512668"/>
            <a:ext cx="6128570" cy="26603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515"/>
              </a:lnSpc>
              <a:buNone/>
            </a:pPr>
            <a:r>
              <a:rPr sz="3447" b="1">
                <a:solidFill>
                  <a:srgbClr val="754820"/>
                </a:solidFill>
                <a:latin typeface="Faustina Bold"/>
                <a:ea typeface="Faustina Bold"/>
                <a:cs typeface="Faustina Bold"/>
              </a:rPr>
              <a:t>Pros:</a:t>
            </a:r>
          </a:p>
          <a:p xmlns:a="http://schemas.openxmlformats.org/drawingml/2006/main">
            <a:pPr marL="526342" lvl="1" indent="-263171" algn="l">
              <a:lnSpc>
                <a:spcPts val="3900"/>
              </a:lnSpc>
              <a:buFont typeface="Arial"/>
              <a:buChar char="•"/>
            </a:pPr>
            <a:r>
              <a:rPr sz="2437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M</a:t>
            </a:r>
            <a:r>
              <a:rPr sz="2437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akes ticket progress easy to understand</a:t>
            </a:r>
          </a:p>
          <a:p xmlns:a="http://schemas.openxmlformats.org/drawingml/2006/main">
            <a:pPr marL="526342" lvl="1" indent="-263171" algn="l">
              <a:lnSpc>
                <a:spcPts val="3900"/>
              </a:lnSpc>
              <a:buFont typeface="Arial"/>
              <a:buChar char="•"/>
            </a:pPr>
            <a:r>
              <a:rPr sz="2437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Shows what happens next</a:t>
            </a:r>
          </a:p>
          <a:p xmlns:a="http://schemas.openxmlformats.org/drawingml/2006/main">
            <a:pPr marL="526342" lvl="1" indent="-263171" algn="l">
              <a:lnSpc>
                <a:spcPts val="3900"/>
              </a:lnSpc>
              <a:buFont typeface="Arial"/>
              <a:buChar char="•"/>
            </a:pPr>
            <a:r>
              <a:rPr sz="2437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Keeps users informed with fresh updates</a:t>
            </a:r>
          </a:p>
          <a:p xmlns:a="http://schemas.openxmlformats.org/drawingml/2006/main">
            <a:pPr marL="526342" lvl="1" indent="-263171" algn="l">
              <a:lnSpc>
                <a:spcPts val="3900"/>
              </a:lnSpc>
              <a:buFont typeface="Arial"/>
              <a:buChar char="•"/>
            </a:pPr>
            <a:r>
              <a:rPr sz="2437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Builds trust with official information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26D8CF58-9721-4D07-9E92-456C54CD8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0515" y="6196166"/>
            <a:ext cx="6838230" cy="21650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515"/>
              </a:lnSpc>
              <a:buNone/>
            </a:pPr>
            <a:r>
              <a:rPr sz="3447" b="1">
                <a:solidFill>
                  <a:srgbClr val="754820"/>
                </a:solidFill>
                <a:latin typeface="Faustina Bold"/>
                <a:ea typeface="Faustina Bold"/>
                <a:cs typeface="Faustina Bold"/>
              </a:rPr>
              <a:t>Cons:</a:t>
            </a:r>
          </a:p>
          <a:p xmlns:a="http://schemas.openxmlformats.org/drawingml/2006/main">
            <a:pPr marL="526342" lvl="1" indent="-263171" algn="l">
              <a:lnSpc>
                <a:spcPts val="3900"/>
              </a:lnSpc>
              <a:buFont typeface="Arial"/>
              <a:buChar char="•"/>
            </a:pPr>
            <a:r>
              <a:rPr sz="2437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Users m</a:t>
            </a:r>
            <a:r>
              <a:rPr sz="2437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ay need to scan the timeline to find key details</a:t>
            </a:r>
          </a:p>
          <a:p xmlns:a="http://schemas.openxmlformats.org/drawingml/2006/main">
            <a:pPr marL="526342" lvl="1" indent="-263171" algn="l">
              <a:lnSpc>
                <a:spcPts val="3900"/>
              </a:lnSpc>
              <a:buFont typeface="Arial"/>
              <a:buChar char="•"/>
            </a:pPr>
            <a:r>
              <a:rPr sz="2437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More information can make the UI feel heavier</a:t>
            </a:r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35C58058-F9B2-4287-841B-74BCED7F2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10390936" y="1376280"/>
            <a:ext cx="5869868" cy="8915654"/>
          </a:xfrm>
          <a:custGeom xmlns:a="http://schemas.openxmlformats.org/drawingml/2006/main">
            <a:rect l="l" t="t" r="r" b="b"/>
            <a:pathLst>
              <a:path w="5869868" h="8915654">
                <a:moveTo>
                  <a:pt x="0" y="0"/>
                </a:moveTo>
                <a:lnTo>
                  <a:pt x="5869868" y="0"/>
                </a:lnTo>
                <a:lnTo>
                  <a:pt x="5869868" y="8915654"/>
                </a:lnTo>
                <a:lnTo>
                  <a:pt x="0" y="891565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7b7bcf8fbce481d"/>
            <a:stretch>
              <a:fillRect l="-32768" t="-7191" r="-15911" b="-23325"/>
            </a:stretch>
          </a:blipFill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0A1D44E0-31B6-4566-92AA-3C7598B86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2660765"/>
            <a:ext cx="4994126" cy="8548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959"/>
              </a:lnSpc>
              <a:spcBef>
                <a:spcPct val="0"/>
              </a:spcBef>
              <a:buNone/>
            </a:pPr>
            <a:r>
              <a:rPr sz="4970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rPr>
              <a:t>Timeline tracker</a:t>
            </a:r>
          </a:p>
        </p:txBody>
      </p:sp>
    </p:spTree>
    <p:extLst>
      <p:ext uri="{BB962C8B-B14F-4D97-AF65-F5344CB8AC3E}">
        <p14:creationId xmlns:p14="http://schemas.microsoft.com/office/powerpoint/2010/main" val="39530875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EFD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F8A05BAF-D08A-44CE-B8F2-BD56697D6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6056213"/>
            <a:ext cx="4114800" cy="4114800"/>
          </a:xfrm>
          <a:custGeom xmlns:a="http://schemas.openxmlformats.org/drawingml/2006/main"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9d58fa625fd4544">
              <a:extLst>
                <a:ext uri="{96DAC541-7B7A-43D3-8B79-37D633B846F1}">
                  <asvg:svgBlip xmlns:asvg="http://schemas.microsoft.com/office/drawing/2016/SVG/main" r:embed="R5d2c36da45a84a7b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DE924F4F-5563-4C16-891F-AA9961D91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1">
            <a:off x="14425139" y="0"/>
            <a:ext cx="4114800" cy="4114800"/>
          </a:xfrm>
          <a:custGeom xmlns:a="http://schemas.openxmlformats.org/drawingml/2006/main"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9d58fa625fd4544">
              <a:extLst>
                <a:ext uri="{96DAC541-7B7A-43D3-8B79-37D633B846F1}">
                  <asvg:svgBlip xmlns:asvg="http://schemas.microsoft.com/office/drawing/2016/SVG/main" r:embed="R5d2c36da45a84a7b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AD0BEF0B-9891-4BF1-B679-59C2187F9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0800" y="272440"/>
            <a:ext cx="2187357" cy="1069709"/>
          </a:xfrm>
          <a:custGeom xmlns:a="http://schemas.openxmlformats.org/drawingml/2006/main">
            <a:rect l="l" t="t" r="r" b="b"/>
            <a:pathLst>
              <a:path w="2187357" h="1069709">
                <a:moveTo>
                  <a:pt x="0" y="0"/>
                </a:moveTo>
                <a:lnTo>
                  <a:pt x="2187356" y="0"/>
                </a:lnTo>
                <a:lnTo>
                  <a:pt x="2187356" y="1069709"/>
                </a:lnTo>
                <a:lnTo>
                  <a:pt x="0" y="106970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e8a113f917f483b"/>
            <a:stretch>
              <a:fillRect l="0" t="-53474" r="0" b="-51006"/>
            </a:stretch>
          </a:blip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5C2859DF-CD1B-40BA-A22B-6E2E1CDF5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10528369" y="1855992"/>
            <a:ext cx="6290829" cy="8004906"/>
          </a:xfrm>
          <a:custGeom xmlns:a="http://schemas.openxmlformats.org/drawingml/2006/main">
            <a:rect l="l" t="t" r="r" b="b"/>
            <a:pathLst>
              <a:path w="6290829" h="8004906">
                <a:moveTo>
                  <a:pt x="0" y="0"/>
                </a:moveTo>
                <a:lnTo>
                  <a:pt x="6290829" y="0"/>
                </a:lnTo>
                <a:lnTo>
                  <a:pt x="6290829" y="8004906"/>
                </a:lnTo>
                <a:lnTo>
                  <a:pt x="0" y="800490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701c138f0c64102"/>
            <a:stretch>
              <a:fillRect l="-8993" t="-9894" r="-21583" b="-26927"/>
            </a:stretch>
          </a:blip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D1EB2E52-3F8D-48B1-88AB-92B749999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57441" y="1152525"/>
            <a:ext cx="11325187" cy="10040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420"/>
              </a:lnSpc>
              <a:buNone/>
            </a:pPr>
            <a:r>
              <a:rPr sz="7420" b="1">
                <a:solidFill>
                  <a:srgbClr val="754820"/>
                </a:solidFill>
                <a:latin typeface="Maven Pro Bold"/>
                <a:ea typeface="Maven Pro Bold"/>
                <a:cs typeface="Maven Pro Bold"/>
              </a:rPr>
              <a:t>POOR TICKET VISIBILITY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57592991-B421-4CBC-83F4-82A809A02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4445" y="3881546"/>
            <a:ext cx="7276982" cy="34054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142"/>
              </a:lnSpc>
              <a:buNone/>
            </a:pPr>
            <a:r>
              <a:rPr sz="3838" b="1">
                <a:solidFill>
                  <a:srgbClr val="754820"/>
                </a:solidFill>
                <a:latin typeface="Faustina Bold"/>
                <a:ea typeface="Faustina Bold"/>
                <a:cs typeface="Faustina Bold"/>
              </a:rPr>
              <a:t>Get important ticket actions done quickly</a:t>
            </a:r>
          </a:p>
          <a:p xmlns:a="http://schemas.openxmlformats.org/drawingml/2006/main">
            <a:pPr algn="l">
              <a:lnSpc>
                <a:spcPts val="2093"/>
              </a:lnSpc>
              <a:buNone/>
            </a:pPr>
          </a:p>
          <a:p xmlns:a="http://schemas.openxmlformats.org/drawingml/2006/main">
            <a:pPr algn="l">
              <a:lnSpc>
                <a:spcPts val="4344"/>
              </a:lnSpc>
              <a:buNone/>
            </a:pPr>
            <a:r>
              <a:rPr sz="2715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T</a:t>
            </a:r>
            <a:r>
              <a:rPr sz="2715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ask-focused shortcuts bring common ticket actions into one place, helping users quickly find what they need and take action with confidence.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9A251CAA-A40D-4CE6-A4D8-DFFAB0130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4478" y="2974545"/>
            <a:ext cx="3676387" cy="857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6959"/>
              </a:lnSpc>
              <a:spcBef>
                <a:spcPct val="0"/>
              </a:spcBef>
              <a:buNone/>
            </a:pPr>
            <a:r>
              <a:rPr sz="4970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rPr>
              <a:t>Ac</a:t>
            </a:r>
            <a:r>
              <a:rPr sz="4970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rPr>
              <a:t>tion Hub</a:t>
            </a:r>
          </a:p>
        </p:txBody>
      </p:sp>
    </p:spTree>
    <p:extLst>
      <p:ext uri="{BB962C8B-B14F-4D97-AF65-F5344CB8AC3E}">
        <p14:creationId xmlns:p14="http://schemas.microsoft.com/office/powerpoint/2010/main" val="168766199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EFD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EC4FE72B-969A-4348-95B7-BDC7D4044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6056213"/>
            <a:ext cx="4114800" cy="4114800"/>
          </a:xfrm>
          <a:custGeom xmlns:a="http://schemas.openxmlformats.org/drawingml/2006/main"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f55953837ca4b27">
              <a:extLst>
                <a:ext uri="{96DAC541-7B7A-43D3-8B79-37D633B846F1}">
                  <asvg:svgBlip xmlns:asvg="http://schemas.microsoft.com/office/drawing/2016/SVG/main" r:embed="Re80637c1dbe3478c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DEB78B5C-F9BA-45FE-97EF-365080E69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1">
            <a:off x="14425139" y="0"/>
            <a:ext cx="4114800" cy="4114800"/>
          </a:xfrm>
          <a:custGeom xmlns:a="http://schemas.openxmlformats.org/drawingml/2006/main"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f55953837ca4b27">
              <a:extLst>
                <a:ext uri="{96DAC541-7B7A-43D3-8B79-37D633B846F1}">
                  <asvg:svgBlip xmlns:asvg="http://schemas.microsoft.com/office/drawing/2016/SVG/main" r:embed="Re80637c1dbe3478c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57E36853-5ED0-4B93-B785-0527D955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0800" y="272440"/>
            <a:ext cx="2187357" cy="1069709"/>
          </a:xfrm>
          <a:custGeom xmlns:a="http://schemas.openxmlformats.org/drawingml/2006/main">
            <a:rect l="l" t="t" r="r" b="b"/>
            <a:pathLst>
              <a:path w="2187357" h="1069709">
                <a:moveTo>
                  <a:pt x="0" y="0"/>
                </a:moveTo>
                <a:lnTo>
                  <a:pt x="2187356" y="0"/>
                </a:lnTo>
                <a:lnTo>
                  <a:pt x="2187356" y="1069709"/>
                </a:lnTo>
                <a:lnTo>
                  <a:pt x="0" y="106970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e3627fe4aab4cc4"/>
            <a:stretch>
              <a:fillRect l="0" t="-53474" r="0" b="-51006"/>
            </a:stretch>
          </a:blipFill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FA8C5979-B6FC-412E-9864-49794E7A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57441" y="1152525"/>
            <a:ext cx="11325187" cy="10040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420"/>
              </a:lnSpc>
              <a:buNone/>
            </a:pPr>
            <a:r>
              <a:rPr sz="7420" b="1">
                <a:solidFill>
                  <a:srgbClr val="754820"/>
                </a:solidFill>
                <a:latin typeface="Maven Pro Bold"/>
                <a:ea typeface="Maven Pro Bold"/>
                <a:cs typeface="Maven Pro Bold"/>
              </a:rPr>
              <a:t>POOR TICKET VISIBILITY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60062E7B-A8C2-4E02-B3CF-A91506B9A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3725182"/>
            <a:ext cx="7265843" cy="19823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612"/>
              </a:lnSpc>
              <a:buNone/>
            </a:pPr>
            <a:r>
              <a:rPr sz="4133" b="1">
                <a:solidFill>
                  <a:srgbClr val="754820"/>
                </a:solidFill>
                <a:latin typeface="Faustina Bold"/>
                <a:ea typeface="Faustina Bold"/>
                <a:cs typeface="Faustina Bold"/>
              </a:rPr>
              <a:t>Motivation:</a:t>
            </a:r>
          </a:p>
          <a:p xmlns:a="http://schemas.openxmlformats.org/drawingml/2006/main">
            <a:pPr algn="l">
              <a:lnSpc>
                <a:spcPts val="4676"/>
              </a:lnSpc>
              <a:buNone/>
            </a:pPr>
            <a:r>
              <a:rPr sz="2923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make important ticket actions easy to find and complete.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DC89C841-B662-420C-94C4-2AF2705FA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5641679"/>
            <a:ext cx="7265843" cy="25669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612"/>
              </a:lnSpc>
              <a:buNone/>
            </a:pPr>
            <a:r>
              <a:rPr sz="4133" b="1">
                <a:solidFill>
                  <a:srgbClr val="754820"/>
                </a:solidFill>
                <a:latin typeface="Faustina Bold"/>
                <a:ea typeface="Faustina Bold"/>
                <a:cs typeface="Faustina Bold"/>
              </a:rPr>
              <a:t>Why:</a:t>
            </a:r>
          </a:p>
          <a:p xmlns:a="http://schemas.openxmlformats.org/drawingml/2006/main">
            <a:pPr algn="l">
              <a:lnSpc>
                <a:spcPts val="4676"/>
              </a:lnSpc>
              <a:buNone/>
            </a:pPr>
            <a:r>
              <a:rPr sz="2923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use</a:t>
            </a:r>
            <a:r>
              <a:rPr sz="2923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rs have difficulty finding common actions such as viewing, transferring, reselling, or managing their tickets.</a:t>
            </a:r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04639904-1E5A-4FE3-90CB-AC8D8A533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10528369" y="1855992"/>
            <a:ext cx="6290829" cy="8004906"/>
          </a:xfrm>
          <a:custGeom xmlns:a="http://schemas.openxmlformats.org/drawingml/2006/main">
            <a:rect l="l" t="t" r="r" b="b"/>
            <a:pathLst>
              <a:path w="6290829" h="8004906">
                <a:moveTo>
                  <a:pt x="0" y="0"/>
                </a:moveTo>
                <a:lnTo>
                  <a:pt x="6290829" y="0"/>
                </a:lnTo>
                <a:lnTo>
                  <a:pt x="6290829" y="8004906"/>
                </a:lnTo>
                <a:lnTo>
                  <a:pt x="0" y="800490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504ed47d028413e"/>
            <a:stretch>
              <a:fillRect l="-8993" t="-9894" r="-21583" b="-26927"/>
            </a:stretch>
          </a:blipFill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D0639409-E13F-4EBE-815F-C09A457FE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2937041"/>
            <a:ext cx="3397592" cy="8548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959"/>
              </a:lnSpc>
              <a:spcBef>
                <a:spcPct val="0"/>
              </a:spcBef>
              <a:buNone/>
            </a:pPr>
            <a:r>
              <a:rPr sz="4970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rPr>
              <a:t>Ac</a:t>
            </a:r>
            <a:r>
              <a:rPr sz="4970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rPr>
              <a:t>tion Hub</a:t>
            </a:r>
          </a:p>
        </p:txBody>
      </p:sp>
    </p:spTree>
    <p:extLst>
      <p:ext uri="{BB962C8B-B14F-4D97-AF65-F5344CB8AC3E}">
        <p14:creationId xmlns:p14="http://schemas.microsoft.com/office/powerpoint/2010/main" val="133317436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EFD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8D6BAE18-5395-4DDA-B30D-C99E364A9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6056213"/>
            <a:ext cx="4114800" cy="4114800"/>
          </a:xfrm>
          <a:custGeom xmlns:a="http://schemas.openxmlformats.org/drawingml/2006/main"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9da9c131a1a43b6">
              <a:extLst>
                <a:ext uri="{96DAC541-7B7A-43D3-8B79-37D633B846F1}">
                  <asvg:svgBlip xmlns:asvg="http://schemas.microsoft.com/office/drawing/2016/SVG/main" r:embed="Rd7508ccc179e423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9E65601F-BFCF-4F66-BE1A-4C407E30E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10528369" y="1855992"/>
            <a:ext cx="6290829" cy="8004906"/>
          </a:xfrm>
          <a:custGeom xmlns:a="http://schemas.openxmlformats.org/drawingml/2006/main">
            <a:rect l="l" t="t" r="r" b="b"/>
            <a:pathLst>
              <a:path w="6290829" h="8004906">
                <a:moveTo>
                  <a:pt x="0" y="0"/>
                </a:moveTo>
                <a:lnTo>
                  <a:pt x="6290829" y="0"/>
                </a:lnTo>
                <a:lnTo>
                  <a:pt x="6290829" y="8004906"/>
                </a:lnTo>
                <a:lnTo>
                  <a:pt x="0" y="800490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4a4194c3ba744d4"/>
            <a:stretch>
              <a:fillRect l="-8993" t="-9894" r="-21583" b="-26927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E5914DB7-1D59-42A1-8EA7-8EF270757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1">
            <a:off x="14425139" y="0"/>
            <a:ext cx="4114800" cy="4114800"/>
          </a:xfrm>
          <a:custGeom xmlns:a="http://schemas.openxmlformats.org/drawingml/2006/main"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9da9c131a1a43b6">
              <a:extLst>
                <a:ext uri="{96DAC541-7B7A-43D3-8B79-37D633B846F1}">
                  <asvg:svgBlip xmlns:asvg="http://schemas.microsoft.com/office/drawing/2016/SVG/main" r:embed="Rd7508ccc179e423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CCFE4990-6DD2-4845-B0F4-0D87CEE87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0800" y="272440"/>
            <a:ext cx="2187357" cy="1069709"/>
          </a:xfrm>
          <a:custGeom xmlns:a="http://schemas.openxmlformats.org/drawingml/2006/main">
            <a:rect l="l" t="t" r="r" b="b"/>
            <a:pathLst>
              <a:path w="2187357" h="1069709">
                <a:moveTo>
                  <a:pt x="0" y="0"/>
                </a:moveTo>
                <a:lnTo>
                  <a:pt x="2187356" y="0"/>
                </a:lnTo>
                <a:lnTo>
                  <a:pt x="2187356" y="1069709"/>
                </a:lnTo>
                <a:lnTo>
                  <a:pt x="0" y="106970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ac989f323854fe2"/>
            <a:stretch>
              <a:fillRect l="0" t="-53474" r="0" b="-51006"/>
            </a:stretch>
          </a:blip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31D2E65F-8440-4D96-9C1D-1F811C80C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57441" y="1152525"/>
            <a:ext cx="11325187" cy="10040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420"/>
              </a:lnSpc>
              <a:buNone/>
            </a:pPr>
            <a:r>
              <a:rPr sz="7420" b="1">
                <a:solidFill>
                  <a:srgbClr val="754820"/>
                </a:solidFill>
                <a:latin typeface="Maven Pro Bold"/>
                <a:ea typeface="Maven Pro Bold"/>
                <a:cs typeface="Maven Pro Bold"/>
              </a:rPr>
              <a:t>POOR TICKET VISIBILITY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7BA60376-B058-42FE-BCE8-333129F7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5375" y="3160857"/>
            <a:ext cx="7991475" cy="51632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873"/>
              </a:lnSpc>
              <a:buNone/>
            </a:pPr>
            <a:r>
              <a:rPr sz="4296" b="1">
                <a:solidFill>
                  <a:srgbClr val="754820"/>
                </a:solidFill>
                <a:latin typeface="Faustina Bold"/>
                <a:ea typeface="Faustina Bold"/>
                <a:cs typeface="Faustina Bold"/>
              </a:rPr>
              <a:t>How:</a:t>
            </a:r>
          </a:p>
          <a:p xmlns:a="http://schemas.openxmlformats.org/drawingml/2006/main">
            <a:pPr marL="655983" lvl="1" indent="-327992" algn="l">
              <a:lnSpc>
                <a:spcPts val="4861"/>
              </a:lnSpc>
              <a:buFont typeface="Arial"/>
              <a:buChar char="•"/>
            </a:pPr>
            <a:r>
              <a:rPr sz="3038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Put </a:t>
            </a:r>
            <a:r>
              <a:rPr sz="3038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high-fr</a:t>
            </a:r>
            <a:r>
              <a:rPr sz="3038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equency ticket actions front and center </a:t>
            </a:r>
            <a:r>
              <a:rPr sz="3038" b="1">
                <a:solidFill>
                  <a:srgbClr val="FF3131"/>
                </a:solidFill>
                <a:latin typeface="Faustina Bold"/>
                <a:ea typeface="Faustina Bold"/>
                <a:cs typeface="Faustina Bold"/>
              </a:rPr>
              <a:t>[1]</a:t>
            </a:r>
          </a:p>
          <a:p xmlns:a="http://schemas.openxmlformats.org/drawingml/2006/main">
            <a:pPr marL="655983" lvl="1" indent="-327992" algn="l">
              <a:lnSpc>
                <a:spcPts val="4861"/>
              </a:lnSpc>
              <a:buFont typeface="Arial"/>
              <a:buChar char="•"/>
            </a:pPr>
            <a:r>
              <a:rPr sz="3038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Use large shortcuts with clear icons and labels </a:t>
            </a:r>
            <a:r>
              <a:rPr sz="3038" b="1">
                <a:solidFill>
                  <a:srgbClr val="FF3131"/>
                </a:solidFill>
                <a:latin typeface="Faustina Bold"/>
                <a:ea typeface="Faustina Bold"/>
                <a:cs typeface="Faustina Bold"/>
              </a:rPr>
              <a:t>[2]</a:t>
            </a:r>
          </a:p>
          <a:p xmlns:a="http://schemas.openxmlformats.org/drawingml/2006/main">
            <a:pPr marL="655983" lvl="1" indent="-327992" algn="l">
              <a:lnSpc>
                <a:spcPts val="4861"/>
              </a:lnSpc>
              <a:buFont typeface="Arial"/>
              <a:buChar char="•"/>
            </a:pPr>
            <a:r>
              <a:rPr sz="3038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Group official ticketing and hospitality options</a:t>
            </a:r>
            <a:r>
              <a:rPr sz="3038" b="1">
                <a:solidFill>
                  <a:srgbClr val="FF3131"/>
                </a:solidFill>
                <a:latin typeface="Faustina Bold"/>
                <a:ea typeface="Faustina Bold"/>
                <a:cs typeface="Faustina Bold"/>
              </a:rPr>
              <a:t> [3]</a:t>
            </a:r>
          </a:p>
          <a:p xmlns:a="http://schemas.openxmlformats.org/drawingml/2006/main">
            <a:pPr marL="655983" lvl="1" indent="-327992" algn="l">
              <a:lnSpc>
                <a:spcPts val="4861"/>
              </a:lnSpc>
              <a:buFont typeface="Arial"/>
              <a:buChar char="•"/>
            </a:pPr>
            <a:r>
              <a:rPr sz="3038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Clearly explain when users leave FIFA.com </a:t>
            </a:r>
            <a:r>
              <a:rPr sz="3038" b="1">
                <a:solidFill>
                  <a:srgbClr val="FF3131"/>
                </a:solidFill>
                <a:latin typeface="Faustina Bold"/>
                <a:ea typeface="Faustina Bold"/>
                <a:cs typeface="Faustina Bold"/>
              </a:rPr>
              <a:t>[4]</a:t>
            </a: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0ECD1CAC-FB5D-405F-827E-B0D8BCCA2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47870" y="5143500"/>
            <a:ext cx="6330260" cy="1213565"/>
          </a:xfrm>
          <a:custGeom xmlns:a="http://schemas.openxmlformats.org/drawingml/2006/main">
            <a:rect l="l" t="t" r="r" b="b"/>
            <a:pathLst>
              <a:path w="1667229" h="319622">
                <a:moveTo>
                  <a:pt x="20791" y="0"/>
                </a:moveTo>
                <a:lnTo>
                  <a:pt x="1646438" y="0"/>
                </a:lnTo>
                <a:cubicBezTo>
                  <a:pt x="1657920" y="0"/>
                  <a:pt x="1667229" y="9308"/>
                  <a:pt x="1667229" y="20791"/>
                </a:cubicBezTo>
                <a:lnTo>
                  <a:pt x="1667229" y="298831"/>
                </a:lnTo>
                <a:cubicBezTo>
                  <a:pt x="1667229" y="310314"/>
                  <a:pt x="1657920" y="319622"/>
                  <a:pt x="1646438" y="319622"/>
                </a:cubicBezTo>
                <a:lnTo>
                  <a:pt x="20791" y="319622"/>
                </a:lnTo>
                <a:cubicBezTo>
                  <a:pt x="9308" y="319622"/>
                  <a:pt x="0" y="310314"/>
                  <a:pt x="0" y="298831"/>
                </a:cubicBezTo>
                <a:lnTo>
                  <a:pt x="0" y="20791"/>
                </a:lnTo>
                <a:cubicBezTo>
                  <a:pt x="0" y="9308"/>
                  <a:pt x="9308" y="0"/>
                  <a:pt x="20791" y="0"/>
                </a:cubicBezTo>
                <a:close/>
              </a:path>
            </a:pathLst>
          </a:custGeom>
          <a:ln xmlns:a="http://schemas.openxmlformats.org/drawingml/2006/main" w="95250">
            <a:solidFill>
              <a:srgbClr val="FF3131"/>
            </a:solidFill>
            <a:prstDash val="solid"/>
          </a:ln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F5C7E241-8972-412E-ACA8-BEC3E5B1D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47870" y="4781848"/>
            <a:ext cx="6330260" cy="15752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900"/>
              </a:lnSpc>
              <a:buNone/>
            </a:pPr>
          </a:p>
        </p:txBody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8DC1D89B-7666-44FB-A447-8B2D8EAC6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213000" y="7866635"/>
            <a:ext cx="3165130" cy="1046990"/>
          </a:xfrm>
          <a:custGeom xmlns:a="http://schemas.openxmlformats.org/drawingml/2006/main">
            <a:rect l="l" t="t" r="r" b="b"/>
            <a:pathLst>
              <a:path w="833614" h="275750">
                <a:moveTo>
                  <a:pt x="41582" y="0"/>
                </a:moveTo>
                <a:lnTo>
                  <a:pt x="792032" y="0"/>
                </a:lnTo>
                <a:cubicBezTo>
                  <a:pt x="814998" y="0"/>
                  <a:pt x="833614" y="18617"/>
                  <a:pt x="833614" y="41582"/>
                </a:cubicBezTo>
                <a:lnTo>
                  <a:pt x="833614" y="234168"/>
                </a:lnTo>
                <a:cubicBezTo>
                  <a:pt x="833614" y="257134"/>
                  <a:pt x="814998" y="275750"/>
                  <a:pt x="792032" y="275750"/>
                </a:cubicBezTo>
                <a:lnTo>
                  <a:pt x="41582" y="275750"/>
                </a:lnTo>
                <a:cubicBezTo>
                  <a:pt x="18617" y="275750"/>
                  <a:pt x="0" y="257134"/>
                  <a:pt x="0" y="234168"/>
                </a:cubicBezTo>
                <a:lnTo>
                  <a:pt x="0" y="41582"/>
                </a:lnTo>
                <a:cubicBezTo>
                  <a:pt x="0" y="18617"/>
                  <a:pt x="18617" y="0"/>
                  <a:pt x="41582" y="0"/>
                </a:cubicBezTo>
                <a:close/>
              </a:path>
            </a:pathLst>
          </a:custGeom>
          <a:ln xmlns:a="http://schemas.openxmlformats.org/drawingml/2006/main" w="95250">
            <a:solidFill>
              <a:srgbClr val="FF3131"/>
            </a:solidFill>
            <a:prstDash val="solid"/>
          </a:ln>
        </p:spPr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95450A9B-E501-454D-AD08-95921F7A4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213000" y="7504983"/>
            <a:ext cx="3165130" cy="14086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900"/>
              </a:lnSpc>
              <a:buNone/>
            </a:pPr>
          </a:p>
        </p:txBody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D440B169-6B36-430C-9A30-139860A5F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93721" y="5288972"/>
            <a:ext cx="1470023" cy="1017976"/>
          </a:xfrm>
          <a:custGeom xmlns:a="http://schemas.openxmlformats.org/drawingml/2006/main">
            <a:rect l="l" t="t" r="r" b="b"/>
            <a:pathLst>
              <a:path w="387167" h="268109">
                <a:moveTo>
                  <a:pt x="89531" y="0"/>
                </a:moveTo>
                <a:lnTo>
                  <a:pt x="297636" y="0"/>
                </a:lnTo>
                <a:cubicBezTo>
                  <a:pt x="321381" y="0"/>
                  <a:pt x="344153" y="9433"/>
                  <a:pt x="360944" y="26223"/>
                </a:cubicBezTo>
                <a:cubicBezTo>
                  <a:pt x="377734" y="43013"/>
                  <a:pt x="387167" y="65786"/>
                  <a:pt x="387167" y="89531"/>
                </a:cubicBezTo>
                <a:lnTo>
                  <a:pt x="387167" y="178578"/>
                </a:lnTo>
                <a:cubicBezTo>
                  <a:pt x="387167" y="202323"/>
                  <a:pt x="377734" y="225096"/>
                  <a:pt x="360944" y="241886"/>
                </a:cubicBezTo>
                <a:cubicBezTo>
                  <a:pt x="344153" y="258676"/>
                  <a:pt x="321381" y="268109"/>
                  <a:pt x="297636" y="268109"/>
                </a:cubicBezTo>
                <a:lnTo>
                  <a:pt x="89531" y="268109"/>
                </a:lnTo>
                <a:cubicBezTo>
                  <a:pt x="65786" y="268109"/>
                  <a:pt x="43013" y="258676"/>
                  <a:pt x="26223" y="241886"/>
                </a:cubicBezTo>
                <a:cubicBezTo>
                  <a:pt x="9433" y="225096"/>
                  <a:pt x="0" y="202323"/>
                  <a:pt x="0" y="178578"/>
                </a:cubicBezTo>
                <a:lnTo>
                  <a:pt x="0" y="89531"/>
                </a:lnTo>
                <a:cubicBezTo>
                  <a:pt x="0" y="65786"/>
                  <a:pt x="9433" y="43013"/>
                  <a:pt x="26223" y="26223"/>
                </a:cubicBezTo>
                <a:cubicBezTo>
                  <a:pt x="43013" y="9433"/>
                  <a:pt x="65786" y="0"/>
                  <a:pt x="89531" y="0"/>
                </a:cubicBezTo>
                <a:close/>
              </a:path>
            </a:pathLst>
          </a:custGeom>
          <a:ln xmlns:a="http://schemas.openxmlformats.org/drawingml/2006/main" w="95250">
            <a:solidFill>
              <a:srgbClr val="FF3131"/>
            </a:solidFill>
            <a:prstDash val="solid"/>
          </a:ln>
        </p:spPr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A40FA88B-1419-404E-9C60-B7E395E7B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93721" y="4927320"/>
            <a:ext cx="1470023" cy="137962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900"/>
              </a:lnSpc>
              <a:buNone/>
            </a:pPr>
          </a:p>
        </p:txBody>
      </p:sp>
      <p:sp>
        <p:nvSpPr>
          <p:cNvPr id="18" name="Freeform 18">
            <a:extLst xmlns:a="http://schemas.openxmlformats.org/drawingml/2006/main">
              <a:ext uri="{FF2B5EF4-FFF2-40B4-BE49-F238E27FC236}">
                <a16:creationId xmlns:a16="http://schemas.microsoft.com/office/drawing/2014/main" id="{8934D197-8FDE-4F76-9DC7-C17ECD52B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02018" y="6509449"/>
            <a:ext cx="6431640" cy="1357185"/>
          </a:xfrm>
          <a:custGeom xmlns:a="http://schemas.openxmlformats.org/drawingml/2006/main">
            <a:rect l="l" t="t" r="r" b="b"/>
            <a:pathLst>
              <a:path w="1693930" h="357448">
                <a:moveTo>
                  <a:pt x="20463" y="0"/>
                </a:moveTo>
                <a:lnTo>
                  <a:pt x="1673466" y="0"/>
                </a:lnTo>
                <a:cubicBezTo>
                  <a:pt x="1684768" y="0"/>
                  <a:pt x="1693930" y="9162"/>
                  <a:pt x="1693930" y="20463"/>
                </a:cubicBezTo>
                <a:lnTo>
                  <a:pt x="1693930" y="336985"/>
                </a:lnTo>
                <a:cubicBezTo>
                  <a:pt x="1693930" y="348286"/>
                  <a:pt x="1684768" y="357448"/>
                  <a:pt x="1673466" y="357448"/>
                </a:cubicBezTo>
                <a:lnTo>
                  <a:pt x="20463" y="357448"/>
                </a:lnTo>
                <a:cubicBezTo>
                  <a:pt x="9162" y="357448"/>
                  <a:pt x="0" y="348286"/>
                  <a:pt x="0" y="336985"/>
                </a:cubicBezTo>
                <a:lnTo>
                  <a:pt x="0" y="20463"/>
                </a:lnTo>
                <a:cubicBezTo>
                  <a:pt x="0" y="9162"/>
                  <a:pt x="9162" y="0"/>
                  <a:pt x="20463" y="0"/>
                </a:cubicBezTo>
                <a:close/>
              </a:path>
            </a:pathLst>
          </a:custGeom>
          <a:ln xmlns:a="http://schemas.openxmlformats.org/drawingml/2006/main" w="95250">
            <a:solidFill>
              <a:srgbClr val="FF3131"/>
            </a:solidFill>
            <a:prstDash val="solid"/>
          </a:ln>
        </p:spPr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39308D32-5600-4A80-AD44-2EB913680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02018" y="6147797"/>
            <a:ext cx="6431640" cy="17188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900"/>
              </a:lnSpc>
              <a:buNone/>
            </a:pP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BB723AD3-750D-4B47-AD01-33D2950A8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02018" y="4676795"/>
            <a:ext cx="291703" cy="4667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900"/>
              </a:lnSpc>
              <a:spcBef>
                <a:spcPct val="0"/>
              </a:spcBef>
              <a:buNone/>
            </a:pPr>
            <a:r>
              <a:rPr sz="2437" b="1">
                <a:solidFill>
                  <a:srgbClr val="FF3131"/>
                </a:solidFill>
                <a:latin typeface="Faustina Bold"/>
                <a:ea typeface="Faustina Bold"/>
                <a:cs typeface="Faustina Bold"/>
              </a:rPr>
              <a:t>[1]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92E81668-80D3-4E88-BAE7-278EDA7FF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63744" y="5152955"/>
            <a:ext cx="316706" cy="4667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900"/>
              </a:lnSpc>
              <a:spcBef>
                <a:spcPct val="0"/>
              </a:spcBef>
              <a:buNone/>
            </a:pPr>
            <a:r>
              <a:rPr sz="2437" b="1">
                <a:solidFill>
                  <a:srgbClr val="FF3131"/>
                </a:solidFill>
                <a:latin typeface="Faustina Bold"/>
                <a:ea typeface="Faustina Bold"/>
                <a:cs typeface="Faustina Bold"/>
              </a:rPr>
              <a:t>[2]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DFEDE625-4A8D-422E-84B1-16ED15244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26464" y="6619933"/>
            <a:ext cx="307479" cy="4667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900"/>
              </a:lnSpc>
              <a:spcBef>
                <a:spcPct val="0"/>
              </a:spcBef>
              <a:buNone/>
            </a:pPr>
            <a:r>
              <a:rPr sz="2437" b="1">
                <a:solidFill>
                  <a:srgbClr val="FF3131"/>
                </a:solidFill>
                <a:latin typeface="Faustina Bold"/>
                <a:ea typeface="Faustina Bold"/>
                <a:cs typeface="Faustina Bold"/>
              </a:rPr>
              <a:t>[3]</a:t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5B548A47-6781-445F-A500-FEE538771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98354" y="7857439"/>
            <a:ext cx="319484" cy="4667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900"/>
              </a:lnSpc>
              <a:spcBef>
                <a:spcPct val="0"/>
              </a:spcBef>
              <a:buNone/>
            </a:pPr>
            <a:r>
              <a:rPr sz="2437" b="1">
                <a:solidFill>
                  <a:srgbClr val="FF3131"/>
                </a:solidFill>
                <a:latin typeface="Faustina Bold"/>
                <a:ea typeface="Faustina Bold"/>
                <a:cs typeface="Faustina Bold"/>
              </a:rPr>
              <a:t>[4]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EBA0AE26-1F97-4C43-836A-2AD4C429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2467967"/>
            <a:ext cx="3397592" cy="8548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959"/>
              </a:lnSpc>
              <a:spcBef>
                <a:spcPct val="0"/>
              </a:spcBef>
              <a:buNone/>
            </a:pPr>
            <a:r>
              <a:rPr sz="4970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rPr>
              <a:t>Ac</a:t>
            </a:r>
            <a:r>
              <a:rPr sz="4970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rPr>
              <a:t>tion Hub</a:t>
            </a:r>
          </a:p>
        </p:txBody>
      </p:sp>
    </p:spTree>
    <p:extLst>
      <p:ext uri="{BB962C8B-B14F-4D97-AF65-F5344CB8AC3E}">
        <p14:creationId xmlns:p14="http://schemas.microsoft.com/office/powerpoint/2010/main" val="155176008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EFD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322CE86C-F678-457D-A4A1-121883190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6056213"/>
            <a:ext cx="4114800" cy="4114800"/>
          </a:xfrm>
          <a:custGeom xmlns:a="http://schemas.openxmlformats.org/drawingml/2006/main"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26d0d1c8ebe4c29">
              <a:extLst>
                <a:ext uri="{96DAC541-7B7A-43D3-8B79-37D633B846F1}">
                  <asvg:svgBlip xmlns:asvg="http://schemas.microsoft.com/office/drawing/2016/SVG/main" r:embed="Rd7d5be2a47b44a8d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A113320E-A6CA-4EBB-AEE1-E0469D83B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1">
            <a:off x="14425139" y="0"/>
            <a:ext cx="4114800" cy="4114800"/>
          </a:xfrm>
          <a:custGeom xmlns:a="http://schemas.openxmlformats.org/drawingml/2006/main"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26d0d1c8ebe4c29">
              <a:extLst>
                <a:ext uri="{96DAC541-7B7A-43D3-8B79-37D633B846F1}">
                  <asvg:svgBlip xmlns:asvg="http://schemas.microsoft.com/office/drawing/2016/SVG/main" r:embed="Rd7d5be2a47b44a8d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B0E03A02-E6FB-4E01-B67D-2F45B9D14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0800" y="272440"/>
            <a:ext cx="2187357" cy="1069709"/>
          </a:xfrm>
          <a:custGeom xmlns:a="http://schemas.openxmlformats.org/drawingml/2006/main">
            <a:rect l="l" t="t" r="r" b="b"/>
            <a:pathLst>
              <a:path w="2187357" h="1069709">
                <a:moveTo>
                  <a:pt x="0" y="0"/>
                </a:moveTo>
                <a:lnTo>
                  <a:pt x="2187356" y="0"/>
                </a:lnTo>
                <a:lnTo>
                  <a:pt x="2187356" y="1069709"/>
                </a:lnTo>
                <a:lnTo>
                  <a:pt x="0" y="106970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8b12b76a83844d4"/>
            <a:stretch>
              <a:fillRect l="0" t="-53474" r="0" b="-51006"/>
            </a:stretch>
          </a:blipFill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E7640FE7-6C26-4945-AF67-C244117A6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57441" y="1152525"/>
            <a:ext cx="11325187" cy="10040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420"/>
              </a:lnSpc>
              <a:buNone/>
            </a:pPr>
            <a:r>
              <a:rPr sz="7420" b="1">
                <a:solidFill>
                  <a:srgbClr val="754820"/>
                </a:solidFill>
                <a:latin typeface="Maven Pro Bold"/>
                <a:ea typeface="Maven Pro Bold"/>
                <a:cs typeface="Maven Pro Bold"/>
              </a:rPr>
              <a:t>POOR TICKET VISIBILITY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9AE7B2B0-3CAA-42D2-920D-DF2C82CA4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0515" y="3760318"/>
            <a:ext cx="6128570" cy="21650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515"/>
              </a:lnSpc>
              <a:buNone/>
            </a:pPr>
            <a:r>
              <a:rPr sz="3447" b="1">
                <a:solidFill>
                  <a:srgbClr val="754820"/>
                </a:solidFill>
                <a:latin typeface="Faustina Bold"/>
                <a:ea typeface="Faustina Bold"/>
                <a:cs typeface="Faustina Bold"/>
              </a:rPr>
              <a:t>Pros:</a:t>
            </a:r>
          </a:p>
          <a:p xmlns:a="http://schemas.openxmlformats.org/drawingml/2006/main">
            <a:pPr marL="526342" lvl="1" indent="-263171" algn="l">
              <a:lnSpc>
                <a:spcPts val="3900"/>
              </a:lnSpc>
              <a:buFont typeface="Arial"/>
              <a:buChar char="•"/>
            </a:pPr>
            <a:r>
              <a:rPr sz="2437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Mak</a:t>
            </a:r>
            <a:r>
              <a:rPr sz="2437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es common ticket actions easy to find</a:t>
            </a:r>
          </a:p>
          <a:p xmlns:a="http://schemas.openxmlformats.org/drawingml/2006/main">
            <a:pPr marL="526342" lvl="1" indent="-263171" algn="l">
              <a:lnSpc>
                <a:spcPts val="3900"/>
              </a:lnSpc>
              <a:buFont typeface="Arial"/>
              <a:buChar char="•"/>
            </a:pPr>
            <a:r>
              <a:rPr sz="2437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Reduces steps for frequent tasks</a:t>
            </a:r>
          </a:p>
          <a:p xmlns:a="http://schemas.openxmlformats.org/drawingml/2006/main">
            <a:pPr marL="526342" lvl="1" indent="-263171" algn="l">
              <a:lnSpc>
                <a:spcPts val="3900"/>
              </a:lnSpc>
              <a:buFont typeface="Arial"/>
              <a:buChar char="•"/>
            </a:pPr>
            <a:r>
              <a:rPr sz="2437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Clear shortcuts make actions easy to scan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F1239C02-D476-4926-93EA-184EE1CAA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6287365"/>
            <a:ext cx="6534090" cy="11744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515"/>
              </a:lnSpc>
              <a:buNone/>
            </a:pPr>
            <a:r>
              <a:rPr sz="3447" b="1">
                <a:solidFill>
                  <a:srgbClr val="754820"/>
                </a:solidFill>
                <a:latin typeface="Faustina Bold"/>
                <a:ea typeface="Faustina Bold"/>
                <a:cs typeface="Faustina Bold"/>
              </a:rPr>
              <a:t>Cons:</a:t>
            </a:r>
          </a:p>
          <a:p xmlns:a="http://schemas.openxmlformats.org/drawingml/2006/main">
            <a:pPr marL="526342" lvl="1" indent="-263171" algn="l">
              <a:lnSpc>
                <a:spcPts val="3900"/>
              </a:lnSpc>
              <a:buFont typeface="Arial"/>
              <a:buChar char="•"/>
            </a:pPr>
            <a:r>
              <a:rPr sz="2437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Less</a:t>
            </a:r>
            <a:r>
              <a:rPr sz="2437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 visibility into ticket progress</a:t>
            </a:r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1518E484-B71A-4BF7-AB27-D21E61F50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10528369" y="1855992"/>
            <a:ext cx="6290829" cy="8004906"/>
          </a:xfrm>
          <a:custGeom xmlns:a="http://schemas.openxmlformats.org/drawingml/2006/main">
            <a:rect l="l" t="t" r="r" b="b"/>
            <a:pathLst>
              <a:path w="6290829" h="8004906">
                <a:moveTo>
                  <a:pt x="0" y="0"/>
                </a:moveTo>
                <a:lnTo>
                  <a:pt x="6290829" y="0"/>
                </a:lnTo>
                <a:lnTo>
                  <a:pt x="6290829" y="8004906"/>
                </a:lnTo>
                <a:lnTo>
                  <a:pt x="0" y="800490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389079faf9f497f"/>
            <a:stretch>
              <a:fillRect l="-8993" t="-9894" r="-21583" b="-26927"/>
            </a:stretch>
          </a:blipFill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0C6C7A2A-D5B0-4CF2-95D6-8B32607A2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2937041"/>
            <a:ext cx="3397592" cy="8548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959"/>
              </a:lnSpc>
              <a:spcBef>
                <a:spcPct val="0"/>
              </a:spcBef>
              <a:buNone/>
            </a:pPr>
            <a:r>
              <a:rPr sz="4970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rPr>
              <a:t>Ac</a:t>
            </a:r>
            <a:r>
              <a:rPr sz="4970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rPr>
              <a:t>tion Hub</a:t>
            </a:r>
          </a:p>
        </p:txBody>
      </p:sp>
    </p:spTree>
    <p:extLst>
      <p:ext uri="{BB962C8B-B14F-4D97-AF65-F5344CB8AC3E}">
        <p14:creationId xmlns:p14="http://schemas.microsoft.com/office/powerpoint/2010/main" val="96025557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EFD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CD7066B9-A3A7-467B-9CEA-E6BE4D560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6056213"/>
            <a:ext cx="4114800" cy="4114800"/>
          </a:xfrm>
          <a:custGeom xmlns:a="http://schemas.openxmlformats.org/drawingml/2006/main"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e2f3c3fc2924fe4">
              <a:extLst>
                <a:ext uri="{96DAC541-7B7A-43D3-8B79-37D633B846F1}">
                  <asvg:svgBlip xmlns:asvg="http://schemas.microsoft.com/office/drawing/2016/SVG/main" r:embed="Ra2e05b83bfac48b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41A062AF-BBE0-4AB0-A398-239AEA4FB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1">
            <a:off x="14425139" y="0"/>
            <a:ext cx="4114800" cy="4114800"/>
          </a:xfrm>
          <a:custGeom xmlns:a="http://schemas.openxmlformats.org/drawingml/2006/main"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e2f3c3fc2924fe4">
              <a:extLst>
                <a:ext uri="{96DAC541-7B7A-43D3-8B79-37D633B846F1}">
                  <asvg:svgBlip xmlns:asvg="http://schemas.microsoft.com/office/drawing/2016/SVG/main" r:embed="Ra2e05b83bfac48b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2E4F8CD0-24B6-4932-9678-98FB7E98E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5747" y="289936"/>
            <a:ext cx="3331694" cy="1150635"/>
          </a:xfrm>
          <a:custGeom xmlns:a="http://schemas.openxmlformats.org/drawingml/2006/main">
            <a:rect l="l" t="t" r="r" b="b"/>
            <a:pathLst>
              <a:path w="3331694" h="1150635">
                <a:moveTo>
                  <a:pt x="0" y="0"/>
                </a:moveTo>
                <a:lnTo>
                  <a:pt x="3331694" y="0"/>
                </a:lnTo>
                <a:lnTo>
                  <a:pt x="3331694" y="1150634"/>
                </a:lnTo>
                <a:lnTo>
                  <a:pt x="0" y="115063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20875cd72604ddd"/>
            <a:stretch>
              <a:fillRect l="-7270" t="-25038" r="-6058" b="-39036"/>
            </a:stretch>
          </a:blip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7908EC7E-4BAD-4821-8A7D-2597B820A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10633091" y="1667769"/>
            <a:ext cx="5601790" cy="8427903"/>
          </a:xfrm>
          <a:custGeom xmlns:a="http://schemas.openxmlformats.org/drawingml/2006/main">
            <a:rect l="l" t="t" r="r" b="b"/>
            <a:pathLst>
              <a:path w="5601790" h="8427903">
                <a:moveTo>
                  <a:pt x="0" y="0"/>
                </a:moveTo>
                <a:lnTo>
                  <a:pt x="5601790" y="0"/>
                </a:lnTo>
                <a:lnTo>
                  <a:pt x="5601790" y="8427903"/>
                </a:lnTo>
                <a:lnTo>
                  <a:pt x="0" y="842790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e2f3c3fc2924fe4"/>
            <a:stretch>
              <a:fillRect l="-30002" t="0" r="-25574" b="-37876"/>
            </a:stretch>
          </a:blip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DAC0E2D8-0276-4339-8A3C-C46AD7EB4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68986" y="1304595"/>
            <a:ext cx="13302097" cy="10040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420"/>
              </a:lnSpc>
              <a:buNone/>
            </a:pPr>
            <a:r>
              <a:rPr sz="7420" b="1">
                <a:solidFill>
                  <a:srgbClr val="754820"/>
                </a:solidFill>
                <a:latin typeface="Maven Pro Bold"/>
                <a:ea typeface="Maven Pro Bold"/>
                <a:cs typeface="Maven Pro Bold"/>
              </a:rPr>
              <a:t>LOW REVIEW LEARNABILITY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34FF627C-3B8C-4C3D-AB1A-472B2DAF3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9100" y="3971925"/>
            <a:ext cx="7276982" cy="31768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142"/>
              </a:lnSpc>
              <a:buNone/>
            </a:pPr>
            <a:r>
              <a:rPr sz="3838" b="1">
                <a:solidFill>
                  <a:srgbClr val="754820"/>
                </a:solidFill>
                <a:latin typeface="Faustina Bold"/>
                <a:ea typeface="Faustina Bold"/>
                <a:cs typeface="Faustina Bold"/>
              </a:rPr>
              <a:t>Review your game step by</a:t>
            </a:r>
            <a:r>
              <a:rPr sz="3838" b="1">
                <a:solidFill>
                  <a:srgbClr val="754820"/>
                </a:solidFill>
                <a:latin typeface="Faustina Bold"/>
                <a:ea typeface="Faustina Bold"/>
                <a:cs typeface="Faustina Bold"/>
              </a:rPr>
              <a:t> st</a:t>
            </a:r>
            <a:r>
              <a:rPr sz="3838" b="1">
                <a:solidFill>
                  <a:srgbClr val="754820"/>
                </a:solidFill>
                <a:latin typeface="Faustina Bold"/>
                <a:ea typeface="Faustina Bold"/>
                <a:cs typeface="Faustina Bold"/>
              </a:rPr>
              <a:t>ep</a:t>
            </a:r>
          </a:p>
          <a:p xmlns:a="http://schemas.openxmlformats.org/drawingml/2006/main">
            <a:pPr algn="l">
              <a:lnSpc>
                <a:spcPts val="2093"/>
              </a:lnSpc>
              <a:buNone/>
            </a:pPr>
          </a:p>
          <a:p xmlns:a="http://schemas.openxmlformats.org/drawingml/2006/main">
            <a:pPr algn="l">
              <a:lnSpc>
                <a:spcPts val="4344"/>
              </a:lnSpc>
              <a:buNone/>
            </a:pPr>
            <a:r>
              <a:rPr sz="2715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A</a:t>
            </a:r>
            <a:r>
              <a:rPr sz="2715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 guided review flow breaks the game into clear steps, explains mistakes in simple language, suggests better moves, and connects each mistake to targeted practice.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72570160-5D59-409D-87FA-C809C548E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9100" y="2976050"/>
            <a:ext cx="6818966" cy="8548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959"/>
              </a:lnSpc>
              <a:spcBef>
                <a:spcPct val="0"/>
              </a:spcBef>
              <a:buNone/>
            </a:pPr>
            <a:r>
              <a:rPr sz="4970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rPr>
              <a:t>Beginner</a:t>
            </a:r>
            <a:r>
              <a:rPr sz="4970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rPr>
              <a:t> Review Flow</a:t>
            </a:r>
          </a:p>
        </p:txBody>
      </p:sp>
    </p:spTree>
    <p:extLst>
      <p:ext uri="{BB962C8B-B14F-4D97-AF65-F5344CB8AC3E}">
        <p14:creationId xmlns:p14="http://schemas.microsoft.com/office/powerpoint/2010/main" val="146540963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EFD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502CBF33-943A-4744-8B94-37AD54B5F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6056213"/>
            <a:ext cx="4114800" cy="4114800"/>
          </a:xfrm>
          <a:custGeom xmlns:a="http://schemas.openxmlformats.org/drawingml/2006/main"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3b79fecdaa84fdd">
              <a:extLst>
                <a:ext uri="{96DAC541-7B7A-43D3-8B79-37D633B846F1}">
                  <asvg:svgBlip xmlns:asvg="http://schemas.microsoft.com/office/drawing/2016/SVG/main" r:embed="Ra49edb7f0d2445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1D4A73F2-2C1E-40EA-9F02-E8915A842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1">
            <a:off x="14425139" y="0"/>
            <a:ext cx="4114800" cy="4114800"/>
          </a:xfrm>
          <a:custGeom xmlns:a="http://schemas.openxmlformats.org/drawingml/2006/main"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3b79fecdaa84fdd">
              <a:extLst>
                <a:ext uri="{96DAC541-7B7A-43D3-8B79-37D633B846F1}">
                  <asvg:svgBlip xmlns:asvg="http://schemas.microsoft.com/office/drawing/2016/SVG/main" r:embed="Ra49edb7f0d2445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C395CEF1-EBDD-4CBA-908B-C5CF0994A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3725182"/>
            <a:ext cx="7265843" cy="19823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612"/>
              </a:lnSpc>
              <a:buNone/>
            </a:pPr>
            <a:r>
              <a:rPr sz="4133" b="1">
                <a:solidFill>
                  <a:srgbClr val="754820"/>
                </a:solidFill>
                <a:latin typeface="Faustina Bold"/>
                <a:ea typeface="Faustina Bold"/>
                <a:cs typeface="Faustina Bold"/>
              </a:rPr>
              <a:t>Motivation:</a:t>
            </a:r>
          </a:p>
          <a:p xmlns:a="http://schemas.openxmlformats.org/drawingml/2006/main">
            <a:pPr algn="l">
              <a:lnSpc>
                <a:spcPts val="4676"/>
              </a:lnSpc>
              <a:buNone/>
            </a:pPr>
            <a:r>
              <a:rPr sz="2923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simpl</a:t>
            </a:r>
            <a:r>
              <a:rPr sz="2923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ify game review for beginners and reduce cognitive overload.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9BD27F7D-9C05-414E-A82A-8296AF73F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2542048"/>
            <a:ext cx="6844311" cy="8548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959"/>
              </a:lnSpc>
              <a:spcBef>
                <a:spcPct val="0"/>
              </a:spcBef>
              <a:buNone/>
            </a:pPr>
            <a:r>
              <a:rPr sz="4970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rPr>
              <a:t>Beginner</a:t>
            </a:r>
            <a:r>
              <a:rPr sz="4970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rPr>
              <a:t> Review Flow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F420C331-D801-4AD0-B371-E8B2A8F64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5933940"/>
            <a:ext cx="7265843" cy="19823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612"/>
              </a:lnSpc>
              <a:buNone/>
            </a:pPr>
            <a:r>
              <a:rPr sz="4133" b="1">
                <a:solidFill>
                  <a:srgbClr val="754820"/>
                </a:solidFill>
                <a:latin typeface="Faustina Bold"/>
                <a:ea typeface="Faustina Bold"/>
                <a:cs typeface="Faustina Bold"/>
              </a:rPr>
              <a:t>Why:</a:t>
            </a:r>
          </a:p>
          <a:p xmlns:a="http://schemas.openxmlformats.org/drawingml/2006/main">
            <a:pPr algn="l">
              <a:lnSpc>
                <a:spcPts val="4676"/>
              </a:lnSpc>
              <a:buNone/>
            </a:pPr>
            <a:r>
              <a:rPr sz="2923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begin</a:t>
            </a:r>
            <a:r>
              <a:rPr sz="2923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ners may struggle to understand mistakes, engine analysis, and what to do next.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E11B4655-C47B-44A0-90DC-EAE6E54D1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68986" y="1304595"/>
            <a:ext cx="13302097" cy="10040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420"/>
              </a:lnSpc>
              <a:buNone/>
            </a:pPr>
            <a:r>
              <a:rPr sz="7420" b="1">
                <a:solidFill>
                  <a:srgbClr val="754820"/>
                </a:solidFill>
                <a:latin typeface="Maven Pro Bold"/>
                <a:ea typeface="Maven Pro Bold"/>
                <a:cs typeface="Maven Pro Bold"/>
              </a:rPr>
              <a:t>LOW REVIEW LEARNABILITY</a:t>
            </a:r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15884813-7ECB-43CF-A513-2D573B91F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5747" y="289936"/>
            <a:ext cx="3331694" cy="1150635"/>
          </a:xfrm>
          <a:custGeom xmlns:a="http://schemas.openxmlformats.org/drawingml/2006/main">
            <a:rect l="l" t="t" r="r" b="b"/>
            <a:pathLst>
              <a:path w="3331694" h="1150635">
                <a:moveTo>
                  <a:pt x="0" y="0"/>
                </a:moveTo>
                <a:lnTo>
                  <a:pt x="3331694" y="0"/>
                </a:lnTo>
                <a:lnTo>
                  <a:pt x="3331694" y="1150634"/>
                </a:lnTo>
                <a:lnTo>
                  <a:pt x="0" y="115063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0e52d42e6e04cef"/>
            <a:stretch>
              <a:fillRect l="-7270" t="-25038" r="-6058" b="-39036"/>
            </a:stretch>
          </a:blipFill>
        </p:spPr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03EFB86E-5C1F-49BB-A52C-FD3D13723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10633091" y="1667769"/>
            <a:ext cx="5601790" cy="8427903"/>
          </a:xfrm>
          <a:custGeom xmlns:a="http://schemas.openxmlformats.org/drawingml/2006/main">
            <a:rect l="l" t="t" r="r" b="b"/>
            <a:pathLst>
              <a:path w="5601790" h="8427903">
                <a:moveTo>
                  <a:pt x="0" y="0"/>
                </a:moveTo>
                <a:lnTo>
                  <a:pt x="5601790" y="0"/>
                </a:lnTo>
                <a:lnTo>
                  <a:pt x="5601790" y="8427903"/>
                </a:lnTo>
                <a:lnTo>
                  <a:pt x="0" y="842790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3b79fecdaa84fdd"/>
            <a:stretch>
              <a:fillRect l="-30002" t="0" r="-25574" b="-37876"/>
            </a:stretch>
          </a:blipFill>
        </p:spPr>
      </p:sp>
    </p:spTree>
    <p:extLst>
      <p:ext uri="{BB962C8B-B14F-4D97-AF65-F5344CB8AC3E}">
        <p14:creationId xmlns:p14="http://schemas.microsoft.com/office/powerpoint/2010/main" val="29738291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EFD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1C95EA60-D29E-4FDD-A584-BAC66D3F0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6056213"/>
            <a:ext cx="4114800" cy="4114800"/>
          </a:xfrm>
          <a:custGeom xmlns:a="http://schemas.openxmlformats.org/drawingml/2006/main"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d76e7a0b5b84089">
              <a:extLst>
                <a:ext uri="{96DAC541-7B7A-43D3-8B79-37D633B846F1}">
                  <asvg:svgBlip xmlns:asvg="http://schemas.microsoft.com/office/drawing/2016/SVG/main" r:embed="Rb119ed936dd040b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9B2E6A89-88F8-48BD-A038-86D4C5651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10633091" y="1431368"/>
            <a:ext cx="5601790" cy="8427903"/>
          </a:xfrm>
          <a:custGeom xmlns:a="http://schemas.openxmlformats.org/drawingml/2006/main">
            <a:rect l="l" t="t" r="r" b="b"/>
            <a:pathLst>
              <a:path w="5601790" h="8427903">
                <a:moveTo>
                  <a:pt x="0" y="0"/>
                </a:moveTo>
                <a:lnTo>
                  <a:pt x="5601790" y="0"/>
                </a:lnTo>
                <a:lnTo>
                  <a:pt x="5601790" y="8427903"/>
                </a:lnTo>
                <a:lnTo>
                  <a:pt x="0" y="842790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d76e7a0b5b84089"/>
            <a:stretch>
              <a:fillRect l="-30002" t="0" r="-25574" b="-37876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CB0E8033-E95A-486B-9225-15A80CAAF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1">
            <a:off x="14425139" y="0"/>
            <a:ext cx="4114800" cy="4114800"/>
          </a:xfrm>
          <a:custGeom xmlns:a="http://schemas.openxmlformats.org/drawingml/2006/main"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d76e7a0b5b84089">
              <a:extLst>
                <a:ext uri="{96DAC541-7B7A-43D3-8B79-37D633B846F1}">
                  <asvg:svgBlip xmlns:asvg="http://schemas.microsoft.com/office/drawing/2016/SVG/main" r:embed="Rb119ed936dd040b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9B8E5869-E8AE-47E4-AC7B-08EC536F1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0910" y="3454647"/>
            <a:ext cx="8143875" cy="40480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7091"/>
              </a:lnSpc>
              <a:buNone/>
            </a:pPr>
            <a:r>
              <a:rPr sz="4432" b="1">
                <a:solidFill>
                  <a:srgbClr val="754820"/>
                </a:solidFill>
                <a:latin typeface="Faustina Bold"/>
                <a:ea typeface="Faustina Bold"/>
                <a:cs typeface="Faustina Bold"/>
              </a:rPr>
              <a:t>How:</a:t>
            </a:r>
          </a:p>
          <a:p xmlns:a="http://schemas.openxmlformats.org/drawingml/2006/main">
            <a:pPr marL="676772" lvl="1" indent="-338386" algn="l">
              <a:lnSpc>
                <a:spcPts val="5015"/>
              </a:lnSpc>
              <a:buFont typeface="Arial"/>
              <a:buChar char="•"/>
            </a:pPr>
            <a:r>
              <a:rPr sz="3134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Guide</a:t>
            </a:r>
            <a:r>
              <a:rPr sz="3134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 users through mistakes step by step </a:t>
            </a:r>
            <a:r>
              <a:rPr sz="3134" b="1">
                <a:solidFill>
                  <a:srgbClr val="FF3131"/>
                </a:solidFill>
                <a:latin typeface="Faustina Bold"/>
                <a:ea typeface="Faustina Bold"/>
                <a:cs typeface="Faustina Bold"/>
              </a:rPr>
              <a:t>[1]</a:t>
            </a:r>
          </a:p>
          <a:p xmlns:a="http://schemas.openxmlformats.org/drawingml/2006/main">
            <a:pPr marL="676772" lvl="1" indent="-338386" algn="l">
              <a:lnSpc>
                <a:spcPts val="5015"/>
              </a:lnSpc>
              <a:buFont typeface="Arial"/>
              <a:buChar char="•"/>
            </a:pPr>
            <a:r>
              <a:rPr sz="3134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Explain mistakes in simple language &amp; highlight </a:t>
            </a:r>
            <a:r>
              <a:rPr sz="3134" b="1">
                <a:solidFill>
                  <a:srgbClr val="FF3131"/>
                </a:solidFill>
                <a:latin typeface="Faustina Bold"/>
                <a:ea typeface="Faustina Bold"/>
                <a:cs typeface="Faustina Bold"/>
              </a:rPr>
              <a:t>[2]</a:t>
            </a:r>
          </a:p>
          <a:p xmlns:a="http://schemas.openxmlformats.org/drawingml/2006/main">
            <a:pPr marL="676772" lvl="1" indent="-338386" algn="l">
              <a:lnSpc>
                <a:spcPts val="5015"/>
              </a:lnSpc>
              <a:buFont typeface="Arial"/>
              <a:buChar char="•"/>
            </a:pPr>
            <a:r>
              <a:rPr sz="3134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Suggest a better move with a clear reason</a:t>
            </a:r>
            <a:r>
              <a:rPr sz="3134" b="1">
                <a:solidFill>
                  <a:srgbClr val="FF3131"/>
                </a:solidFill>
                <a:latin typeface="Faustina Bold"/>
                <a:ea typeface="Faustina Bold"/>
                <a:cs typeface="Faustina Bold"/>
              </a:rPr>
              <a:t> [3]</a:t>
            </a:r>
          </a:p>
          <a:p xmlns:a="http://schemas.openxmlformats.org/drawingml/2006/main">
            <a:pPr marL="676772" lvl="1" indent="-338386" algn="l">
              <a:lnSpc>
                <a:spcPts val="5015"/>
              </a:lnSpc>
              <a:buFont typeface="Arial"/>
              <a:buChar char="•"/>
            </a:pPr>
            <a:r>
              <a:rPr sz="3134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Connect each mistake to targeted practice </a:t>
            </a:r>
            <a:r>
              <a:rPr sz="3134" b="1">
                <a:solidFill>
                  <a:srgbClr val="FF3131"/>
                </a:solidFill>
                <a:latin typeface="Faustina Bold"/>
                <a:ea typeface="Faustina Bold"/>
                <a:cs typeface="Faustina Bold"/>
              </a:rPr>
              <a:t>[4]</a:t>
            </a:r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30DE7A92-2E96-4284-A5E5-DC01ACB08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144773" y="4497798"/>
            <a:ext cx="2114527" cy="673118"/>
          </a:xfrm>
          <a:custGeom xmlns:a="http://schemas.openxmlformats.org/drawingml/2006/main">
            <a:rect l="l" t="t" r="r" b="b"/>
            <a:pathLst>
              <a:path w="556912" h="177282">
                <a:moveTo>
                  <a:pt x="62242" y="0"/>
                </a:moveTo>
                <a:lnTo>
                  <a:pt x="494670" y="0"/>
                </a:lnTo>
                <a:cubicBezTo>
                  <a:pt x="511178" y="0"/>
                  <a:pt x="527009" y="6558"/>
                  <a:pt x="538682" y="18230"/>
                </a:cubicBezTo>
                <a:cubicBezTo>
                  <a:pt x="550355" y="29903"/>
                  <a:pt x="556912" y="45734"/>
                  <a:pt x="556912" y="62242"/>
                </a:cubicBezTo>
                <a:lnTo>
                  <a:pt x="556912" y="115040"/>
                </a:lnTo>
                <a:cubicBezTo>
                  <a:pt x="556912" y="131548"/>
                  <a:pt x="550355" y="147379"/>
                  <a:pt x="538682" y="159052"/>
                </a:cubicBezTo>
                <a:cubicBezTo>
                  <a:pt x="527009" y="170724"/>
                  <a:pt x="511178" y="177282"/>
                  <a:pt x="494670" y="177282"/>
                </a:cubicBezTo>
                <a:lnTo>
                  <a:pt x="62242" y="177282"/>
                </a:lnTo>
                <a:cubicBezTo>
                  <a:pt x="45734" y="177282"/>
                  <a:pt x="29903" y="170724"/>
                  <a:pt x="18230" y="159052"/>
                </a:cubicBezTo>
                <a:cubicBezTo>
                  <a:pt x="6558" y="147379"/>
                  <a:pt x="0" y="131548"/>
                  <a:pt x="0" y="115040"/>
                </a:cubicBezTo>
                <a:lnTo>
                  <a:pt x="0" y="62242"/>
                </a:lnTo>
                <a:cubicBezTo>
                  <a:pt x="0" y="45734"/>
                  <a:pt x="6558" y="29903"/>
                  <a:pt x="18230" y="18230"/>
                </a:cubicBezTo>
                <a:cubicBezTo>
                  <a:pt x="29903" y="6558"/>
                  <a:pt x="45734" y="0"/>
                  <a:pt x="62242" y="0"/>
                </a:cubicBezTo>
                <a:close/>
              </a:path>
            </a:pathLst>
          </a:custGeom>
          <a:ln xmlns:a="http://schemas.openxmlformats.org/drawingml/2006/main" w="95250">
            <a:solidFill>
              <a:srgbClr val="FF3131"/>
            </a:solidFill>
            <a:prstDash val="solid"/>
          </a:ln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D8F47601-450F-4329-B29A-8B715A191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144773" y="4136146"/>
            <a:ext cx="2114527" cy="10347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900"/>
              </a:lnSpc>
              <a:buNone/>
            </a:pPr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8F554A1D-1782-482D-915B-FEF305EB1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289440" y="5109987"/>
            <a:ext cx="2078612" cy="946226"/>
          </a:xfrm>
          <a:custGeom xmlns:a="http://schemas.openxmlformats.org/drawingml/2006/main">
            <a:rect l="l" t="t" r="r" b="b"/>
            <a:pathLst>
              <a:path w="547453" h="249212">
                <a:moveTo>
                  <a:pt x="63318" y="0"/>
                </a:moveTo>
                <a:lnTo>
                  <a:pt x="484136" y="0"/>
                </a:lnTo>
                <a:cubicBezTo>
                  <a:pt x="500929" y="0"/>
                  <a:pt x="517034" y="6671"/>
                  <a:pt x="528908" y="18545"/>
                </a:cubicBezTo>
                <a:cubicBezTo>
                  <a:pt x="540782" y="30420"/>
                  <a:pt x="547453" y="46525"/>
                  <a:pt x="547453" y="63318"/>
                </a:cubicBezTo>
                <a:lnTo>
                  <a:pt x="547453" y="185894"/>
                </a:lnTo>
                <a:cubicBezTo>
                  <a:pt x="547453" y="220864"/>
                  <a:pt x="519105" y="249212"/>
                  <a:pt x="484136" y="249212"/>
                </a:cubicBezTo>
                <a:lnTo>
                  <a:pt x="63318" y="249212"/>
                </a:lnTo>
                <a:cubicBezTo>
                  <a:pt x="28348" y="249212"/>
                  <a:pt x="0" y="220864"/>
                  <a:pt x="0" y="185894"/>
                </a:cubicBezTo>
                <a:lnTo>
                  <a:pt x="0" y="63318"/>
                </a:lnTo>
                <a:cubicBezTo>
                  <a:pt x="0" y="28348"/>
                  <a:pt x="28348" y="0"/>
                  <a:pt x="63318" y="0"/>
                </a:cubicBezTo>
                <a:close/>
              </a:path>
            </a:pathLst>
          </a:custGeom>
          <a:ln xmlns:a="http://schemas.openxmlformats.org/drawingml/2006/main" w="95250">
            <a:solidFill>
              <a:srgbClr val="FF3131"/>
            </a:solidFill>
            <a:prstDash val="solid"/>
          </a:ln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26AE88A4-FA12-4B3B-873D-645D9376E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289440" y="4748335"/>
            <a:ext cx="2078612" cy="13078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900"/>
              </a:lnSpc>
              <a:buNone/>
            </a:pPr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8300A49B-5727-480A-8F53-01FAC5BF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198557" y="7018218"/>
            <a:ext cx="2169496" cy="795895"/>
          </a:xfrm>
          <a:custGeom xmlns:a="http://schemas.openxmlformats.org/drawingml/2006/main">
            <a:rect l="l" t="t" r="r" b="b"/>
            <a:pathLst>
              <a:path w="571390" h="209619">
                <a:moveTo>
                  <a:pt x="60665" y="0"/>
                </a:moveTo>
                <a:lnTo>
                  <a:pt x="510725" y="0"/>
                </a:lnTo>
                <a:cubicBezTo>
                  <a:pt x="544229" y="0"/>
                  <a:pt x="571390" y="27161"/>
                  <a:pt x="571390" y="60665"/>
                </a:cubicBezTo>
                <a:lnTo>
                  <a:pt x="571390" y="148953"/>
                </a:lnTo>
                <a:cubicBezTo>
                  <a:pt x="571390" y="165043"/>
                  <a:pt x="564998" y="180473"/>
                  <a:pt x="553621" y="191850"/>
                </a:cubicBezTo>
                <a:cubicBezTo>
                  <a:pt x="542244" y="203227"/>
                  <a:pt x="526814" y="209619"/>
                  <a:pt x="510725" y="209619"/>
                </a:cubicBezTo>
                <a:lnTo>
                  <a:pt x="60665" y="209619"/>
                </a:lnTo>
                <a:cubicBezTo>
                  <a:pt x="27161" y="209619"/>
                  <a:pt x="0" y="182458"/>
                  <a:pt x="0" y="148953"/>
                </a:cubicBezTo>
                <a:lnTo>
                  <a:pt x="0" y="60665"/>
                </a:lnTo>
                <a:cubicBezTo>
                  <a:pt x="0" y="44576"/>
                  <a:pt x="6391" y="29145"/>
                  <a:pt x="17768" y="17768"/>
                </a:cubicBezTo>
                <a:cubicBezTo>
                  <a:pt x="29145" y="6391"/>
                  <a:pt x="44576" y="0"/>
                  <a:pt x="60665" y="0"/>
                </a:cubicBezTo>
                <a:close/>
              </a:path>
            </a:pathLst>
          </a:custGeom>
          <a:ln xmlns:a="http://schemas.openxmlformats.org/drawingml/2006/main" w="95250">
            <a:solidFill>
              <a:srgbClr val="FF3131"/>
            </a:solidFill>
            <a:prstDash val="solid"/>
          </a:ln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282E637A-AA01-43C6-B6C6-773B027A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198557" y="6656567"/>
            <a:ext cx="2169496" cy="11575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900"/>
              </a:lnSpc>
              <a:buNone/>
            </a:pPr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0265C07F-8EDE-4F4C-B359-0327AC588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198557" y="6056213"/>
            <a:ext cx="2060743" cy="1002307"/>
          </a:xfrm>
          <a:custGeom xmlns:a="http://schemas.openxmlformats.org/drawingml/2006/main">
            <a:rect l="l" t="t" r="r" b="b"/>
            <a:pathLst>
              <a:path w="542747" h="263982">
                <a:moveTo>
                  <a:pt x="63867" y="0"/>
                </a:moveTo>
                <a:lnTo>
                  <a:pt x="478881" y="0"/>
                </a:lnTo>
                <a:cubicBezTo>
                  <a:pt x="495819" y="0"/>
                  <a:pt x="512064" y="6729"/>
                  <a:pt x="524041" y="18706"/>
                </a:cubicBezTo>
                <a:cubicBezTo>
                  <a:pt x="536018" y="30683"/>
                  <a:pt x="542747" y="46928"/>
                  <a:pt x="542747" y="63867"/>
                </a:cubicBezTo>
                <a:lnTo>
                  <a:pt x="542747" y="200116"/>
                </a:lnTo>
                <a:cubicBezTo>
                  <a:pt x="542747" y="217054"/>
                  <a:pt x="536018" y="233299"/>
                  <a:pt x="524041" y="245276"/>
                </a:cubicBezTo>
                <a:cubicBezTo>
                  <a:pt x="512064" y="257253"/>
                  <a:pt x="495819" y="263982"/>
                  <a:pt x="478881" y="263982"/>
                </a:cubicBezTo>
                <a:lnTo>
                  <a:pt x="63867" y="263982"/>
                </a:lnTo>
                <a:cubicBezTo>
                  <a:pt x="46928" y="263982"/>
                  <a:pt x="30683" y="257253"/>
                  <a:pt x="18706" y="245276"/>
                </a:cubicBezTo>
                <a:cubicBezTo>
                  <a:pt x="6729" y="233299"/>
                  <a:pt x="0" y="217054"/>
                  <a:pt x="0" y="200116"/>
                </a:cubicBezTo>
                <a:lnTo>
                  <a:pt x="0" y="63867"/>
                </a:lnTo>
                <a:cubicBezTo>
                  <a:pt x="0" y="46928"/>
                  <a:pt x="6729" y="30683"/>
                  <a:pt x="18706" y="18706"/>
                </a:cubicBezTo>
                <a:cubicBezTo>
                  <a:pt x="30683" y="6729"/>
                  <a:pt x="46928" y="0"/>
                  <a:pt x="63867" y="0"/>
                </a:cubicBezTo>
                <a:close/>
              </a:path>
            </a:pathLst>
          </a:custGeom>
          <a:ln xmlns:a="http://schemas.openxmlformats.org/drawingml/2006/main" w="95250">
            <a:solidFill>
              <a:srgbClr val="FF3131"/>
            </a:solidFill>
            <a:prstDash val="solid"/>
          </a:ln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212400B4-9AEA-4B4D-80DD-F3EC2476D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198557" y="5694561"/>
            <a:ext cx="2060743" cy="13639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900"/>
              </a:lnSpc>
              <a:buNone/>
            </a:pP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64625A5D-77A2-4162-8DF7-8910C564C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53070" y="4216821"/>
            <a:ext cx="291703" cy="4667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900"/>
              </a:lnSpc>
              <a:spcBef>
                <a:spcPct val="0"/>
              </a:spcBef>
              <a:buNone/>
            </a:pPr>
            <a:r>
              <a:rPr sz="2437" b="1">
                <a:solidFill>
                  <a:srgbClr val="FF3131"/>
                </a:solidFill>
                <a:latin typeface="Faustina Bold"/>
                <a:ea typeface="Faustina Bold"/>
                <a:cs typeface="Faustina Bold"/>
              </a:rPr>
              <a:t>[1]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E619F800-48D9-4E8B-8775-0A1C1BE8C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81851" y="5116395"/>
            <a:ext cx="316706" cy="4667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900"/>
              </a:lnSpc>
              <a:spcBef>
                <a:spcPct val="0"/>
              </a:spcBef>
              <a:buNone/>
            </a:pPr>
            <a:r>
              <a:rPr sz="2437" b="1">
                <a:solidFill>
                  <a:srgbClr val="FF3131"/>
                </a:solidFill>
                <a:latin typeface="Faustina Bold"/>
                <a:ea typeface="Faustina Bold"/>
                <a:cs typeface="Faustina Bold"/>
              </a:rPr>
              <a:t>[2]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94D53E9F-5BA5-4367-BD93-400E052A4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37294" y="5960963"/>
            <a:ext cx="307479" cy="4667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900"/>
              </a:lnSpc>
              <a:spcBef>
                <a:spcPct val="0"/>
              </a:spcBef>
              <a:buNone/>
            </a:pPr>
            <a:r>
              <a:rPr sz="2437" b="1">
                <a:solidFill>
                  <a:srgbClr val="FF3131"/>
                </a:solidFill>
                <a:latin typeface="Faustina Bold"/>
                <a:ea typeface="Faustina Bold"/>
                <a:cs typeface="Faustina Bold"/>
              </a:rPr>
              <a:t>[3]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042C9794-C039-4068-B738-83AE1439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79073" y="7068045"/>
            <a:ext cx="319484" cy="4667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900"/>
              </a:lnSpc>
              <a:spcBef>
                <a:spcPct val="0"/>
              </a:spcBef>
              <a:buNone/>
            </a:pPr>
            <a:r>
              <a:rPr sz="2437" b="1">
                <a:solidFill>
                  <a:srgbClr val="FF3131"/>
                </a:solidFill>
                <a:latin typeface="Faustina Bold"/>
                <a:ea typeface="Faustina Bold"/>
                <a:cs typeface="Faustina Bold"/>
              </a:rPr>
              <a:t>[4]</a:t>
            </a:r>
          </a:p>
        </p:txBody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FE34632A-4A50-4C5F-9D30-C38FE26C5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5747" y="289936"/>
            <a:ext cx="3331694" cy="1150635"/>
          </a:xfrm>
          <a:custGeom xmlns:a="http://schemas.openxmlformats.org/drawingml/2006/main">
            <a:rect l="l" t="t" r="r" b="b"/>
            <a:pathLst>
              <a:path w="3331694" h="1150635">
                <a:moveTo>
                  <a:pt x="0" y="0"/>
                </a:moveTo>
                <a:lnTo>
                  <a:pt x="3331694" y="0"/>
                </a:lnTo>
                <a:lnTo>
                  <a:pt x="3331694" y="1150634"/>
                </a:lnTo>
                <a:lnTo>
                  <a:pt x="0" y="115063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8bde068445e4472"/>
            <a:stretch>
              <a:fillRect l="-7270" t="-25038" r="-6058" b="-39036"/>
            </a:stretch>
          </a:blipFill>
        </p:spPr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637141EA-4BF0-4B02-BDDC-5718E15EB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68986" y="1304595"/>
            <a:ext cx="13302097" cy="10040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420"/>
              </a:lnSpc>
              <a:buNone/>
            </a:pPr>
            <a:r>
              <a:rPr sz="7420" b="1">
                <a:solidFill>
                  <a:srgbClr val="754820"/>
                </a:solidFill>
                <a:latin typeface="Maven Pro Bold"/>
                <a:ea typeface="Maven Pro Bold"/>
                <a:cs typeface="Maven Pro Bold"/>
              </a:rPr>
              <a:t>LOW REVIEW LEARNABILITY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08E570E8-EBCB-4131-94DF-C24C2C06B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0910" y="2739649"/>
            <a:ext cx="6844311" cy="8548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959"/>
              </a:lnSpc>
              <a:spcBef>
                <a:spcPct val="0"/>
              </a:spcBef>
              <a:buNone/>
            </a:pPr>
            <a:r>
              <a:rPr sz="4970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rPr>
              <a:t>Beginner</a:t>
            </a:r>
            <a:r>
              <a:rPr sz="4970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rPr>
              <a:t> Review Flow</a:t>
            </a:r>
          </a:p>
        </p:txBody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9834D2B2-2CB5-43E6-8611-B36D6E374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31305" y="4983262"/>
            <a:ext cx="1391875" cy="1444406"/>
          </a:xfrm>
          <a:custGeom xmlns:a="http://schemas.openxmlformats.org/drawingml/2006/main">
            <a:rect l="l" t="t" r="r" b="b"/>
            <a:pathLst>
              <a:path w="366584" h="380420">
                <a:moveTo>
                  <a:pt x="94558" y="0"/>
                </a:moveTo>
                <a:lnTo>
                  <a:pt x="272027" y="0"/>
                </a:lnTo>
                <a:cubicBezTo>
                  <a:pt x="297105" y="0"/>
                  <a:pt x="321156" y="9962"/>
                  <a:pt x="338889" y="27695"/>
                </a:cubicBezTo>
                <a:cubicBezTo>
                  <a:pt x="356622" y="45428"/>
                  <a:pt x="366584" y="69480"/>
                  <a:pt x="366584" y="94558"/>
                </a:cubicBezTo>
                <a:lnTo>
                  <a:pt x="366584" y="285862"/>
                </a:lnTo>
                <a:cubicBezTo>
                  <a:pt x="366584" y="310940"/>
                  <a:pt x="356622" y="334991"/>
                  <a:pt x="338889" y="352724"/>
                </a:cubicBezTo>
                <a:cubicBezTo>
                  <a:pt x="321156" y="370457"/>
                  <a:pt x="297105" y="380420"/>
                  <a:pt x="272027" y="380420"/>
                </a:cubicBezTo>
                <a:lnTo>
                  <a:pt x="94558" y="380420"/>
                </a:lnTo>
                <a:cubicBezTo>
                  <a:pt x="69480" y="380420"/>
                  <a:pt x="45428" y="370457"/>
                  <a:pt x="27695" y="352724"/>
                </a:cubicBezTo>
                <a:cubicBezTo>
                  <a:pt x="9962" y="334991"/>
                  <a:pt x="0" y="310940"/>
                  <a:pt x="0" y="285862"/>
                </a:cubicBezTo>
                <a:lnTo>
                  <a:pt x="0" y="94558"/>
                </a:lnTo>
                <a:cubicBezTo>
                  <a:pt x="0" y="69480"/>
                  <a:pt x="9962" y="45428"/>
                  <a:pt x="27695" y="27695"/>
                </a:cubicBezTo>
                <a:cubicBezTo>
                  <a:pt x="45428" y="9962"/>
                  <a:pt x="69480" y="0"/>
                  <a:pt x="94558" y="0"/>
                </a:cubicBezTo>
                <a:close/>
              </a:path>
            </a:pathLst>
          </a:custGeom>
          <a:ln xmlns:a="http://schemas.openxmlformats.org/drawingml/2006/main" w="95250">
            <a:solidFill>
              <a:srgbClr val="FF3131"/>
            </a:solidFill>
            <a:prstDash val="solid"/>
          </a:ln>
        </p:spPr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F2E74D89-DD76-413B-B6ED-D7C665764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31305" y="4621610"/>
            <a:ext cx="1391875" cy="18060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900"/>
              </a:lnSpc>
              <a:buNone/>
            </a:pP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0F898DB3-6D91-4C89-8DE3-894A85012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14599" y="4588275"/>
            <a:ext cx="316706" cy="4667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900"/>
              </a:lnSpc>
              <a:spcBef>
                <a:spcPct val="0"/>
              </a:spcBef>
              <a:buNone/>
            </a:pPr>
            <a:r>
              <a:rPr sz="2437" b="1">
                <a:solidFill>
                  <a:srgbClr val="FF3131"/>
                </a:solidFill>
                <a:latin typeface="Faustina Bold"/>
                <a:ea typeface="Faustina Bold"/>
                <a:cs typeface="Faustina Bold"/>
              </a:rPr>
              <a:t>[2]</a:t>
            </a:r>
          </a:p>
        </p:txBody>
      </p:sp>
    </p:spTree>
    <p:extLst>
      <p:ext uri="{BB962C8B-B14F-4D97-AF65-F5344CB8AC3E}">
        <p14:creationId xmlns:p14="http://schemas.microsoft.com/office/powerpoint/2010/main" val="98061976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EFD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7CE3A326-4719-4167-90BA-0A685FE44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6056213"/>
            <a:ext cx="4114800" cy="4114800"/>
          </a:xfrm>
          <a:custGeom xmlns:a="http://schemas.openxmlformats.org/drawingml/2006/main"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b2388520bcc474e">
              <a:extLst>
                <a:ext uri="{96DAC541-7B7A-43D3-8B79-37D633B846F1}">
                  <asvg:svgBlip xmlns:asvg="http://schemas.microsoft.com/office/drawing/2016/SVG/main" r:embed="Rfe786f6b3ca846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09CE229D-5E25-493A-BC14-3DE636342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1">
            <a:off x="14425139" y="0"/>
            <a:ext cx="4114800" cy="4114800"/>
          </a:xfrm>
          <a:custGeom xmlns:a="http://schemas.openxmlformats.org/drawingml/2006/main"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b2388520bcc474e">
              <a:extLst>
                <a:ext uri="{96DAC541-7B7A-43D3-8B79-37D633B846F1}">
                  <asvg:svgBlip xmlns:asvg="http://schemas.microsoft.com/office/drawing/2016/SVG/main" r:embed="Rfe786f6b3ca846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15022846-D775-4F77-B9BC-B8CBCF0D9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0515" y="3512668"/>
            <a:ext cx="6128570" cy="26603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515"/>
              </a:lnSpc>
              <a:buNone/>
            </a:pPr>
            <a:r>
              <a:rPr sz="3447" b="1">
                <a:solidFill>
                  <a:srgbClr val="754820"/>
                </a:solidFill>
                <a:latin typeface="Faustina Bold"/>
                <a:ea typeface="Faustina Bold"/>
                <a:cs typeface="Faustina Bold"/>
              </a:rPr>
              <a:t>Pros:</a:t>
            </a:r>
          </a:p>
          <a:p xmlns:a="http://schemas.openxmlformats.org/drawingml/2006/main">
            <a:pPr marL="526342" lvl="1" indent="-263171" algn="l">
              <a:lnSpc>
                <a:spcPts val="3900"/>
              </a:lnSpc>
              <a:buFont typeface="Arial"/>
              <a:buChar char="•"/>
            </a:pPr>
            <a:r>
              <a:rPr sz="2437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Simp</a:t>
            </a:r>
            <a:r>
              <a:rPr sz="2437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le and easy for beginners to follow</a:t>
            </a:r>
          </a:p>
          <a:p xmlns:a="http://schemas.openxmlformats.org/drawingml/2006/main">
            <a:pPr marL="526342" lvl="1" indent="-263171" algn="l">
              <a:lnSpc>
                <a:spcPts val="3900"/>
              </a:lnSpc>
              <a:buFont typeface="Arial"/>
              <a:buChar char="•"/>
            </a:pPr>
            <a:r>
              <a:rPr sz="2437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Explains mistakes in plain language</a:t>
            </a:r>
          </a:p>
          <a:p xmlns:a="http://schemas.openxmlformats.org/drawingml/2006/main">
            <a:pPr marL="526342" lvl="1" indent="-263171" algn="l">
              <a:lnSpc>
                <a:spcPts val="3900"/>
              </a:lnSpc>
              <a:buFont typeface="Arial"/>
              <a:buChar char="•"/>
            </a:pPr>
            <a:r>
              <a:rPr sz="2437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Clear guidance on what to do next</a:t>
            </a:r>
          </a:p>
          <a:p xmlns:a="http://schemas.openxmlformats.org/drawingml/2006/main">
            <a:pPr marL="526342" lvl="1" indent="-263171" algn="l">
              <a:lnSpc>
                <a:spcPts val="3900"/>
              </a:lnSpc>
              <a:buFont typeface="Arial"/>
              <a:buChar char="•"/>
            </a:pPr>
            <a:r>
              <a:rPr sz="2437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Connects review directly to practice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CBCF3ABD-6540-48F2-AFE4-DCDEE51DF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0515" y="6196166"/>
            <a:ext cx="6508745" cy="21650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515"/>
              </a:lnSpc>
              <a:buNone/>
            </a:pPr>
            <a:r>
              <a:rPr sz="3447" b="1">
                <a:solidFill>
                  <a:srgbClr val="754820"/>
                </a:solidFill>
                <a:latin typeface="Faustina Bold"/>
                <a:ea typeface="Faustina Bold"/>
                <a:cs typeface="Faustina Bold"/>
              </a:rPr>
              <a:t>Cons:</a:t>
            </a:r>
          </a:p>
          <a:p xmlns:a="http://schemas.openxmlformats.org/drawingml/2006/main">
            <a:pPr marL="526342" lvl="1" indent="-263171" algn="l">
              <a:lnSpc>
                <a:spcPts val="3900"/>
              </a:lnSpc>
              <a:buFont typeface="Arial"/>
              <a:buChar char="•"/>
            </a:pPr>
            <a:r>
              <a:rPr sz="2437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Fixed</a:t>
            </a:r>
            <a:r>
              <a:rPr sz="2437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 sequence gives users less control</a:t>
            </a:r>
          </a:p>
          <a:p xmlns:a="http://schemas.openxmlformats.org/drawingml/2006/main">
            <a:pPr marL="526342" lvl="1" indent="-263171" algn="l">
              <a:lnSpc>
                <a:spcPts val="3900"/>
              </a:lnSpc>
              <a:buFont typeface="Arial"/>
              <a:buChar char="•"/>
            </a:pPr>
            <a:r>
              <a:rPr sz="2437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Users may need to go through steps they already understand</a:t>
            </a: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13C9E100-1839-4575-8B3F-39318D9D6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5747" y="289936"/>
            <a:ext cx="3331694" cy="1150635"/>
          </a:xfrm>
          <a:custGeom xmlns:a="http://schemas.openxmlformats.org/drawingml/2006/main">
            <a:rect l="l" t="t" r="r" b="b"/>
            <a:pathLst>
              <a:path w="3331694" h="1150635">
                <a:moveTo>
                  <a:pt x="0" y="0"/>
                </a:moveTo>
                <a:lnTo>
                  <a:pt x="3331694" y="0"/>
                </a:lnTo>
                <a:lnTo>
                  <a:pt x="3331694" y="1150634"/>
                </a:lnTo>
                <a:lnTo>
                  <a:pt x="0" y="115063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5b8bd24caee4a3c"/>
            <a:stretch>
              <a:fillRect l="-7270" t="-25038" r="-6058" b="-39036"/>
            </a:stretch>
          </a:blipFill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31A6D04B-00B7-4E75-8A5B-EE9D39AF4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68986" y="1304595"/>
            <a:ext cx="13302097" cy="10040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420"/>
              </a:lnSpc>
              <a:buNone/>
            </a:pPr>
            <a:r>
              <a:rPr sz="7420" b="1">
                <a:solidFill>
                  <a:srgbClr val="754820"/>
                </a:solidFill>
                <a:latin typeface="Maven Pro Bold"/>
                <a:ea typeface="Maven Pro Bold"/>
                <a:cs typeface="Maven Pro Bold"/>
              </a:rPr>
              <a:t>LOW REVIEW LEARNABILITY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E81F77DF-1145-4A54-A45F-40D61FE7E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2391153"/>
            <a:ext cx="6844311" cy="8548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959"/>
              </a:lnSpc>
              <a:spcBef>
                <a:spcPct val="0"/>
              </a:spcBef>
              <a:buNone/>
            </a:pPr>
            <a:r>
              <a:rPr sz="4970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rPr>
              <a:t>Beginner</a:t>
            </a:r>
            <a:r>
              <a:rPr sz="4970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rPr>
              <a:t> Review Flow</a:t>
            </a: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F076DEE7-E99E-409E-8755-8C52DBAD7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10633091" y="1667769"/>
            <a:ext cx="5601790" cy="8427903"/>
          </a:xfrm>
          <a:custGeom xmlns:a="http://schemas.openxmlformats.org/drawingml/2006/main">
            <a:rect l="l" t="t" r="r" b="b"/>
            <a:pathLst>
              <a:path w="5601790" h="8427903">
                <a:moveTo>
                  <a:pt x="0" y="0"/>
                </a:moveTo>
                <a:lnTo>
                  <a:pt x="5601790" y="0"/>
                </a:lnTo>
                <a:lnTo>
                  <a:pt x="5601790" y="8427903"/>
                </a:lnTo>
                <a:lnTo>
                  <a:pt x="0" y="842790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b2388520bcc474e"/>
            <a:stretch>
              <a:fillRect l="-30002" t="0" r="-25574" b="-37876"/>
            </a:stretch>
          </a:blipFill>
        </p:spPr>
      </p:sp>
    </p:spTree>
    <p:extLst>
      <p:ext uri="{BB962C8B-B14F-4D97-AF65-F5344CB8AC3E}">
        <p14:creationId xmlns:p14="http://schemas.microsoft.com/office/powerpoint/2010/main" val="38189400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EFD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CFA0B468-361F-4EA3-A9C2-A18828F51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6056213"/>
            <a:ext cx="4114800" cy="4114800"/>
          </a:xfrm>
          <a:custGeom xmlns:a="http://schemas.openxmlformats.org/drawingml/2006/main"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c4e769bc5b84b38">
              <a:extLst>
                <a:ext uri="{96DAC541-7B7A-43D3-8B79-37D633B846F1}">
                  <asvg:svgBlip xmlns:asvg="http://schemas.microsoft.com/office/drawing/2016/SVG/main" r:embed="R35df2c5913ac427f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80087300-9F87-435C-9D48-0C7C1CF78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1">
            <a:off x="14425139" y="0"/>
            <a:ext cx="4114800" cy="4114800"/>
          </a:xfrm>
          <a:custGeom xmlns:a="http://schemas.openxmlformats.org/drawingml/2006/main"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c4e769bc5b84b38">
              <a:extLst>
                <a:ext uri="{96DAC541-7B7A-43D3-8B79-37D633B846F1}">
                  <asvg:svgBlip xmlns:asvg="http://schemas.microsoft.com/office/drawing/2016/SVG/main" r:embed="R35df2c5913ac427f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46AE270A-CA88-400D-B32A-D07975D2B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5747" y="289936"/>
            <a:ext cx="3331694" cy="1150635"/>
          </a:xfrm>
          <a:custGeom xmlns:a="http://schemas.openxmlformats.org/drawingml/2006/main">
            <a:rect l="l" t="t" r="r" b="b"/>
            <a:pathLst>
              <a:path w="3331694" h="1150635">
                <a:moveTo>
                  <a:pt x="0" y="0"/>
                </a:moveTo>
                <a:lnTo>
                  <a:pt x="3331694" y="0"/>
                </a:lnTo>
                <a:lnTo>
                  <a:pt x="3331694" y="1150634"/>
                </a:lnTo>
                <a:lnTo>
                  <a:pt x="0" y="115063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009857ad59e459b"/>
            <a:stretch>
              <a:fillRect l="-7270" t="-25038" r="-6058" b="-39036"/>
            </a:stretch>
          </a:blip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8013B953-9B3A-4468-BC64-0FD726E8A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10977568" y="1625695"/>
            <a:ext cx="5238253" cy="8148513"/>
          </a:xfrm>
          <a:custGeom xmlns:a="http://schemas.openxmlformats.org/drawingml/2006/main">
            <a:rect l="l" t="t" r="r" b="b"/>
            <a:pathLst>
              <a:path w="5238253" h="8148513">
                <a:moveTo>
                  <a:pt x="0" y="0"/>
                </a:moveTo>
                <a:lnTo>
                  <a:pt x="5238253" y="0"/>
                </a:lnTo>
                <a:lnTo>
                  <a:pt x="5238253" y="8148514"/>
                </a:lnTo>
                <a:lnTo>
                  <a:pt x="0" y="814851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2075b90d04e40e3"/>
            <a:stretch>
              <a:fillRect l="-48949" t="-4425" r="-17624" b="-38350"/>
            </a:stretch>
          </a:blip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66A19140-E3C2-4E99-9A3C-11863D75E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68986" y="1304595"/>
            <a:ext cx="13302097" cy="10040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420"/>
              </a:lnSpc>
              <a:buNone/>
            </a:pPr>
            <a:r>
              <a:rPr sz="7420" b="1">
                <a:solidFill>
                  <a:srgbClr val="754820"/>
                </a:solidFill>
                <a:latin typeface="Maven Pro Bold"/>
                <a:ea typeface="Maven Pro Bold"/>
                <a:cs typeface="Maven Pro Bold"/>
              </a:rPr>
              <a:t>LOW REVIEW LEARNABILITY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1D428CFE-5ECD-42EF-A9C5-0ED096115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9100" y="3971925"/>
            <a:ext cx="7276982" cy="31768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142"/>
              </a:lnSpc>
              <a:buNone/>
            </a:pPr>
            <a:r>
              <a:rPr sz="3838" b="1">
                <a:solidFill>
                  <a:srgbClr val="754820"/>
                </a:solidFill>
                <a:latin typeface="Faustina Bold"/>
                <a:ea typeface="Faustina Bold"/>
                <a:cs typeface="Faustina Bold"/>
              </a:rPr>
              <a:t>Choose what you want to review</a:t>
            </a:r>
          </a:p>
          <a:p xmlns:a="http://schemas.openxmlformats.org/drawingml/2006/main">
            <a:pPr algn="l">
              <a:lnSpc>
                <a:spcPts val="2093"/>
              </a:lnSpc>
              <a:buNone/>
            </a:pPr>
          </a:p>
          <a:p xmlns:a="http://schemas.openxmlformats.org/drawingml/2006/main">
            <a:pPr algn="l">
              <a:lnSpc>
                <a:spcPts val="4344"/>
              </a:lnSpc>
              <a:buNone/>
            </a:pPr>
            <a:r>
              <a:rPr sz="2715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A</a:t>
            </a:r>
            <a:r>
              <a:rPr sz="2715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 visual dashboard organizes key moments into selectable cards, allowing users to focus on the mistakes, good moves, openings, or endgames that matter most to them.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A975EBC1-269A-459A-99E1-102DE8C46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9100" y="2976050"/>
            <a:ext cx="6818966" cy="8548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959"/>
              </a:lnSpc>
              <a:spcBef>
                <a:spcPct val="0"/>
              </a:spcBef>
              <a:buNone/>
            </a:pPr>
            <a:r>
              <a:rPr sz="4970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rPr>
              <a:t>Card</a:t>
            </a:r>
            <a:r>
              <a:rPr sz="4970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rPr>
              <a:t> Review Mode</a:t>
            </a:r>
          </a:p>
        </p:txBody>
      </p:sp>
    </p:spTree>
    <p:extLst>
      <p:ext uri="{BB962C8B-B14F-4D97-AF65-F5344CB8AC3E}">
        <p14:creationId xmlns:p14="http://schemas.microsoft.com/office/powerpoint/2010/main" val="12652578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EFD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E29B63FC-1878-43E2-91AF-02A9173AC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6056213"/>
            <a:ext cx="4114800" cy="4114800"/>
          </a:xfrm>
          <a:custGeom xmlns:a="http://schemas.openxmlformats.org/drawingml/2006/main"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24d6644eb6f4ccb">
              <a:extLst>
                <a:ext uri="{96DAC541-7B7A-43D3-8B79-37D633B846F1}">
                  <asvg:svgBlip xmlns:asvg="http://schemas.microsoft.com/office/drawing/2016/SVG/main" r:embed="Rfa32fe6ff33a47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8ECD8AD8-F478-4FF8-BEFC-1839A52A0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1">
            <a:off x="14425139" y="0"/>
            <a:ext cx="4114800" cy="4114800"/>
          </a:xfrm>
          <a:custGeom xmlns:a="http://schemas.openxmlformats.org/drawingml/2006/main"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24d6644eb6f4ccb">
              <a:extLst>
                <a:ext uri="{96DAC541-7B7A-43D3-8B79-37D633B846F1}">
                  <asvg:svgBlip xmlns:asvg="http://schemas.microsoft.com/office/drawing/2016/SVG/main" r:embed="Rfa32fe6ff33a47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170FA793-FA77-45C6-BB3A-768610C3C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3725182"/>
            <a:ext cx="7265843" cy="19823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612"/>
              </a:lnSpc>
              <a:buNone/>
            </a:pPr>
            <a:r>
              <a:rPr sz="4133" b="1">
                <a:solidFill>
                  <a:srgbClr val="754820"/>
                </a:solidFill>
                <a:latin typeface="Faustina Bold"/>
                <a:ea typeface="Faustina Bold"/>
                <a:cs typeface="Faustina Bold"/>
              </a:rPr>
              <a:t>Motivation:</a:t>
            </a:r>
          </a:p>
          <a:p xmlns:a="http://schemas.openxmlformats.org/drawingml/2006/main">
            <a:pPr algn="l">
              <a:lnSpc>
                <a:spcPts val="4676"/>
              </a:lnSpc>
              <a:buNone/>
            </a:pPr>
            <a:r>
              <a:rPr sz="2923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give</a:t>
            </a:r>
            <a:r>
              <a:rPr sz="2923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 users more control over what they want to review.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27D49615-4E7A-46DA-AC40-6B4BE6018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5933940"/>
            <a:ext cx="8191335" cy="19823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612"/>
              </a:lnSpc>
              <a:buNone/>
            </a:pPr>
            <a:r>
              <a:rPr sz="4133" b="1">
                <a:solidFill>
                  <a:srgbClr val="754820"/>
                </a:solidFill>
                <a:latin typeface="Faustina Bold"/>
                <a:ea typeface="Faustina Bold"/>
                <a:cs typeface="Faustina Bold"/>
              </a:rPr>
              <a:t>Why:</a:t>
            </a:r>
          </a:p>
          <a:p xmlns:a="http://schemas.openxmlformats.org/drawingml/2006/main">
            <a:pPr algn="l">
              <a:lnSpc>
                <a:spcPts val="4676"/>
              </a:lnSpc>
              <a:buNone/>
            </a:pPr>
            <a:r>
              <a:rPr sz="2923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us</a:t>
            </a:r>
            <a:r>
              <a:rPr sz="2923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ers may want to focus on specific mistakes or game phases instead of following a fixed review sequence.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E515674C-EB7A-43F1-BBDC-A5F6797F3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68986" y="1304595"/>
            <a:ext cx="13302097" cy="10040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420"/>
              </a:lnSpc>
              <a:buNone/>
            </a:pPr>
            <a:r>
              <a:rPr sz="7420" b="1">
                <a:solidFill>
                  <a:srgbClr val="754820"/>
                </a:solidFill>
                <a:latin typeface="Maven Pro Bold"/>
                <a:ea typeface="Maven Pro Bold"/>
                <a:cs typeface="Maven Pro Bold"/>
              </a:rPr>
              <a:t>LOW REVIEW LEARNABILITY</a:t>
            </a:r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068065DE-8F8E-4BFC-BC58-EE93F45B1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5747" y="289936"/>
            <a:ext cx="3331694" cy="1150635"/>
          </a:xfrm>
          <a:custGeom xmlns:a="http://schemas.openxmlformats.org/drawingml/2006/main">
            <a:rect l="l" t="t" r="r" b="b"/>
            <a:pathLst>
              <a:path w="3331694" h="1150635">
                <a:moveTo>
                  <a:pt x="0" y="0"/>
                </a:moveTo>
                <a:lnTo>
                  <a:pt x="3331694" y="0"/>
                </a:lnTo>
                <a:lnTo>
                  <a:pt x="3331694" y="1150634"/>
                </a:lnTo>
                <a:lnTo>
                  <a:pt x="0" y="115063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9f234cc719949ea"/>
            <a:stretch>
              <a:fillRect l="-7270" t="-25038" r="-6058" b="-39036"/>
            </a:stretch>
          </a:blipFill>
        </p:spPr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B612003D-E6D8-44C1-AE5B-B0D4A781C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10977568" y="1625695"/>
            <a:ext cx="5238253" cy="8148513"/>
          </a:xfrm>
          <a:custGeom xmlns:a="http://schemas.openxmlformats.org/drawingml/2006/main">
            <a:rect l="l" t="t" r="r" b="b"/>
            <a:pathLst>
              <a:path w="5238253" h="8148513">
                <a:moveTo>
                  <a:pt x="0" y="0"/>
                </a:moveTo>
                <a:lnTo>
                  <a:pt x="5238253" y="0"/>
                </a:lnTo>
                <a:lnTo>
                  <a:pt x="5238253" y="8148514"/>
                </a:lnTo>
                <a:lnTo>
                  <a:pt x="0" y="814851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9fe7988f94a4809"/>
            <a:stretch>
              <a:fillRect l="-48949" t="-4425" r="-17624" b="-38350"/>
            </a:stretch>
          </a:blipFill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37260A2C-E33E-46FD-8106-61D1257C9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2679866"/>
            <a:ext cx="6818966" cy="8548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959"/>
              </a:lnSpc>
              <a:spcBef>
                <a:spcPct val="0"/>
              </a:spcBef>
              <a:buNone/>
            </a:pPr>
            <a:r>
              <a:rPr sz="4970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rPr>
              <a:t>Card</a:t>
            </a:r>
            <a:r>
              <a:rPr sz="4970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rPr>
              <a:t> Review Mode</a:t>
            </a:r>
          </a:p>
        </p:txBody>
      </p:sp>
    </p:spTree>
    <p:extLst>
      <p:ext uri="{BB962C8B-B14F-4D97-AF65-F5344CB8AC3E}">
        <p14:creationId xmlns:p14="http://schemas.microsoft.com/office/powerpoint/2010/main" val="171980081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EFD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81A7B21E-5A2D-4F19-8B8C-AC0029350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6056213"/>
            <a:ext cx="4114800" cy="4114800"/>
          </a:xfrm>
          <a:custGeom xmlns:a="http://schemas.openxmlformats.org/drawingml/2006/main"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601a74224bf40fd">
              <a:extLst>
                <a:ext uri="{96DAC541-7B7A-43D3-8B79-37D633B846F1}">
                  <asvg:svgBlip xmlns:asvg="http://schemas.microsoft.com/office/drawing/2016/SVG/main" r:embed="R445d1c9a262045e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D3E40DC3-EBBB-4C34-BD71-37580CC64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11307053" y="1981957"/>
            <a:ext cx="5238253" cy="8148513"/>
          </a:xfrm>
          <a:custGeom xmlns:a="http://schemas.openxmlformats.org/drawingml/2006/main">
            <a:rect l="l" t="t" r="r" b="b"/>
            <a:pathLst>
              <a:path w="5238253" h="8148513">
                <a:moveTo>
                  <a:pt x="0" y="0"/>
                </a:moveTo>
                <a:lnTo>
                  <a:pt x="5238253" y="0"/>
                </a:lnTo>
                <a:lnTo>
                  <a:pt x="5238253" y="8148513"/>
                </a:lnTo>
                <a:lnTo>
                  <a:pt x="0" y="814851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5b57f38170a4bf0"/>
            <a:stretch>
              <a:fillRect l="-48949" t="-4425" r="-17624" b="-3835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395AD625-217E-479B-8316-E9F6918D5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1">
            <a:off x="14425139" y="0"/>
            <a:ext cx="4114800" cy="4114800"/>
          </a:xfrm>
          <a:custGeom xmlns:a="http://schemas.openxmlformats.org/drawingml/2006/main"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601a74224bf40fd">
              <a:extLst>
                <a:ext uri="{96DAC541-7B7A-43D3-8B79-37D633B846F1}">
                  <asvg:svgBlip xmlns:asvg="http://schemas.microsoft.com/office/drawing/2016/SVG/main" r:embed="R445d1c9a262045e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89389CFF-5769-4AFF-802E-C737FC0DA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0910" y="3720591"/>
            <a:ext cx="8674383" cy="45298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848"/>
              </a:lnSpc>
              <a:buNone/>
            </a:pPr>
            <a:r>
              <a:rPr sz="4280" b="1">
                <a:solidFill>
                  <a:srgbClr val="754820"/>
                </a:solidFill>
                <a:latin typeface="Faustina Bold"/>
                <a:ea typeface="Faustina Bold"/>
                <a:cs typeface="Faustina Bold"/>
              </a:rPr>
              <a:t>How:</a:t>
            </a:r>
          </a:p>
          <a:p xmlns:a="http://schemas.openxmlformats.org/drawingml/2006/main">
            <a:pPr marL="653574" lvl="1" indent="-326787" algn="l">
              <a:lnSpc>
                <a:spcPts val="4843"/>
              </a:lnSpc>
              <a:buFont typeface="Arial"/>
              <a:buChar char="•"/>
            </a:pPr>
            <a:r>
              <a:rPr sz="3027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Show key game</a:t>
            </a:r>
            <a:r>
              <a:rPr sz="3027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 moments in visual categories </a:t>
            </a:r>
            <a:r>
              <a:rPr sz="3027" b="1">
                <a:solidFill>
                  <a:srgbClr val="FF3131"/>
                </a:solidFill>
                <a:latin typeface="Faustina Bold"/>
                <a:ea typeface="Faustina Bold"/>
                <a:cs typeface="Faustina Bold"/>
              </a:rPr>
              <a:t>[1]</a:t>
            </a:r>
          </a:p>
          <a:p xmlns:a="http://schemas.openxmlformats.org/drawingml/2006/main">
            <a:pPr marL="653574" lvl="1" indent="-326787" algn="l">
              <a:lnSpc>
                <a:spcPts val="4843"/>
              </a:lnSpc>
              <a:buFont typeface="Arial"/>
              <a:buChar char="•"/>
            </a:pPr>
            <a:r>
              <a:rPr sz="3027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Let users select the moments they want to review </a:t>
            </a:r>
            <a:r>
              <a:rPr sz="3027" b="1">
                <a:solidFill>
                  <a:srgbClr val="FF3131"/>
                </a:solidFill>
                <a:latin typeface="Faustina Bold"/>
                <a:ea typeface="Faustina Bold"/>
                <a:cs typeface="Faustina Bold"/>
              </a:rPr>
              <a:t>[2]</a:t>
            </a:r>
          </a:p>
          <a:p xmlns:a="http://schemas.openxmlformats.org/drawingml/2006/main">
            <a:pPr marL="653574" lvl="1" indent="-326787" algn="l">
              <a:lnSpc>
                <a:spcPts val="4843"/>
              </a:lnSpc>
              <a:buFont typeface="Arial"/>
              <a:buChar char="•"/>
            </a:pPr>
            <a:r>
              <a:rPr sz="3027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Expand a selected card with a clear explanation</a:t>
            </a:r>
            <a:r>
              <a:rPr sz="3027" b="1">
                <a:solidFill>
                  <a:srgbClr val="FF3131"/>
                </a:solidFill>
                <a:latin typeface="Faustina Bold"/>
                <a:ea typeface="Faustina Bold"/>
                <a:cs typeface="Faustina Bold"/>
              </a:rPr>
              <a:t> [3]</a:t>
            </a:r>
          </a:p>
          <a:p xmlns:a="http://schemas.openxmlformats.org/drawingml/2006/main">
            <a:pPr marL="653574" lvl="1" indent="-326787" algn="l">
              <a:lnSpc>
                <a:spcPts val="4843"/>
              </a:lnSpc>
              <a:buFont typeface="Arial"/>
              <a:buChar char="•"/>
            </a:pPr>
            <a:r>
              <a:rPr sz="3027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Link each review to actions or targeted practice </a:t>
            </a:r>
            <a:r>
              <a:rPr sz="3027" b="1">
                <a:solidFill>
                  <a:srgbClr val="FF3131"/>
                </a:solidFill>
                <a:latin typeface="Faustina Bold"/>
                <a:ea typeface="Faustina Bold"/>
                <a:cs typeface="Faustina Bold"/>
              </a:rPr>
              <a:t>[4]</a:t>
            </a:r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9073B6C3-656F-4FE1-BECD-9A9771496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570990" y="4114800"/>
            <a:ext cx="3179017" cy="673118"/>
          </a:xfrm>
          <a:custGeom xmlns:a="http://schemas.openxmlformats.org/drawingml/2006/main">
            <a:rect l="l" t="t" r="r" b="b"/>
            <a:pathLst>
              <a:path w="837272" h="177282">
                <a:moveTo>
                  <a:pt x="41400" y="0"/>
                </a:moveTo>
                <a:lnTo>
                  <a:pt x="795872" y="0"/>
                </a:lnTo>
                <a:cubicBezTo>
                  <a:pt x="806852" y="0"/>
                  <a:pt x="817382" y="4362"/>
                  <a:pt x="825146" y="12126"/>
                </a:cubicBezTo>
                <a:cubicBezTo>
                  <a:pt x="832910" y="19890"/>
                  <a:pt x="837272" y="30420"/>
                  <a:pt x="837272" y="41400"/>
                </a:cubicBezTo>
                <a:lnTo>
                  <a:pt x="837272" y="135882"/>
                </a:lnTo>
                <a:cubicBezTo>
                  <a:pt x="837272" y="146862"/>
                  <a:pt x="832910" y="157392"/>
                  <a:pt x="825146" y="165156"/>
                </a:cubicBezTo>
                <a:cubicBezTo>
                  <a:pt x="817382" y="172920"/>
                  <a:pt x="806852" y="177282"/>
                  <a:pt x="795872" y="177282"/>
                </a:cubicBezTo>
                <a:lnTo>
                  <a:pt x="41400" y="177282"/>
                </a:lnTo>
                <a:cubicBezTo>
                  <a:pt x="30420" y="177282"/>
                  <a:pt x="19890" y="172920"/>
                  <a:pt x="12126" y="165156"/>
                </a:cubicBezTo>
                <a:cubicBezTo>
                  <a:pt x="4362" y="157392"/>
                  <a:pt x="0" y="146862"/>
                  <a:pt x="0" y="135882"/>
                </a:cubicBezTo>
                <a:lnTo>
                  <a:pt x="0" y="41400"/>
                </a:lnTo>
                <a:cubicBezTo>
                  <a:pt x="0" y="30420"/>
                  <a:pt x="4362" y="19890"/>
                  <a:pt x="12126" y="12126"/>
                </a:cubicBezTo>
                <a:cubicBezTo>
                  <a:pt x="19890" y="4362"/>
                  <a:pt x="30420" y="0"/>
                  <a:pt x="41400" y="0"/>
                </a:cubicBezTo>
                <a:close/>
              </a:path>
            </a:pathLst>
          </a:custGeom>
          <a:ln xmlns:a="http://schemas.openxmlformats.org/drawingml/2006/main" w="95250">
            <a:solidFill>
              <a:srgbClr val="FF3131"/>
            </a:solidFill>
            <a:prstDash val="solid"/>
          </a:ln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74FE311C-AE6B-41EB-9966-5264208AA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570990" y="3753148"/>
            <a:ext cx="3179017" cy="10347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900"/>
              </a:lnSpc>
              <a:buNone/>
            </a:pPr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CA8C42B8-BAB4-43BE-A3FD-43A318D30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381533" y="4983262"/>
            <a:ext cx="3368474" cy="1706576"/>
          </a:xfrm>
          <a:custGeom xmlns:a="http://schemas.openxmlformats.org/drawingml/2006/main">
            <a:rect l="l" t="t" r="r" b="b"/>
            <a:pathLst>
              <a:path w="887170" h="449469">
                <a:moveTo>
                  <a:pt x="39072" y="0"/>
                </a:moveTo>
                <a:lnTo>
                  <a:pt x="848098" y="0"/>
                </a:lnTo>
                <a:cubicBezTo>
                  <a:pt x="869677" y="0"/>
                  <a:pt x="887170" y="17493"/>
                  <a:pt x="887170" y="39072"/>
                </a:cubicBezTo>
                <a:lnTo>
                  <a:pt x="887170" y="410397"/>
                </a:lnTo>
                <a:cubicBezTo>
                  <a:pt x="887170" y="431976"/>
                  <a:pt x="869677" y="449469"/>
                  <a:pt x="848098" y="449469"/>
                </a:cubicBezTo>
                <a:lnTo>
                  <a:pt x="39072" y="449469"/>
                </a:lnTo>
                <a:cubicBezTo>
                  <a:pt x="28709" y="449469"/>
                  <a:pt x="18771" y="445352"/>
                  <a:pt x="11444" y="438025"/>
                </a:cubicBezTo>
                <a:cubicBezTo>
                  <a:pt x="4116" y="430697"/>
                  <a:pt x="0" y="420759"/>
                  <a:pt x="0" y="410397"/>
                </a:cubicBezTo>
                <a:lnTo>
                  <a:pt x="0" y="39072"/>
                </a:lnTo>
                <a:cubicBezTo>
                  <a:pt x="0" y="17493"/>
                  <a:pt x="17493" y="0"/>
                  <a:pt x="39072" y="0"/>
                </a:cubicBezTo>
                <a:close/>
              </a:path>
            </a:pathLst>
          </a:custGeom>
          <a:ln xmlns:a="http://schemas.openxmlformats.org/drawingml/2006/main" w="95250">
            <a:solidFill>
              <a:srgbClr val="FF3131"/>
            </a:solidFill>
            <a:prstDash val="solid"/>
          </a:ln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6C43CBC7-87DE-4997-BBAE-040F13C1D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381533" y="4621610"/>
            <a:ext cx="3368474" cy="206822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900"/>
              </a:lnSpc>
              <a:buNone/>
            </a:pPr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C8455409-46D8-4439-BF03-AB0E5FBA4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681452" y="6675385"/>
            <a:ext cx="1155696" cy="1205883"/>
          </a:xfrm>
          <a:custGeom xmlns:a="http://schemas.openxmlformats.org/drawingml/2006/main">
            <a:rect l="l" t="t" r="r" b="b"/>
            <a:pathLst>
              <a:path w="304381" h="317599">
                <a:moveTo>
                  <a:pt x="113882" y="0"/>
                </a:moveTo>
                <a:lnTo>
                  <a:pt x="190499" y="0"/>
                </a:lnTo>
                <a:cubicBezTo>
                  <a:pt x="220702" y="0"/>
                  <a:pt x="249669" y="11998"/>
                  <a:pt x="271026" y="33355"/>
                </a:cubicBezTo>
                <a:cubicBezTo>
                  <a:pt x="292383" y="54712"/>
                  <a:pt x="304381" y="83678"/>
                  <a:pt x="304381" y="113882"/>
                </a:cubicBezTo>
                <a:lnTo>
                  <a:pt x="304381" y="203717"/>
                </a:lnTo>
                <a:cubicBezTo>
                  <a:pt x="304381" y="233920"/>
                  <a:pt x="292383" y="262887"/>
                  <a:pt x="271026" y="284244"/>
                </a:cubicBezTo>
                <a:cubicBezTo>
                  <a:pt x="249669" y="305601"/>
                  <a:pt x="220702" y="317599"/>
                  <a:pt x="190499" y="317599"/>
                </a:cubicBezTo>
                <a:lnTo>
                  <a:pt x="113882" y="317599"/>
                </a:lnTo>
                <a:cubicBezTo>
                  <a:pt x="83678" y="317599"/>
                  <a:pt x="54712" y="305601"/>
                  <a:pt x="33355" y="284244"/>
                </a:cubicBezTo>
                <a:cubicBezTo>
                  <a:pt x="11998" y="262887"/>
                  <a:pt x="0" y="233920"/>
                  <a:pt x="0" y="203717"/>
                </a:cubicBezTo>
                <a:lnTo>
                  <a:pt x="0" y="113882"/>
                </a:lnTo>
                <a:cubicBezTo>
                  <a:pt x="0" y="83678"/>
                  <a:pt x="11998" y="54712"/>
                  <a:pt x="33355" y="33355"/>
                </a:cubicBezTo>
                <a:cubicBezTo>
                  <a:pt x="54712" y="11998"/>
                  <a:pt x="83678" y="0"/>
                  <a:pt x="113882" y="0"/>
                </a:cubicBezTo>
                <a:close/>
              </a:path>
            </a:pathLst>
          </a:custGeom>
          <a:ln xmlns:a="http://schemas.openxmlformats.org/drawingml/2006/main" w="95250">
            <a:solidFill>
              <a:srgbClr val="FF3131"/>
            </a:solidFill>
            <a:prstDash val="solid"/>
          </a:ln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F4B76E75-CD3D-4ED4-A69B-FB23BF488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681452" y="6313733"/>
            <a:ext cx="1155696" cy="15675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900"/>
              </a:lnSpc>
              <a:buNone/>
            </a:pPr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9D5BBB63-9AFA-457D-BBD4-0010997C4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381533" y="6689838"/>
            <a:ext cx="2288848" cy="1191429"/>
          </a:xfrm>
          <a:custGeom xmlns:a="http://schemas.openxmlformats.org/drawingml/2006/main">
            <a:rect l="l" t="t" r="r" b="b"/>
            <a:pathLst>
              <a:path w="602824" h="313792">
                <a:moveTo>
                  <a:pt x="57502" y="0"/>
                </a:moveTo>
                <a:lnTo>
                  <a:pt x="545322" y="0"/>
                </a:lnTo>
                <a:cubicBezTo>
                  <a:pt x="577080" y="0"/>
                  <a:pt x="602824" y="25744"/>
                  <a:pt x="602824" y="57502"/>
                </a:cubicBezTo>
                <a:lnTo>
                  <a:pt x="602824" y="256290"/>
                </a:lnTo>
                <a:cubicBezTo>
                  <a:pt x="602824" y="288048"/>
                  <a:pt x="577080" y="313792"/>
                  <a:pt x="545322" y="313792"/>
                </a:cubicBezTo>
                <a:lnTo>
                  <a:pt x="57502" y="313792"/>
                </a:lnTo>
                <a:cubicBezTo>
                  <a:pt x="25744" y="313792"/>
                  <a:pt x="0" y="288048"/>
                  <a:pt x="0" y="256290"/>
                </a:cubicBezTo>
                <a:lnTo>
                  <a:pt x="0" y="57502"/>
                </a:lnTo>
                <a:cubicBezTo>
                  <a:pt x="0" y="25744"/>
                  <a:pt x="25744" y="0"/>
                  <a:pt x="57502" y="0"/>
                </a:cubicBezTo>
                <a:close/>
              </a:path>
            </a:pathLst>
          </a:custGeom>
          <a:ln xmlns:a="http://schemas.openxmlformats.org/drawingml/2006/main" w="95250">
            <a:solidFill>
              <a:srgbClr val="FF3131"/>
            </a:solidFill>
            <a:prstDash val="solid"/>
          </a:ln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92D43C5A-90FB-4843-B67A-7FB7E33B2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381533" y="6328186"/>
            <a:ext cx="2288848" cy="155308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900"/>
              </a:lnSpc>
              <a:buNone/>
            </a:pP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28041125-3246-494B-8632-DCA915D1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79287" y="3787266"/>
            <a:ext cx="291703" cy="4667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900"/>
              </a:lnSpc>
              <a:spcBef>
                <a:spcPct val="0"/>
              </a:spcBef>
              <a:buNone/>
            </a:pPr>
            <a:r>
              <a:rPr sz="2437" b="1">
                <a:solidFill>
                  <a:srgbClr val="FF3131"/>
                </a:solidFill>
                <a:latin typeface="Faustina Bold"/>
                <a:ea typeface="Faustina Bold"/>
                <a:cs typeface="Faustina Bold"/>
              </a:rPr>
              <a:t>[1]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26488620-1713-47A7-82BC-97D871DF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23180" y="4516557"/>
            <a:ext cx="316706" cy="4667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900"/>
              </a:lnSpc>
              <a:spcBef>
                <a:spcPct val="0"/>
              </a:spcBef>
              <a:buNone/>
            </a:pPr>
            <a:r>
              <a:rPr sz="2437" b="1">
                <a:solidFill>
                  <a:srgbClr val="FF3131"/>
                </a:solidFill>
                <a:latin typeface="Faustina Bold"/>
                <a:ea typeface="Faustina Bold"/>
                <a:cs typeface="Faustina Bold"/>
              </a:rPr>
              <a:t>[2]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49E28A19-660A-4366-BD0C-C687D3FC1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71808" y="7190303"/>
            <a:ext cx="307479" cy="4667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900"/>
              </a:lnSpc>
              <a:spcBef>
                <a:spcPct val="0"/>
              </a:spcBef>
              <a:buNone/>
            </a:pPr>
            <a:r>
              <a:rPr sz="2437" b="1">
                <a:solidFill>
                  <a:srgbClr val="FF3131"/>
                </a:solidFill>
                <a:latin typeface="Faustina Bold"/>
                <a:ea typeface="Faustina Bold"/>
                <a:cs typeface="Faustina Bold"/>
              </a:rPr>
              <a:t>[3]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D18C36D2-54BB-4C1B-B1D7-1921B9000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430523" y="7786018"/>
            <a:ext cx="319484" cy="4667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900"/>
              </a:lnSpc>
              <a:spcBef>
                <a:spcPct val="0"/>
              </a:spcBef>
              <a:buNone/>
            </a:pPr>
            <a:r>
              <a:rPr sz="2437" b="1">
                <a:solidFill>
                  <a:srgbClr val="FF3131"/>
                </a:solidFill>
                <a:latin typeface="Faustina Bold"/>
                <a:ea typeface="Faustina Bold"/>
                <a:cs typeface="Faustina Bold"/>
              </a:rPr>
              <a:t>[4]</a:t>
            </a:r>
          </a:p>
        </p:txBody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06DFE38C-A59D-400E-B3A6-8C7533903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5747" y="289936"/>
            <a:ext cx="3331694" cy="1150635"/>
          </a:xfrm>
          <a:custGeom xmlns:a="http://schemas.openxmlformats.org/drawingml/2006/main">
            <a:rect l="l" t="t" r="r" b="b"/>
            <a:pathLst>
              <a:path w="3331694" h="1150635">
                <a:moveTo>
                  <a:pt x="0" y="0"/>
                </a:moveTo>
                <a:lnTo>
                  <a:pt x="3331694" y="0"/>
                </a:lnTo>
                <a:lnTo>
                  <a:pt x="3331694" y="1150634"/>
                </a:lnTo>
                <a:lnTo>
                  <a:pt x="0" y="115063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4ce6f6cf148452b"/>
            <a:stretch>
              <a:fillRect l="-7270" t="-25038" r="-6058" b="-39036"/>
            </a:stretch>
          </a:blipFill>
        </p:spPr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35B7B610-CEFE-42D1-9D8B-F1BC79610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68986" y="1304595"/>
            <a:ext cx="13302097" cy="10040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420"/>
              </a:lnSpc>
              <a:buNone/>
            </a:pPr>
            <a:r>
              <a:rPr sz="7420" b="1">
                <a:solidFill>
                  <a:srgbClr val="754820"/>
                </a:solidFill>
                <a:latin typeface="Maven Pro Bold"/>
                <a:ea typeface="Maven Pro Bold"/>
                <a:cs typeface="Maven Pro Bold"/>
              </a:rPr>
              <a:t>LOW REVIEW LEARNABILITY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31B065AC-7129-42EA-AAAB-0287452D3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0910" y="2831936"/>
            <a:ext cx="6818966" cy="8548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959"/>
              </a:lnSpc>
              <a:spcBef>
                <a:spcPct val="0"/>
              </a:spcBef>
              <a:buNone/>
            </a:pPr>
            <a:r>
              <a:rPr sz="4970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rPr>
              <a:t>Card</a:t>
            </a:r>
            <a:r>
              <a:rPr sz="4970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rPr>
              <a:t> Review Mode</a:t>
            </a:r>
          </a:p>
        </p:txBody>
      </p:sp>
    </p:spTree>
    <p:extLst>
      <p:ext uri="{BB962C8B-B14F-4D97-AF65-F5344CB8AC3E}">
        <p14:creationId xmlns:p14="http://schemas.microsoft.com/office/powerpoint/2010/main" val="98343877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EFD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690BA7EB-ED70-445D-B66C-A7ECC3816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6056213"/>
            <a:ext cx="4114800" cy="4114800"/>
          </a:xfrm>
          <a:custGeom xmlns:a="http://schemas.openxmlformats.org/drawingml/2006/main"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2b4d4b97a4648da">
              <a:extLst>
                <a:ext uri="{96DAC541-7B7A-43D3-8B79-37D633B846F1}">
                  <asvg:svgBlip xmlns:asvg="http://schemas.microsoft.com/office/drawing/2016/SVG/main" r:embed="R8ccc1a6b374d4f4f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5245FF04-39E2-4CCB-8FD2-E6F0039B5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1">
            <a:off x="14425139" y="0"/>
            <a:ext cx="4114800" cy="4114800"/>
          </a:xfrm>
          <a:custGeom xmlns:a="http://schemas.openxmlformats.org/drawingml/2006/main"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2b4d4b97a4648da">
              <a:extLst>
                <a:ext uri="{96DAC541-7B7A-43D3-8B79-37D633B846F1}">
                  <asvg:svgBlip xmlns:asvg="http://schemas.microsoft.com/office/drawing/2016/SVG/main" r:embed="R8ccc1a6b374d4f4f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5F265A53-2FD4-4ECC-B837-99643F7F3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0515" y="3512668"/>
            <a:ext cx="6812885" cy="26603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515"/>
              </a:lnSpc>
              <a:buNone/>
            </a:pPr>
            <a:r>
              <a:rPr sz="3447" b="1">
                <a:solidFill>
                  <a:srgbClr val="754820"/>
                </a:solidFill>
                <a:latin typeface="Faustina Bold"/>
                <a:ea typeface="Faustina Bold"/>
                <a:cs typeface="Faustina Bold"/>
              </a:rPr>
              <a:t>Pros:</a:t>
            </a:r>
          </a:p>
          <a:p xmlns:a="http://schemas.openxmlformats.org/drawingml/2006/main">
            <a:pPr marL="526342" lvl="1" indent="-263171" algn="l">
              <a:lnSpc>
                <a:spcPts val="3900"/>
              </a:lnSpc>
              <a:buFont typeface="Arial"/>
              <a:buChar char="•"/>
            </a:pPr>
            <a:r>
              <a:rPr sz="2437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Giv</a:t>
            </a:r>
            <a:r>
              <a:rPr sz="2437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es users more control over what to review</a:t>
            </a:r>
          </a:p>
          <a:p xmlns:a="http://schemas.openxmlformats.org/drawingml/2006/main">
            <a:pPr marL="526342" lvl="1" indent="-263171" algn="l">
              <a:lnSpc>
                <a:spcPts val="3900"/>
              </a:lnSpc>
              <a:buFont typeface="Arial"/>
              <a:buChar char="•"/>
            </a:pPr>
            <a:r>
              <a:rPr sz="2437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Easy to scan key moments visually</a:t>
            </a:r>
          </a:p>
          <a:p xmlns:a="http://schemas.openxmlformats.org/drawingml/2006/main">
            <a:pPr marL="526342" lvl="1" indent="-263171" algn="l">
              <a:lnSpc>
                <a:spcPts val="3900"/>
              </a:lnSpc>
              <a:buFont typeface="Arial"/>
              <a:buChar char="•"/>
            </a:pPr>
            <a:r>
              <a:rPr sz="2437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Flexible review order based on user interest</a:t>
            </a:r>
          </a:p>
          <a:p xmlns:a="http://schemas.openxmlformats.org/drawingml/2006/main">
            <a:pPr marL="526342" lvl="1" indent="-263171" algn="l">
              <a:lnSpc>
                <a:spcPts val="3900"/>
              </a:lnSpc>
              <a:buFont typeface="Arial"/>
              <a:buChar char="•"/>
            </a:pPr>
            <a:r>
              <a:rPr sz="2437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Connects selected moments directly to practice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39A0C721-E0C0-48C8-BC47-A8E544E35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0515" y="6196166"/>
            <a:ext cx="6508745" cy="21650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515"/>
              </a:lnSpc>
              <a:buNone/>
            </a:pPr>
            <a:r>
              <a:rPr sz="3447" b="1">
                <a:solidFill>
                  <a:srgbClr val="754820"/>
                </a:solidFill>
                <a:latin typeface="Faustina Bold"/>
                <a:ea typeface="Faustina Bold"/>
                <a:cs typeface="Faustina Bold"/>
              </a:rPr>
              <a:t>Cons:</a:t>
            </a:r>
          </a:p>
          <a:p xmlns:a="http://schemas.openxmlformats.org/drawingml/2006/main">
            <a:pPr marL="526342" lvl="1" indent="-263171" algn="l">
              <a:lnSpc>
                <a:spcPts val="3900"/>
              </a:lnSpc>
              <a:buFont typeface="Arial"/>
              <a:buChar char="•"/>
            </a:pPr>
            <a:r>
              <a:rPr sz="2437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Too</a:t>
            </a:r>
            <a:r>
              <a:rPr sz="2437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 many cards may increase choice overload</a:t>
            </a:r>
          </a:p>
          <a:p xmlns:a="http://schemas.openxmlformats.org/drawingml/2006/main">
            <a:pPr marL="526342" lvl="1" indent="-263171" algn="l">
              <a:lnSpc>
                <a:spcPts val="3900"/>
              </a:lnSpc>
              <a:buFont typeface="Arial"/>
              <a:buChar char="•"/>
            </a:pPr>
            <a:r>
              <a:rPr sz="2437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Users may not know which card to review first</a:t>
            </a:r>
          </a:p>
          <a:p xmlns:a="http://schemas.openxmlformats.org/drawingml/2006/main">
            <a:pPr marL="526342" lvl="1" indent="-263171" algn="l">
              <a:lnSpc>
                <a:spcPts val="3900"/>
              </a:lnSpc>
              <a:buFont typeface="Arial"/>
              <a:buChar char="•"/>
            </a:pPr>
            <a:r>
              <a:rPr sz="2437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Requires more user decision-making</a:t>
            </a: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836AEFE2-46DA-4AA2-B7C8-062E07FE9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5747" y="289936"/>
            <a:ext cx="3331694" cy="1150635"/>
          </a:xfrm>
          <a:custGeom xmlns:a="http://schemas.openxmlformats.org/drawingml/2006/main">
            <a:rect l="l" t="t" r="r" b="b"/>
            <a:pathLst>
              <a:path w="3331694" h="1150635">
                <a:moveTo>
                  <a:pt x="0" y="0"/>
                </a:moveTo>
                <a:lnTo>
                  <a:pt x="3331694" y="0"/>
                </a:lnTo>
                <a:lnTo>
                  <a:pt x="3331694" y="1150634"/>
                </a:lnTo>
                <a:lnTo>
                  <a:pt x="0" y="115063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5aeec2d59aa49b6"/>
            <a:stretch>
              <a:fillRect l="-7270" t="-25038" r="-6058" b="-39036"/>
            </a:stretch>
          </a:blipFill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4DB8B9E2-0FDE-4F50-A780-42697432C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68986" y="1304595"/>
            <a:ext cx="13302097" cy="10040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420"/>
              </a:lnSpc>
              <a:buNone/>
            </a:pPr>
            <a:r>
              <a:rPr sz="7420" b="1">
                <a:solidFill>
                  <a:srgbClr val="754820"/>
                </a:solidFill>
                <a:latin typeface="Maven Pro Bold"/>
                <a:ea typeface="Maven Pro Bold"/>
                <a:cs typeface="Maven Pro Bold"/>
              </a:rPr>
              <a:t>LOW REVIEW LEARNABILITY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D9CFB15B-ACD4-4D2E-A6FE-E1E7F33A0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2638803"/>
            <a:ext cx="6818966" cy="8548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959"/>
              </a:lnSpc>
              <a:spcBef>
                <a:spcPct val="0"/>
              </a:spcBef>
              <a:buNone/>
            </a:pPr>
            <a:r>
              <a:rPr sz="4970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rPr>
              <a:t>Card</a:t>
            </a:r>
            <a:r>
              <a:rPr sz="4970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rPr>
              <a:t> Review Mode</a:t>
            </a: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A43C2060-BE10-40E7-810B-FD2193B66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10977568" y="1625695"/>
            <a:ext cx="5238253" cy="8148513"/>
          </a:xfrm>
          <a:custGeom xmlns:a="http://schemas.openxmlformats.org/drawingml/2006/main">
            <a:rect l="l" t="t" r="r" b="b"/>
            <a:pathLst>
              <a:path w="5238253" h="8148513">
                <a:moveTo>
                  <a:pt x="0" y="0"/>
                </a:moveTo>
                <a:lnTo>
                  <a:pt x="5238253" y="0"/>
                </a:lnTo>
                <a:lnTo>
                  <a:pt x="5238253" y="8148514"/>
                </a:lnTo>
                <a:lnTo>
                  <a:pt x="0" y="814851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a15b410cb3f44da"/>
            <a:stretch>
              <a:fillRect l="-48949" t="-4425" r="-17624" b="-38350"/>
            </a:stretch>
          </a:blipFill>
        </p:spPr>
      </p:sp>
    </p:spTree>
    <p:extLst>
      <p:ext uri="{BB962C8B-B14F-4D97-AF65-F5344CB8AC3E}">
        <p14:creationId xmlns:p14="http://schemas.microsoft.com/office/powerpoint/2010/main" val="135269890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EFD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0EC39D9B-76F5-4605-8BBD-5737DFF34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6056213"/>
            <a:ext cx="4114800" cy="4114800"/>
          </a:xfrm>
          <a:custGeom xmlns:a="http://schemas.openxmlformats.org/drawingml/2006/main"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f0d293954404fd5">
              <a:extLst>
                <a:ext uri="{96DAC541-7B7A-43D3-8B79-37D633B846F1}">
                  <asvg:svgBlip xmlns:asvg="http://schemas.microsoft.com/office/drawing/2016/SVG/main" r:embed="Ra581d3f80d43488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470607D5-21B9-430D-A49E-B3DF28B4A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1">
            <a:off x="14425139" y="0"/>
            <a:ext cx="4114800" cy="4114800"/>
          </a:xfrm>
          <a:custGeom xmlns:a="http://schemas.openxmlformats.org/drawingml/2006/main"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f0d293954404fd5">
              <a:extLst>
                <a:ext uri="{96DAC541-7B7A-43D3-8B79-37D633B846F1}">
                  <asvg:svgBlip xmlns:asvg="http://schemas.microsoft.com/office/drawing/2016/SVG/main" r:embed="Ra581d3f80d43488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29032612-705B-4368-A4B7-424A7D9E3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5747" y="289936"/>
            <a:ext cx="3331694" cy="1150635"/>
          </a:xfrm>
          <a:custGeom xmlns:a="http://schemas.openxmlformats.org/drawingml/2006/main">
            <a:rect l="l" t="t" r="r" b="b"/>
            <a:pathLst>
              <a:path w="3331694" h="1150635">
                <a:moveTo>
                  <a:pt x="0" y="0"/>
                </a:moveTo>
                <a:lnTo>
                  <a:pt x="3331694" y="0"/>
                </a:lnTo>
                <a:lnTo>
                  <a:pt x="3331694" y="1150634"/>
                </a:lnTo>
                <a:lnTo>
                  <a:pt x="0" y="115063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a4798327b7545d2"/>
            <a:stretch>
              <a:fillRect l="-7270" t="-25038" r="-6058" b="-39036"/>
            </a:stretch>
          </a:blip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C52C79C7-4A0D-47C9-AAD6-B961850A4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11033931" y="1839795"/>
            <a:ext cx="5208130" cy="8440232"/>
          </a:xfrm>
          <a:custGeom xmlns:a="http://schemas.openxmlformats.org/drawingml/2006/main">
            <a:rect l="l" t="t" r="r" b="b"/>
            <a:pathLst>
              <a:path w="5208130" h="8440232">
                <a:moveTo>
                  <a:pt x="0" y="0"/>
                </a:moveTo>
                <a:lnTo>
                  <a:pt x="5208130" y="0"/>
                </a:lnTo>
                <a:lnTo>
                  <a:pt x="5208130" y="8440232"/>
                </a:lnTo>
                <a:lnTo>
                  <a:pt x="0" y="844023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9d8b24f46f24569"/>
            <a:stretch>
              <a:fillRect l="-20812" t="0" r="-25404" b="-20299"/>
            </a:stretch>
          </a:blip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8FCB66E8-810D-4199-AD81-9A747D573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68986" y="1304595"/>
            <a:ext cx="13302097" cy="10040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420"/>
              </a:lnSpc>
              <a:buNone/>
            </a:pPr>
            <a:r>
              <a:rPr sz="7420" b="1">
                <a:solidFill>
                  <a:srgbClr val="754820"/>
                </a:solidFill>
                <a:latin typeface="Maven Pro Bold"/>
                <a:ea typeface="Maven Pro Bold"/>
                <a:cs typeface="Maven Pro Bold"/>
              </a:rPr>
              <a:t>LOW REVIEW LEARNABILITY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E3CA9D56-F2C9-4B6D-BBD4-9D76F5D1A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9100" y="4243387"/>
            <a:ext cx="7684900" cy="2633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142"/>
              </a:lnSpc>
              <a:buNone/>
            </a:pPr>
            <a:r>
              <a:rPr sz="3838" b="1">
                <a:solidFill>
                  <a:srgbClr val="754820"/>
                </a:solidFill>
                <a:latin typeface="Faustina Bold"/>
                <a:ea typeface="Faustina Bold"/>
                <a:cs typeface="Faustina Bold"/>
              </a:rPr>
              <a:t>Ask questions and understand why</a:t>
            </a:r>
          </a:p>
          <a:p xmlns:a="http://schemas.openxmlformats.org/drawingml/2006/main">
            <a:pPr algn="l">
              <a:lnSpc>
                <a:spcPts val="2093"/>
              </a:lnSpc>
              <a:buNone/>
            </a:pPr>
          </a:p>
          <a:p xmlns:a="http://schemas.openxmlformats.org/drawingml/2006/main">
            <a:pPr algn="l">
              <a:lnSpc>
                <a:spcPts val="4344"/>
              </a:lnSpc>
              <a:buNone/>
            </a:pPr>
            <a:r>
              <a:rPr sz="2715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An</a:t>
            </a:r>
            <a:r>
              <a:rPr sz="2715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 AI assistant lets users ask questions about their game, explains mistakes in simple language, and highlights relevant positions directly on the board.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906F24D2-2878-4727-B6CD-81473FA4F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9100" y="2976050"/>
            <a:ext cx="6818966" cy="8548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959"/>
              </a:lnSpc>
              <a:spcBef>
                <a:spcPct val="0"/>
              </a:spcBef>
              <a:buNone/>
            </a:pPr>
            <a:r>
              <a:rPr sz="4970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rPr>
              <a:t>AI</a:t>
            </a:r>
            <a:r>
              <a:rPr sz="4970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rPr>
              <a:t> Review Assistant</a:t>
            </a:r>
          </a:p>
        </p:txBody>
      </p:sp>
    </p:spTree>
    <p:extLst>
      <p:ext uri="{BB962C8B-B14F-4D97-AF65-F5344CB8AC3E}">
        <p14:creationId xmlns:p14="http://schemas.microsoft.com/office/powerpoint/2010/main" val="89455199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EFD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01E1CBE5-8BB4-476F-BD67-A7E45E46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6056213"/>
            <a:ext cx="4114800" cy="4114800"/>
          </a:xfrm>
          <a:custGeom xmlns:a="http://schemas.openxmlformats.org/drawingml/2006/main"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3dab869f80e44dd">
              <a:extLst>
                <a:ext uri="{96DAC541-7B7A-43D3-8B79-37D633B846F1}">
                  <asvg:svgBlip xmlns:asvg="http://schemas.microsoft.com/office/drawing/2016/SVG/main" r:embed="R307d0d13588b485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237089E4-8F48-4311-BE0A-40E49F3D5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1">
            <a:off x="14425139" y="0"/>
            <a:ext cx="4114800" cy="4114800"/>
          </a:xfrm>
          <a:custGeom xmlns:a="http://schemas.openxmlformats.org/drawingml/2006/main"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3dab869f80e44dd">
              <a:extLst>
                <a:ext uri="{96DAC541-7B7A-43D3-8B79-37D633B846F1}">
                  <asvg:svgBlip xmlns:asvg="http://schemas.microsoft.com/office/drawing/2016/SVG/main" r:embed="R307d0d13588b485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21A832B4-7FE4-4192-8019-E84221E97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3725182"/>
            <a:ext cx="7265843" cy="19823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612"/>
              </a:lnSpc>
              <a:buNone/>
            </a:pPr>
            <a:r>
              <a:rPr sz="4133" b="1">
                <a:solidFill>
                  <a:srgbClr val="754820"/>
                </a:solidFill>
                <a:latin typeface="Faustina Bold"/>
                <a:ea typeface="Faustina Bold"/>
                <a:cs typeface="Faustina Bold"/>
              </a:rPr>
              <a:t>Motivation:</a:t>
            </a:r>
          </a:p>
          <a:p xmlns:a="http://schemas.openxmlformats.org/drawingml/2006/main">
            <a:pPr algn="l">
              <a:lnSpc>
                <a:spcPts val="4676"/>
              </a:lnSpc>
              <a:buNone/>
            </a:pPr>
            <a:r>
              <a:rPr sz="2923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provide</a:t>
            </a:r>
            <a:r>
              <a:rPr sz="2923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 interactive, context-aware help during game review.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C58950AB-7770-4EC3-BD94-2477F73AA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5641679"/>
            <a:ext cx="8191335" cy="25669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612"/>
              </a:lnSpc>
              <a:buNone/>
            </a:pPr>
            <a:r>
              <a:rPr sz="4133" b="1">
                <a:solidFill>
                  <a:srgbClr val="754820"/>
                </a:solidFill>
                <a:latin typeface="Faustina Bold"/>
                <a:ea typeface="Faustina Bold"/>
                <a:cs typeface="Faustina Bold"/>
              </a:rPr>
              <a:t>Why:</a:t>
            </a:r>
          </a:p>
          <a:p xmlns:a="http://schemas.openxmlformats.org/drawingml/2006/main">
            <a:pPr algn="l">
              <a:lnSpc>
                <a:spcPts val="4676"/>
              </a:lnSpc>
              <a:buNone/>
            </a:pPr>
            <a:r>
              <a:rPr sz="2923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us</a:t>
            </a:r>
            <a:r>
              <a:rPr sz="2923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ers may understand the move but still struggle to understand why it is a mistake or what they should do instead.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FB3B29FD-4959-4528-A841-C49BBBBE8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68986" y="1304595"/>
            <a:ext cx="13302097" cy="10040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420"/>
              </a:lnSpc>
              <a:buNone/>
            </a:pPr>
            <a:r>
              <a:rPr sz="7420" b="1">
                <a:solidFill>
                  <a:srgbClr val="754820"/>
                </a:solidFill>
                <a:latin typeface="Maven Pro Bold"/>
                <a:ea typeface="Maven Pro Bold"/>
                <a:cs typeface="Maven Pro Bold"/>
              </a:rPr>
              <a:t>LOW REVIEW LEARNABILITY</a:t>
            </a:r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7C5DAA2A-CA14-464C-B96D-F26068888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5747" y="289936"/>
            <a:ext cx="3331694" cy="1150635"/>
          </a:xfrm>
          <a:custGeom xmlns:a="http://schemas.openxmlformats.org/drawingml/2006/main">
            <a:rect l="l" t="t" r="r" b="b"/>
            <a:pathLst>
              <a:path w="3331694" h="1150635">
                <a:moveTo>
                  <a:pt x="0" y="0"/>
                </a:moveTo>
                <a:lnTo>
                  <a:pt x="3331694" y="0"/>
                </a:lnTo>
                <a:lnTo>
                  <a:pt x="3331694" y="1150634"/>
                </a:lnTo>
                <a:lnTo>
                  <a:pt x="0" y="115063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3cd71829f1e406b"/>
            <a:stretch>
              <a:fillRect l="-7270" t="-25038" r="-6058" b="-39036"/>
            </a:stretch>
          </a:blipFill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08784616-FF17-4C45-B85A-4E99C2926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2679866"/>
            <a:ext cx="6818966" cy="8548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959"/>
              </a:lnSpc>
              <a:spcBef>
                <a:spcPct val="0"/>
              </a:spcBef>
              <a:buNone/>
            </a:pPr>
            <a:r>
              <a:rPr sz="4970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rPr>
              <a:t>AI</a:t>
            </a:r>
            <a:r>
              <a:rPr sz="4970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rPr>
              <a:t> Review Assistant</a:t>
            </a: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C0171197-7EBA-4DE9-9671-746DFDC4B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11033931" y="1839795"/>
            <a:ext cx="5208130" cy="8440232"/>
          </a:xfrm>
          <a:custGeom xmlns:a="http://schemas.openxmlformats.org/drawingml/2006/main">
            <a:rect l="l" t="t" r="r" b="b"/>
            <a:pathLst>
              <a:path w="5208130" h="8440232">
                <a:moveTo>
                  <a:pt x="0" y="0"/>
                </a:moveTo>
                <a:lnTo>
                  <a:pt x="5208130" y="0"/>
                </a:lnTo>
                <a:lnTo>
                  <a:pt x="5208130" y="8440232"/>
                </a:lnTo>
                <a:lnTo>
                  <a:pt x="0" y="844023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a4f78bc28a54187"/>
            <a:stretch>
              <a:fillRect l="-20812" t="0" r="-25404" b="-20299"/>
            </a:stretch>
          </a:blipFill>
        </p:spPr>
      </p:sp>
    </p:spTree>
    <p:extLst>
      <p:ext uri="{BB962C8B-B14F-4D97-AF65-F5344CB8AC3E}">
        <p14:creationId xmlns:p14="http://schemas.microsoft.com/office/powerpoint/2010/main" val="140207575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EFD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FFE9EC43-E4D4-4EFE-9192-CBCD32A3E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6056213"/>
            <a:ext cx="4114800" cy="4114800"/>
          </a:xfrm>
          <a:custGeom xmlns:a="http://schemas.openxmlformats.org/drawingml/2006/main"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5f3b19b5d79406d">
              <a:extLst>
                <a:ext uri="{96DAC541-7B7A-43D3-8B79-37D633B846F1}">
                  <asvg:svgBlip xmlns:asvg="http://schemas.microsoft.com/office/drawing/2016/SVG/main" r:embed="R7deac50d5da049b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070F0FBD-8F2B-4800-9AF5-AD4AB0D0B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11033931" y="1839795"/>
            <a:ext cx="5208130" cy="8440232"/>
          </a:xfrm>
          <a:custGeom xmlns:a="http://schemas.openxmlformats.org/drawingml/2006/main">
            <a:rect l="l" t="t" r="r" b="b"/>
            <a:pathLst>
              <a:path w="5208130" h="8440232">
                <a:moveTo>
                  <a:pt x="0" y="0"/>
                </a:moveTo>
                <a:lnTo>
                  <a:pt x="5208130" y="0"/>
                </a:lnTo>
                <a:lnTo>
                  <a:pt x="5208130" y="8440232"/>
                </a:lnTo>
                <a:lnTo>
                  <a:pt x="0" y="844023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2e9332f77f347b5"/>
            <a:stretch>
              <a:fillRect l="-20812" t="0" r="-25404" b="-20299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B9E187D9-E119-47D3-852C-BC032CF9F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1">
            <a:off x="14425139" y="0"/>
            <a:ext cx="4114800" cy="4114800"/>
          </a:xfrm>
          <a:custGeom xmlns:a="http://schemas.openxmlformats.org/drawingml/2006/main"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5f3b19b5d79406d">
              <a:extLst>
                <a:ext uri="{96DAC541-7B7A-43D3-8B79-37D633B846F1}">
                  <asvg:svgBlip xmlns:asvg="http://schemas.microsoft.com/office/drawing/2016/SVG/main" r:embed="R7deac50d5da049b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06EC3099-F8D1-4AF9-BB3B-4295FBB56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0910" y="3720591"/>
            <a:ext cx="8332195" cy="45298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848"/>
              </a:lnSpc>
              <a:buNone/>
            </a:pPr>
            <a:r>
              <a:rPr sz="4280" b="1">
                <a:solidFill>
                  <a:srgbClr val="754820"/>
                </a:solidFill>
                <a:latin typeface="Faustina Bold"/>
                <a:ea typeface="Faustina Bold"/>
                <a:cs typeface="Faustina Bold"/>
              </a:rPr>
              <a:t>How:</a:t>
            </a:r>
          </a:p>
          <a:p xmlns:a="http://schemas.openxmlformats.org/drawingml/2006/main">
            <a:pPr marL="653574" lvl="1" indent="-326787" algn="l">
              <a:lnSpc>
                <a:spcPts val="4843"/>
              </a:lnSpc>
              <a:buFont typeface="Arial"/>
              <a:buChar char="•"/>
            </a:pPr>
            <a:r>
              <a:rPr sz="3027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Place</a:t>
            </a:r>
            <a:r>
              <a:rPr sz="3027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 an AI assistant beside the game board </a:t>
            </a:r>
            <a:r>
              <a:rPr sz="3027" b="1">
                <a:solidFill>
                  <a:srgbClr val="FF3131"/>
                </a:solidFill>
                <a:latin typeface="Faustina Bold"/>
                <a:ea typeface="Faustina Bold"/>
                <a:cs typeface="Faustina Bold"/>
              </a:rPr>
              <a:t>[1]</a:t>
            </a:r>
          </a:p>
          <a:p xmlns:a="http://schemas.openxmlformats.org/drawingml/2006/main">
            <a:pPr marL="653574" lvl="1" indent="-326787" algn="l">
              <a:lnSpc>
                <a:spcPts val="4843"/>
              </a:lnSpc>
              <a:buFont typeface="Arial"/>
              <a:buChar char="•"/>
            </a:pPr>
            <a:r>
              <a:rPr sz="3027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Let users ask questions in natural language </a:t>
            </a:r>
            <a:r>
              <a:rPr sz="3027" b="1">
                <a:solidFill>
                  <a:srgbClr val="FF3131"/>
                </a:solidFill>
                <a:latin typeface="Faustina Bold"/>
                <a:ea typeface="Faustina Bold"/>
                <a:cs typeface="Faustina Bold"/>
              </a:rPr>
              <a:t>[2]</a:t>
            </a:r>
          </a:p>
          <a:p xmlns:a="http://schemas.openxmlformats.org/drawingml/2006/main">
            <a:pPr marL="653574" lvl="1" indent="-326787" algn="l">
              <a:lnSpc>
                <a:spcPts val="4843"/>
              </a:lnSpc>
              <a:buFont typeface="Arial"/>
              <a:buChar char="•"/>
            </a:pPr>
            <a:r>
              <a:rPr sz="3027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Use the current position to explain and highlight key squares</a:t>
            </a:r>
            <a:r>
              <a:rPr sz="3027" b="1">
                <a:solidFill>
                  <a:srgbClr val="FF3131"/>
                </a:solidFill>
                <a:latin typeface="Faustina Bold"/>
                <a:ea typeface="Faustina Bold"/>
                <a:cs typeface="Faustina Bold"/>
              </a:rPr>
              <a:t> [3]</a:t>
            </a:r>
          </a:p>
          <a:p xmlns:a="http://schemas.openxmlformats.org/drawingml/2006/main">
            <a:pPr marL="653574" lvl="1" indent="-326787" algn="l">
              <a:lnSpc>
                <a:spcPts val="4843"/>
              </a:lnSpc>
              <a:buFont typeface="Arial"/>
              <a:buChar char="•"/>
            </a:pPr>
            <a:r>
              <a:rPr sz="3027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Suggest follow-up questions for deeper exploration </a:t>
            </a:r>
            <a:r>
              <a:rPr sz="3027" b="1">
                <a:solidFill>
                  <a:srgbClr val="FF3131"/>
                </a:solidFill>
                <a:latin typeface="Faustina Bold"/>
                <a:ea typeface="Faustina Bold"/>
                <a:cs typeface="Faustina Bold"/>
              </a:rPr>
              <a:t>[4]</a:t>
            </a:r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3489B22B-BE07-472C-8ABB-CF91A36D7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110183" y="3882516"/>
            <a:ext cx="2651370" cy="4475617"/>
          </a:xfrm>
          <a:custGeom xmlns:a="http://schemas.openxmlformats.org/drawingml/2006/main">
            <a:rect l="l" t="t" r="r" b="b"/>
            <a:pathLst>
              <a:path w="698303" h="1178763">
                <a:moveTo>
                  <a:pt x="49639" y="0"/>
                </a:moveTo>
                <a:lnTo>
                  <a:pt x="648664" y="0"/>
                </a:lnTo>
                <a:cubicBezTo>
                  <a:pt x="661829" y="0"/>
                  <a:pt x="674455" y="5230"/>
                  <a:pt x="683764" y="14539"/>
                </a:cubicBezTo>
                <a:cubicBezTo>
                  <a:pt x="693073" y="23848"/>
                  <a:pt x="698303" y="36474"/>
                  <a:pt x="698303" y="49639"/>
                </a:cubicBezTo>
                <a:lnTo>
                  <a:pt x="698303" y="1129124"/>
                </a:lnTo>
                <a:cubicBezTo>
                  <a:pt x="698303" y="1142289"/>
                  <a:pt x="693073" y="1154915"/>
                  <a:pt x="683764" y="1164224"/>
                </a:cubicBezTo>
                <a:cubicBezTo>
                  <a:pt x="674455" y="1173533"/>
                  <a:pt x="661829" y="1178763"/>
                  <a:pt x="648664" y="1178763"/>
                </a:cubicBezTo>
                <a:lnTo>
                  <a:pt x="49639" y="1178763"/>
                </a:lnTo>
                <a:cubicBezTo>
                  <a:pt x="36474" y="1178763"/>
                  <a:pt x="23848" y="1173533"/>
                  <a:pt x="14539" y="1164224"/>
                </a:cubicBezTo>
                <a:cubicBezTo>
                  <a:pt x="5230" y="1154915"/>
                  <a:pt x="0" y="1142289"/>
                  <a:pt x="0" y="1129124"/>
                </a:cubicBezTo>
                <a:lnTo>
                  <a:pt x="0" y="49639"/>
                </a:lnTo>
                <a:cubicBezTo>
                  <a:pt x="0" y="36474"/>
                  <a:pt x="5230" y="23848"/>
                  <a:pt x="14539" y="14539"/>
                </a:cubicBezTo>
                <a:cubicBezTo>
                  <a:pt x="23848" y="5230"/>
                  <a:pt x="36474" y="0"/>
                  <a:pt x="49639" y="0"/>
                </a:cubicBezTo>
                <a:close/>
              </a:path>
            </a:pathLst>
          </a:custGeom>
          <a:ln xmlns:a="http://schemas.openxmlformats.org/drawingml/2006/main" w="95250">
            <a:solidFill>
              <a:srgbClr val="FF3131"/>
            </a:solidFill>
            <a:prstDash val="solid"/>
          </a:ln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CA9ABD53-3A44-4D15-8ED0-86BBAC9AB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110183" y="3520864"/>
            <a:ext cx="2651370" cy="48372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900"/>
              </a:lnSpc>
              <a:buNone/>
            </a:pPr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D7C8F3CB-C4FD-4D06-9B32-24520BA4B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435867" y="6487293"/>
            <a:ext cx="875542" cy="679410"/>
          </a:xfrm>
          <a:custGeom xmlns:a="http://schemas.openxmlformats.org/drawingml/2006/main">
            <a:rect l="l" t="t" r="r" b="b"/>
            <a:pathLst>
              <a:path w="230595" h="178939">
                <a:moveTo>
                  <a:pt x="89470" y="0"/>
                </a:moveTo>
                <a:lnTo>
                  <a:pt x="141126" y="0"/>
                </a:lnTo>
                <a:cubicBezTo>
                  <a:pt x="190538" y="0"/>
                  <a:pt x="230595" y="40057"/>
                  <a:pt x="230595" y="89470"/>
                </a:cubicBezTo>
                <a:lnTo>
                  <a:pt x="230595" y="89470"/>
                </a:lnTo>
                <a:cubicBezTo>
                  <a:pt x="230595" y="138882"/>
                  <a:pt x="190538" y="178939"/>
                  <a:pt x="141126" y="178939"/>
                </a:cubicBezTo>
                <a:lnTo>
                  <a:pt x="89470" y="178939"/>
                </a:lnTo>
                <a:cubicBezTo>
                  <a:pt x="40057" y="178939"/>
                  <a:pt x="0" y="138882"/>
                  <a:pt x="0" y="89470"/>
                </a:cubicBezTo>
                <a:lnTo>
                  <a:pt x="0" y="89470"/>
                </a:lnTo>
                <a:cubicBezTo>
                  <a:pt x="0" y="40057"/>
                  <a:pt x="40057" y="0"/>
                  <a:pt x="89470" y="0"/>
                </a:cubicBezTo>
                <a:close/>
              </a:path>
            </a:pathLst>
          </a:custGeom>
          <a:ln xmlns:a="http://schemas.openxmlformats.org/drawingml/2006/main" w="95250">
            <a:solidFill>
              <a:srgbClr val="FF3131"/>
            </a:solidFill>
            <a:prstDash val="solid"/>
          </a:ln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A59546A9-1FE3-4907-A602-9E131D5AA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435867" y="6125641"/>
            <a:ext cx="875542" cy="10410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900"/>
              </a:lnSpc>
              <a:buNone/>
            </a:pPr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72F91183-F3A7-4916-9641-E752EE743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110183" y="7728910"/>
            <a:ext cx="2651370" cy="521568"/>
          </a:xfrm>
          <a:custGeom xmlns:a="http://schemas.openxmlformats.org/drawingml/2006/main">
            <a:rect l="l" t="t" r="r" b="b"/>
            <a:pathLst>
              <a:path w="698303" h="137368">
                <a:moveTo>
                  <a:pt x="49639" y="0"/>
                </a:moveTo>
                <a:lnTo>
                  <a:pt x="648664" y="0"/>
                </a:lnTo>
                <a:cubicBezTo>
                  <a:pt x="661829" y="0"/>
                  <a:pt x="674455" y="5230"/>
                  <a:pt x="683764" y="14539"/>
                </a:cubicBezTo>
                <a:cubicBezTo>
                  <a:pt x="693073" y="23848"/>
                  <a:pt x="698303" y="36474"/>
                  <a:pt x="698303" y="49639"/>
                </a:cubicBezTo>
                <a:lnTo>
                  <a:pt x="698303" y="87728"/>
                </a:lnTo>
                <a:cubicBezTo>
                  <a:pt x="698303" y="100893"/>
                  <a:pt x="693073" y="113519"/>
                  <a:pt x="683764" y="122829"/>
                </a:cubicBezTo>
                <a:cubicBezTo>
                  <a:pt x="674455" y="132138"/>
                  <a:pt x="661829" y="137368"/>
                  <a:pt x="648664" y="137368"/>
                </a:cubicBezTo>
                <a:lnTo>
                  <a:pt x="49639" y="137368"/>
                </a:lnTo>
                <a:cubicBezTo>
                  <a:pt x="22224" y="137368"/>
                  <a:pt x="0" y="115143"/>
                  <a:pt x="0" y="87728"/>
                </a:cubicBezTo>
                <a:lnTo>
                  <a:pt x="0" y="49639"/>
                </a:lnTo>
                <a:cubicBezTo>
                  <a:pt x="0" y="36474"/>
                  <a:pt x="5230" y="23848"/>
                  <a:pt x="14539" y="14539"/>
                </a:cubicBezTo>
                <a:cubicBezTo>
                  <a:pt x="23848" y="5230"/>
                  <a:pt x="36474" y="0"/>
                  <a:pt x="49639" y="0"/>
                </a:cubicBezTo>
                <a:close/>
              </a:path>
            </a:pathLst>
          </a:custGeom>
          <a:ln xmlns:a="http://schemas.openxmlformats.org/drawingml/2006/main" w="95250">
            <a:solidFill>
              <a:srgbClr val="FF3131"/>
            </a:solidFill>
            <a:prstDash val="solid"/>
          </a:ln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A16A1E77-CF60-4131-8860-9118ABBCE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110183" y="7367259"/>
            <a:ext cx="2651370" cy="88321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900"/>
              </a:lnSpc>
              <a:buNone/>
            </a:pPr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2E993201-FAEF-4AE2-8505-4C0FB4FE2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110183" y="5447933"/>
            <a:ext cx="2201226" cy="1039360"/>
          </a:xfrm>
          <a:custGeom xmlns:a="http://schemas.openxmlformats.org/drawingml/2006/main">
            <a:rect l="l" t="t" r="r" b="b"/>
            <a:pathLst>
              <a:path w="579747" h="273741">
                <a:moveTo>
                  <a:pt x="59791" y="0"/>
                </a:moveTo>
                <a:lnTo>
                  <a:pt x="519956" y="0"/>
                </a:lnTo>
                <a:cubicBezTo>
                  <a:pt x="535814" y="0"/>
                  <a:pt x="551022" y="6299"/>
                  <a:pt x="562235" y="17512"/>
                </a:cubicBezTo>
                <a:cubicBezTo>
                  <a:pt x="573448" y="28725"/>
                  <a:pt x="579747" y="43933"/>
                  <a:pt x="579747" y="59791"/>
                </a:cubicBezTo>
                <a:lnTo>
                  <a:pt x="579747" y="213950"/>
                </a:lnTo>
                <a:cubicBezTo>
                  <a:pt x="579747" y="229808"/>
                  <a:pt x="573448" y="245016"/>
                  <a:pt x="562235" y="256229"/>
                </a:cubicBezTo>
                <a:cubicBezTo>
                  <a:pt x="551022" y="267441"/>
                  <a:pt x="535814" y="273741"/>
                  <a:pt x="519956" y="273741"/>
                </a:cubicBezTo>
                <a:lnTo>
                  <a:pt x="59791" y="273741"/>
                </a:lnTo>
                <a:cubicBezTo>
                  <a:pt x="43933" y="273741"/>
                  <a:pt x="28725" y="267441"/>
                  <a:pt x="17512" y="256229"/>
                </a:cubicBezTo>
                <a:cubicBezTo>
                  <a:pt x="6299" y="245016"/>
                  <a:pt x="0" y="229808"/>
                  <a:pt x="0" y="213950"/>
                </a:cubicBezTo>
                <a:lnTo>
                  <a:pt x="0" y="59791"/>
                </a:lnTo>
                <a:cubicBezTo>
                  <a:pt x="0" y="43933"/>
                  <a:pt x="6299" y="28725"/>
                  <a:pt x="17512" y="17512"/>
                </a:cubicBezTo>
                <a:cubicBezTo>
                  <a:pt x="28725" y="6299"/>
                  <a:pt x="43933" y="0"/>
                  <a:pt x="59791" y="0"/>
                </a:cubicBezTo>
                <a:close/>
              </a:path>
            </a:pathLst>
          </a:custGeom>
          <a:ln xmlns:a="http://schemas.openxmlformats.org/drawingml/2006/main" w="95250">
            <a:solidFill>
              <a:srgbClr val="FF3131"/>
            </a:solidFill>
            <a:prstDash val="solid"/>
          </a:ln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224961B6-9D07-4B83-B7AA-95D2D6AFC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110183" y="5086281"/>
            <a:ext cx="2201226" cy="14010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900"/>
              </a:lnSpc>
              <a:buNone/>
            </a:pP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BAB936B4-0918-447B-B673-60FDFA0FF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37996" y="3601539"/>
            <a:ext cx="291703" cy="4667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900"/>
              </a:lnSpc>
              <a:spcBef>
                <a:spcPct val="0"/>
              </a:spcBef>
              <a:buNone/>
            </a:pPr>
            <a:r>
              <a:rPr sz="2437" b="1">
                <a:solidFill>
                  <a:srgbClr val="FF3131"/>
                </a:solidFill>
                <a:latin typeface="Faustina Bold"/>
                <a:ea typeface="Faustina Bold"/>
                <a:cs typeface="Faustina Bold"/>
              </a:rPr>
              <a:t>[1]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032CDB4F-B4BD-4BE6-BF2E-2947AA0D7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19161" y="6360293"/>
            <a:ext cx="316706" cy="4667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900"/>
              </a:lnSpc>
              <a:spcBef>
                <a:spcPct val="0"/>
              </a:spcBef>
              <a:buNone/>
            </a:pPr>
            <a:r>
              <a:rPr sz="2437" b="1">
                <a:solidFill>
                  <a:srgbClr val="FF3131"/>
                </a:solidFill>
                <a:latin typeface="Faustina Bold"/>
                <a:ea typeface="Faustina Bold"/>
                <a:cs typeface="Faustina Bold"/>
              </a:rPr>
              <a:t>[2]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9B9467E0-7A9B-44BC-A15B-36D91CACF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25139" y="4981228"/>
            <a:ext cx="307479" cy="4667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900"/>
              </a:lnSpc>
              <a:spcBef>
                <a:spcPct val="0"/>
              </a:spcBef>
              <a:buNone/>
            </a:pPr>
            <a:r>
              <a:rPr sz="2437" b="1">
                <a:solidFill>
                  <a:srgbClr val="FF3131"/>
                </a:solidFill>
                <a:latin typeface="Faustina Bold"/>
                <a:ea typeface="Faustina Bold"/>
                <a:cs typeface="Faustina Bold"/>
              </a:rPr>
              <a:t>[3]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84BA14C3-E4AD-445A-9475-C46A6823F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59394" y="7262205"/>
            <a:ext cx="319484" cy="4667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900"/>
              </a:lnSpc>
              <a:spcBef>
                <a:spcPct val="0"/>
              </a:spcBef>
              <a:buNone/>
            </a:pPr>
            <a:r>
              <a:rPr sz="2437" b="1">
                <a:solidFill>
                  <a:srgbClr val="FF3131"/>
                </a:solidFill>
                <a:latin typeface="Faustina Bold"/>
                <a:ea typeface="Faustina Bold"/>
                <a:cs typeface="Faustina Bold"/>
              </a:rPr>
              <a:t>[4]</a:t>
            </a:r>
          </a:p>
        </p:txBody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E6091145-0D0B-4D11-8247-2DB407A73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5747" y="289936"/>
            <a:ext cx="3331694" cy="1150635"/>
          </a:xfrm>
          <a:custGeom xmlns:a="http://schemas.openxmlformats.org/drawingml/2006/main">
            <a:rect l="l" t="t" r="r" b="b"/>
            <a:pathLst>
              <a:path w="3331694" h="1150635">
                <a:moveTo>
                  <a:pt x="0" y="0"/>
                </a:moveTo>
                <a:lnTo>
                  <a:pt x="3331694" y="0"/>
                </a:lnTo>
                <a:lnTo>
                  <a:pt x="3331694" y="1150634"/>
                </a:lnTo>
                <a:lnTo>
                  <a:pt x="0" y="115063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d472bcdfca643f7"/>
            <a:stretch>
              <a:fillRect l="-7270" t="-25038" r="-6058" b="-39036"/>
            </a:stretch>
          </a:blipFill>
        </p:spPr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349DACBB-4CB4-473B-9A5F-9F0F9390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68986" y="1304595"/>
            <a:ext cx="13302097" cy="10040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420"/>
              </a:lnSpc>
              <a:buNone/>
            </a:pPr>
            <a:r>
              <a:rPr sz="7420" b="1">
                <a:solidFill>
                  <a:srgbClr val="754820"/>
                </a:solidFill>
                <a:latin typeface="Maven Pro Bold"/>
                <a:ea typeface="Maven Pro Bold"/>
                <a:cs typeface="Maven Pro Bold"/>
              </a:rPr>
              <a:t>LOW REVIEW LEARNABILITY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0B889489-395B-49F0-AA4B-E9C138198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2679866"/>
            <a:ext cx="6818966" cy="8548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959"/>
              </a:lnSpc>
              <a:spcBef>
                <a:spcPct val="0"/>
              </a:spcBef>
              <a:buNone/>
            </a:pPr>
            <a:r>
              <a:rPr sz="4970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rPr>
              <a:t>AI</a:t>
            </a:r>
            <a:r>
              <a:rPr sz="4970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rPr>
              <a:t> Review Assistant</a:t>
            </a:r>
          </a:p>
        </p:txBody>
      </p:sp>
    </p:spTree>
    <p:extLst>
      <p:ext uri="{BB962C8B-B14F-4D97-AF65-F5344CB8AC3E}">
        <p14:creationId xmlns:p14="http://schemas.microsoft.com/office/powerpoint/2010/main" val="158233816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EFD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EA62741B-48BD-46E6-9F2A-FF341A241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6056213"/>
            <a:ext cx="4114800" cy="4114800"/>
          </a:xfrm>
          <a:custGeom xmlns:a="http://schemas.openxmlformats.org/drawingml/2006/main"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74215c18d454e3f">
              <a:extLst>
                <a:ext uri="{96DAC541-7B7A-43D3-8B79-37D633B846F1}">
                  <asvg:svgBlip xmlns:asvg="http://schemas.microsoft.com/office/drawing/2016/SVG/main" r:embed="R553769a957b94b0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4EBF3D75-25BE-4DAA-9528-66D22FC68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1">
            <a:off x="14425139" y="0"/>
            <a:ext cx="4114800" cy="4114800"/>
          </a:xfrm>
          <a:custGeom xmlns:a="http://schemas.openxmlformats.org/drawingml/2006/main"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74215c18d454e3f">
              <a:extLst>
                <a:ext uri="{96DAC541-7B7A-43D3-8B79-37D633B846F1}">
                  <asvg:svgBlip xmlns:asvg="http://schemas.microsoft.com/office/drawing/2016/SVG/main" r:embed="R553769a957b94b0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DA9DB1AB-829B-4581-B84B-7C275562F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0515" y="3512668"/>
            <a:ext cx="7902720" cy="26603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515"/>
              </a:lnSpc>
              <a:buNone/>
            </a:pPr>
            <a:r>
              <a:rPr sz="3447" b="1">
                <a:solidFill>
                  <a:srgbClr val="754820"/>
                </a:solidFill>
                <a:latin typeface="Faustina Bold"/>
                <a:ea typeface="Faustina Bold"/>
                <a:cs typeface="Faustina Bold"/>
              </a:rPr>
              <a:t>Pros:</a:t>
            </a:r>
          </a:p>
          <a:p xmlns:a="http://schemas.openxmlformats.org/drawingml/2006/main">
            <a:pPr marL="526342" lvl="1" indent="-263171" algn="l">
              <a:lnSpc>
                <a:spcPts val="3900"/>
              </a:lnSpc>
              <a:buFont typeface="Arial"/>
              <a:buChar char="•"/>
            </a:pPr>
            <a:r>
              <a:rPr sz="2437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Flexib</a:t>
            </a:r>
            <a:r>
              <a:rPr sz="2437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le and personalized explanations</a:t>
            </a:r>
          </a:p>
          <a:p xmlns:a="http://schemas.openxmlformats.org/drawingml/2006/main">
            <a:pPr marL="526342" lvl="1" indent="-263171" algn="l">
              <a:lnSpc>
                <a:spcPts val="3900"/>
              </a:lnSpc>
              <a:buFont typeface="Arial"/>
              <a:buChar char="•"/>
            </a:pPr>
            <a:r>
              <a:rPr sz="2437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Users can ask questions in natural language</a:t>
            </a:r>
          </a:p>
          <a:p xmlns:a="http://schemas.openxmlformats.org/drawingml/2006/main">
            <a:pPr marL="526342" lvl="1" indent="-263171" algn="l">
              <a:lnSpc>
                <a:spcPts val="3900"/>
              </a:lnSpc>
              <a:buFont typeface="Arial"/>
              <a:buChar char="•"/>
            </a:pPr>
            <a:r>
              <a:rPr sz="2437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Explains the “why” behind mistakes</a:t>
            </a:r>
          </a:p>
          <a:p xmlns:a="http://schemas.openxmlformats.org/drawingml/2006/main">
            <a:pPr marL="526342" lvl="1" indent="-263171" algn="l">
              <a:lnSpc>
                <a:spcPts val="3900"/>
              </a:lnSpc>
              <a:buFont typeface="Arial"/>
              <a:buChar char="•"/>
            </a:pPr>
            <a:r>
              <a:rPr sz="2437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Context-aware visual highlights improve understanding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4825811C-8942-4BFA-ACF7-2D444FBB2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0515" y="6196166"/>
            <a:ext cx="6508745" cy="21650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515"/>
              </a:lnSpc>
              <a:buNone/>
            </a:pPr>
            <a:r>
              <a:rPr sz="3447" b="1">
                <a:solidFill>
                  <a:srgbClr val="754820"/>
                </a:solidFill>
                <a:latin typeface="Faustina Bold"/>
                <a:ea typeface="Faustina Bold"/>
                <a:cs typeface="Faustina Bold"/>
              </a:rPr>
              <a:t>Cons:</a:t>
            </a:r>
          </a:p>
          <a:p xmlns:a="http://schemas.openxmlformats.org/drawingml/2006/main">
            <a:pPr marL="526342" lvl="1" indent="-263171" algn="l">
              <a:lnSpc>
                <a:spcPts val="3900"/>
              </a:lnSpc>
              <a:buFont typeface="Arial"/>
              <a:buChar char="•"/>
            </a:pPr>
            <a:r>
              <a:rPr sz="2437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AI</a:t>
            </a:r>
            <a:r>
              <a:rPr sz="2437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 explanations may not always be accurate</a:t>
            </a:r>
          </a:p>
          <a:p xmlns:a="http://schemas.openxmlformats.org/drawingml/2006/main">
            <a:pPr marL="526342" lvl="1" indent="-263171" algn="l">
              <a:lnSpc>
                <a:spcPts val="3900"/>
              </a:lnSpc>
              <a:buFont typeface="Arial"/>
              <a:buChar char="•"/>
            </a:pPr>
            <a:r>
              <a:rPr sz="2437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More complex to implement and maintain</a:t>
            </a:r>
          </a:p>
          <a:p xmlns:a="http://schemas.openxmlformats.org/drawingml/2006/main">
            <a:pPr marL="526342" lvl="1" indent="-263171" algn="l">
              <a:lnSpc>
                <a:spcPts val="3900"/>
              </a:lnSpc>
              <a:buFont typeface="Arial"/>
              <a:buChar char="•"/>
            </a:pPr>
            <a:r>
              <a:rPr sz="2437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Users may become dependent on AI</a:t>
            </a: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7251AD47-E1F1-40ED-B326-12A7D947D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5747" y="289936"/>
            <a:ext cx="3331694" cy="1150635"/>
          </a:xfrm>
          <a:custGeom xmlns:a="http://schemas.openxmlformats.org/drawingml/2006/main">
            <a:rect l="l" t="t" r="r" b="b"/>
            <a:pathLst>
              <a:path w="3331694" h="1150635">
                <a:moveTo>
                  <a:pt x="0" y="0"/>
                </a:moveTo>
                <a:lnTo>
                  <a:pt x="3331694" y="0"/>
                </a:lnTo>
                <a:lnTo>
                  <a:pt x="3331694" y="1150634"/>
                </a:lnTo>
                <a:lnTo>
                  <a:pt x="0" y="115063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4eb3b612c0d4c30"/>
            <a:stretch>
              <a:fillRect l="-7270" t="-25038" r="-6058" b="-39036"/>
            </a:stretch>
          </a:blipFill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82E0BAC8-3763-4113-86EF-D46D8790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68986" y="1304595"/>
            <a:ext cx="13302097" cy="10040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420"/>
              </a:lnSpc>
              <a:buNone/>
            </a:pPr>
            <a:r>
              <a:rPr sz="7420" b="1">
                <a:solidFill>
                  <a:srgbClr val="754820"/>
                </a:solidFill>
                <a:latin typeface="Maven Pro Bold"/>
                <a:ea typeface="Maven Pro Bold"/>
                <a:cs typeface="Maven Pro Bold"/>
              </a:rPr>
              <a:t>LOW REVIEW LEARNABILITY</a:t>
            </a:r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DC198128-AB8A-4C27-AA63-0B6BB7FDC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11033931" y="1839795"/>
            <a:ext cx="5208130" cy="8440232"/>
          </a:xfrm>
          <a:custGeom xmlns:a="http://schemas.openxmlformats.org/drawingml/2006/main">
            <a:rect l="l" t="t" r="r" b="b"/>
            <a:pathLst>
              <a:path w="5208130" h="8440232">
                <a:moveTo>
                  <a:pt x="0" y="0"/>
                </a:moveTo>
                <a:lnTo>
                  <a:pt x="5208130" y="0"/>
                </a:lnTo>
                <a:lnTo>
                  <a:pt x="5208130" y="8440232"/>
                </a:lnTo>
                <a:lnTo>
                  <a:pt x="0" y="844023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8039567972b455e"/>
            <a:stretch>
              <a:fillRect l="-20812" t="0" r="-25404" b="-20299"/>
            </a:stretch>
          </a:blipFill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2A024602-0E69-4C60-98A6-A65F8F538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2679866"/>
            <a:ext cx="6818966" cy="8548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959"/>
              </a:lnSpc>
              <a:spcBef>
                <a:spcPct val="0"/>
              </a:spcBef>
              <a:buNone/>
            </a:pPr>
            <a:r>
              <a:rPr sz="4970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rPr>
              <a:t>AI</a:t>
            </a:r>
            <a:r>
              <a:rPr sz="4970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rPr>
              <a:t> Review Assistant</a:t>
            </a:r>
          </a:p>
        </p:txBody>
      </p:sp>
    </p:spTree>
    <p:extLst>
      <p:ext uri="{BB962C8B-B14F-4D97-AF65-F5344CB8AC3E}">
        <p14:creationId xmlns:p14="http://schemas.microsoft.com/office/powerpoint/2010/main" val="139820076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EFD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09B5BC79-E587-49F0-B7FB-4DA23151E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1">
            <a:off x="12337292" y="-876300"/>
            <a:ext cx="6103108" cy="4114800"/>
          </a:xfrm>
          <a:custGeom xmlns:a="http://schemas.openxmlformats.org/drawingml/2006/main">
            <a:rect l="l" t="t" r="r" b="b"/>
            <a:pathLst>
              <a:path w="6103108" h="4114800">
                <a:moveTo>
                  <a:pt x="610310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103108" y="0"/>
                </a:lnTo>
                <a:lnTo>
                  <a:pt x="6103108" y="41148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95f794d25534c19">
              <a:extLst>
                <a:ext uri="{96DAC541-7B7A-43D3-8B79-37D633B846F1}">
                  <asvg:svgBlip xmlns:asvg="http://schemas.microsoft.com/office/drawing/2016/SVG/main" r:embed="Rb6d80e6c681f404e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EF1FDE2F-2B7F-4A3C-9A7B-664BCC113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407223" y="-302623"/>
            <a:ext cx="5040401" cy="4114800"/>
          </a:xfrm>
          <a:custGeom xmlns:a="http://schemas.openxmlformats.org/drawingml/2006/main">
            <a:rect l="l" t="t" r="r" b="b"/>
            <a:pathLst>
              <a:path w="5040401" h="4114800">
                <a:moveTo>
                  <a:pt x="0" y="0"/>
                </a:moveTo>
                <a:lnTo>
                  <a:pt x="5040401" y="0"/>
                </a:lnTo>
                <a:lnTo>
                  <a:pt x="504040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b3ab0c0334149dd">
              <a:extLst>
                <a:ext uri="{96DAC541-7B7A-43D3-8B79-37D633B846F1}">
                  <asvg:svgBlip xmlns:asvg="http://schemas.microsoft.com/office/drawing/2016/SVG/main" r:embed="Rac1183d3170c4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6555B181-D261-421E-B7F7-5C049E289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826735" y="6747939"/>
            <a:ext cx="6103108" cy="4114800"/>
          </a:xfrm>
          <a:custGeom xmlns:a="http://schemas.openxmlformats.org/drawingml/2006/main">
            <a:rect l="l" t="t" r="r" b="b"/>
            <a:pathLst>
              <a:path w="6103108" h="4114800">
                <a:moveTo>
                  <a:pt x="0" y="0"/>
                </a:moveTo>
                <a:lnTo>
                  <a:pt x="6103108" y="0"/>
                </a:lnTo>
                <a:lnTo>
                  <a:pt x="61031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95f794d25534c19">
              <a:extLst>
                <a:ext uri="{96DAC541-7B7A-43D3-8B79-37D633B846F1}">
                  <asvg:svgBlip xmlns:asvg="http://schemas.microsoft.com/office/drawing/2016/SVG/main" r:embed="Rb6d80e6c681f404e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BE3FE1F3-8FF6-44DB-98F9-E675E8178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0130" y="6114049"/>
            <a:ext cx="2369825" cy="2300885"/>
          </a:xfrm>
          <a:custGeom xmlns:a="http://schemas.openxmlformats.org/drawingml/2006/main">
            <a:rect l="l" t="t" r="r" b="b"/>
            <a:pathLst>
              <a:path w="2369825" h="2300885">
                <a:moveTo>
                  <a:pt x="0" y="0"/>
                </a:moveTo>
                <a:lnTo>
                  <a:pt x="2369825" y="0"/>
                </a:lnTo>
                <a:lnTo>
                  <a:pt x="2369825" y="2300885"/>
                </a:lnTo>
                <a:lnTo>
                  <a:pt x="0" y="230088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c22f8dc66174ec0">
              <a:extLst>
                <a:ext uri="{96DAC541-7B7A-43D3-8B79-37D633B846F1}">
                  <asvg:svgBlip xmlns:asvg="http://schemas.microsoft.com/office/drawing/2016/SVG/main" r:embed="R727da57ab1d9456f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F3163244-D74D-4AC3-8EE0-483C1FCB5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80533" y="1302570"/>
            <a:ext cx="13526934" cy="8444484"/>
          </a:xfrm>
          <a:custGeom xmlns:a="http://schemas.openxmlformats.org/drawingml/2006/main">
            <a:rect l="l" t="t" r="r" b="b"/>
            <a:pathLst>
              <a:path w="13526934" h="8444484">
                <a:moveTo>
                  <a:pt x="0" y="0"/>
                </a:moveTo>
                <a:lnTo>
                  <a:pt x="13526934" y="0"/>
                </a:lnTo>
                <a:lnTo>
                  <a:pt x="13526934" y="8444484"/>
                </a:lnTo>
                <a:lnTo>
                  <a:pt x="0" y="844448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169d4f423c2407c">
              <a:extLst>
                <a:ext uri="{96DAC541-7B7A-43D3-8B79-37D633B846F1}">
                  <asvg:svgBlip xmlns:asvg="http://schemas.microsoft.com/office/drawing/2016/SVG/main" r:embed="R2b9167618abf49c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7" name="revised-title">
            <a:extLst xmlns:a="http://schemas.openxmlformats.org/drawingml/2006/main">
              <a:ext uri="{FF2B5EF4-FFF2-40B4-BE49-F238E27FC236}">
                <a16:creationId xmlns:a16="http://schemas.microsoft.com/office/drawing/2014/main" id="{971B166B-CBAB-4AB1-84B3-588581F64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181100"/>
            <a:ext cx="1257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00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defRPr>
            </a:pPr>
            <a:r>
              <a:rPr sz="5400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rPr>
              <a:t>Formative Testing</a:t>
            </a:r>
          </a:p>
        </p:txBody>
      </p:sp>
      <p:sp>
        <p:nvSpPr>
          <p:cNvPr id="8" name="revised-body">
            <a:extLst xmlns:a="http://schemas.openxmlformats.org/drawingml/2006/main">
              <a:ext uri="{FF2B5EF4-FFF2-40B4-BE49-F238E27FC236}">
                <a16:creationId xmlns:a16="http://schemas.microsoft.com/office/drawing/2014/main" id="{D81887EE-8E06-45E1-9FD2-D3F0A1FB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7650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602E17"/>
                </a:solidFill>
                <a:latin typeface="Faustina"/>
                <a:ea typeface="Faustina"/>
                <a:cs typeface="Faustina"/>
              </a:defRPr>
            </a:pPr>
            <a:r>
              <a:rPr sz="2325" b="1">
                <a:solidFill>
                  <a:srgbClr val="602E17"/>
                </a:solidFill>
                <a:latin typeface="Faustina"/>
                <a:ea typeface="Faustina"/>
                <a:cs typeface="Faustina"/>
              </a:rPr>
              <a:t>5 AI reviewers · 6 prototypes · 285 coded outcomes</a:t>
            </a:r>
          </a:p>
        </p:txBody>
      </p:sp>
      <p:sp>
        <p:nvSpPr>
          <p:cNvPr id="9" name="process-arrow-1">
            <a:extLst xmlns:a="http://schemas.openxmlformats.org/drawingml/2006/main">
              <a:ext uri="{FF2B5EF4-FFF2-40B4-BE49-F238E27FC236}">
                <a16:creationId xmlns:a16="http://schemas.microsoft.com/office/drawing/2014/main" id="{F9906932-773C-418E-894A-E678C8471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229100"/>
            <a:ext cx="3810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BC6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ocess-arrow-2">
            <a:extLst xmlns:a="http://schemas.openxmlformats.org/drawingml/2006/main">
              <a:ext uri="{FF2B5EF4-FFF2-40B4-BE49-F238E27FC236}">
                <a16:creationId xmlns:a16="http://schemas.microsoft.com/office/drawing/2014/main" id="{021B0F49-D171-4552-ACD5-D45975037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229100"/>
            <a:ext cx="3810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BC6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ocess-arrow-3">
            <a:extLst xmlns:a="http://schemas.openxmlformats.org/drawingml/2006/main">
              <a:ext uri="{FF2B5EF4-FFF2-40B4-BE49-F238E27FC236}">
                <a16:creationId xmlns:a16="http://schemas.microsoft.com/office/drawing/2014/main" id="{79E48FD0-5D22-4186-9434-144B56536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229100"/>
            <a:ext cx="3810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BC6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rocess-arrow-4">
            <a:extLst xmlns:a="http://schemas.openxmlformats.org/drawingml/2006/main">
              <a:ext uri="{FF2B5EF4-FFF2-40B4-BE49-F238E27FC236}">
                <a16:creationId xmlns:a16="http://schemas.microsoft.com/office/drawing/2014/main" id="{4387286E-183D-4520-990C-8405A239B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50" y="4229100"/>
            <a:ext cx="3810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BC6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rocess-node-1">
            <a:extLst xmlns:a="http://schemas.openxmlformats.org/drawingml/2006/main">
              <a:ext uri="{FF2B5EF4-FFF2-40B4-BE49-F238E27FC236}">
                <a16:creationId xmlns:a16="http://schemas.microsoft.com/office/drawing/2014/main" id="{43A39FA2-850B-4401-85E9-8C925ABB9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14750"/>
            <a:ext cx="2381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D8BB"/>
          </a:solidFill>
          <a:ln xmlns:a="http://schemas.openxmlformats.org/drawingml/2006/main" w="19050">
            <a:solidFill>
              <a:srgbClr val="75482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754820"/>
                </a:solidFill>
                <a:latin typeface="Faustina"/>
                <a:ea typeface="Faustina"/>
                <a:cs typeface="Faustina"/>
              </a:defRPr>
            </a:pPr>
            <a:r>
              <a:rPr sz="1875" b="0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5</a:t>
            </a:r>
          </a:p>
          <a:p xmlns:a="http://schemas.openxmlformats.org/drawingml/2006/main">
            <a:pPr algn="ctr">
              <a:defRPr sz="1875" b="0">
                <a:solidFill>
                  <a:srgbClr val="754820"/>
                </a:solidFill>
                <a:latin typeface="Faustina"/>
                <a:ea typeface="Faustina"/>
                <a:cs typeface="Faustina"/>
              </a:defRPr>
            </a:pPr>
            <a:r>
              <a:rPr sz="1875" b="0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AI Reviewers</a:t>
            </a:r>
          </a:p>
        </p:txBody>
      </p:sp>
      <p:sp>
        <p:nvSpPr>
          <p:cNvPr id="14" name="process-node-2">
            <a:extLst xmlns:a="http://schemas.openxmlformats.org/drawingml/2006/main">
              <a:ext uri="{FF2B5EF4-FFF2-40B4-BE49-F238E27FC236}">
                <a16:creationId xmlns:a16="http://schemas.microsoft.com/office/drawing/2014/main" id="{2CA986FE-71DC-446D-8C7E-7FDFAB0C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714750"/>
            <a:ext cx="2381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3E0BB"/>
          </a:solidFill>
          <a:ln xmlns:a="http://schemas.openxmlformats.org/drawingml/2006/main" w="19050">
            <a:solidFill>
              <a:srgbClr val="75482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754820"/>
                </a:solidFill>
                <a:latin typeface="Faustina"/>
                <a:ea typeface="Faustina"/>
                <a:cs typeface="Faustina"/>
              </a:defRPr>
            </a:pPr>
            <a:r>
              <a:rPr sz="1875" b="0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6</a:t>
            </a:r>
          </a:p>
          <a:p xmlns:a="http://schemas.openxmlformats.org/drawingml/2006/main">
            <a:pPr algn="ctr">
              <a:defRPr sz="1875" b="0">
                <a:solidFill>
                  <a:srgbClr val="754820"/>
                </a:solidFill>
                <a:latin typeface="Faustina"/>
                <a:ea typeface="Faustina"/>
                <a:cs typeface="Faustina"/>
              </a:defRPr>
            </a:pPr>
            <a:r>
              <a:rPr sz="1875" b="0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Prototypes</a:t>
            </a:r>
          </a:p>
        </p:txBody>
      </p:sp>
      <p:sp>
        <p:nvSpPr>
          <p:cNvPr id="15" name="process-node-3">
            <a:extLst xmlns:a="http://schemas.openxmlformats.org/drawingml/2006/main">
              <a:ext uri="{FF2B5EF4-FFF2-40B4-BE49-F238E27FC236}">
                <a16:creationId xmlns:a16="http://schemas.microsoft.com/office/drawing/2014/main" id="{5BD8CC4D-9F0C-4A8F-9DA0-2D7CD0C20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714750"/>
            <a:ext cx="2381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2C8B3"/>
          </a:solidFill>
          <a:ln xmlns:a="http://schemas.openxmlformats.org/drawingml/2006/main" w="19050">
            <a:solidFill>
              <a:srgbClr val="75482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754820"/>
                </a:solidFill>
                <a:latin typeface="Faustina"/>
                <a:ea typeface="Faustina"/>
                <a:cs typeface="Faustina"/>
              </a:defRPr>
            </a:pPr>
            <a:r>
              <a:rPr sz="1875" b="0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19</a:t>
            </a:r>
          </a:p>
          <a:p xmlns:a="http://schemas.openxmlformats.org/drawingml/2006/main">
            <a:pPr algn="ctr">
              <a:defRPr sz="1875" b="0">
                <a:solidFill>
                  <a:srgbClr val="754820"/>
                </a:solidFill>
                <a:latin typeface="Faustina"/>
                <a:ea typeface="Faustina"/>
                <a:cs typeface="Faustina"/>
              </a:defRPr>
            </a:pPr>
            <a:r>
              <a:rPr sz="1875" b="0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Task Definitions</a:t>
            </a:r>
          </a:p>
        </p:txBody>
      </p:sp>
      <p:sp>
        <p:nvSpPr>
          <p:cNvPr id="16" name="process-node-4">
            <a:extLst xmlns:a="http://schemas.openxmlformats.org/drawingml/2006/main">
              <a:ext uri="{FF2B5EF4-FFF2-40B4-BE49-F238E27FC236}">
                <a16:creationId xmlns:a16="http://schemas.microsoft.com/office/drawing/2014/main" id="{04667047-6291-4B62-9E04-64C681766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3714750"/>
            <a:ext cx="2381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7E3C7"/>
          </a:solidFill>
          <a:ln xmlns:a="http://schemas.openxmlformats.org/drawingml/2006/main" w="19050">
            <a:solidFill>
              <a:srgbClr val="75482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754820"/>
                </a:solidFill>
                <a:latin typeface="Faustina"/>
                <a:ea typeface="Faustina"/>
                <a:cs typeface="Faustina"/>
              </a:defRPr>
            </a:pPr>
            <a:r>
              <a:rPr sz="1875" b="0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285</a:t>
            </a:r>
          </a:p>
          <a:p xmlns:a="http://schemas.openxmlformats.org/drawingml/2006/main">
            <a:pPr algn="ctr">
              <a:defRPr sz="1875" b="0">
                <a:solidFill>
                  <a:srgbClr val="754820"/>
                </a:solidFill>
                <a:latin typeface="Faustina"/>
                <a:ea typeface="Faustina"/>
                <a:cs typeface="Faustina"/>
              </a:defRPr>
            </a:pPr>
            <a:r>
              <a:rPr sz="1875" b="0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Coded Outcomes</a:t>
            </a:r>
          </a:p>
        </p:txBody>
      </p:sp>
      <p:sp>
        <p:nvSpPr>
          <p:cNvPr id="17" name="process-node-5">
            <a:extLst xmlns:a="http://schemas.openxmlformats.org/drawingml/2006/main">
              <a:ext uri="{FF2B5EF4-FFF2-40B4-BE49-F238E27FC236}">
                <a16:creationId xmlns:a16="http://schemas.microsoft.com/office/drawing/2014/main" id="{6506181E-55C8-4B4B-9A04-9D0194161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3700" y="3714750"/>
            <a:ext cx="2381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D2A8"/>
          </a:solidFill>
          <a:ln xmlns:a="http://schemas.openxmlformats.org/drawingml/2006/main" w="19050">
            <a:solidFill>
              <a:srgbClr val="75482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754820"/>
                </a:solidFill>
                <a:latin typeface="Faustina"/>
                <a:ea typeface="Faustina"/>
                <a:cs typeface="Faustina"/>
              </a:defRPr>
            </a:pPr>
            <a:r>
              <a:rPr sz="1875" b="0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PA4</a:t>
            </a:r>
          </a:p>
          <a:p xmlns:a="http://schemas.openxmlformats.org/drawingml/2006/main">
            <a:pPr algn="ctr">
              <a:defRPr sz="1875" b="0">
                <a:solidFill>
                  <a:srgbClr val="754820"/>
                </a:solidFill>
                <a:latin typeface="Faustina"/>
                <a:ea typeface="Faustina"/>
                <a:cs typeface="Faustina"/>
              </a:defRPr>
            </a:pPr>
            <a:r>
              <a:rPr sz="1875" b="0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Direction</a:t>
            </a:r>
          </a:p>
        </p:txBody>
      </p:sp>
      <p:sp>
        <p:nvSpPr>
          <p:cNvPr id="18" name="process-detail">
            <a:extLst xmlns:a="http://schemas.openxmlformats.org/drawingml/2006/main">
              <a:ext uri="{FF2B5EF4-FFF2-40B4-BE49-F238E27FC236}">
                <a16:creationId xmlns:a16="http://schemas.microsoft.com/office/drawing/2014/main" id="{E713926E-DF74-44B7-874D-C236CAAC4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4292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9B7258"/>
                </a:solidFill>
                <a:latin typeface="Faustina"/>
                <a:ea typeface="Faustina"/>
                <a:cs typeface="Faustina"/>
              </a:defRPr>
            </a:pPr>
            <a:r>
              <a:rPr sz="2100" b="0">
                <a:solidFill>
                  <a:srgbClr val="9B7258"/>
                </a:solidFill>
                <a:latin typeface="Faustina"/>
                <a:ea typeface="Faustina"/>
                <a:cs typeface="Faustina"/>
              </a:rPr>
              <a:t>19 task definitions · 57 coded outcomes per reviewer</a:t>
            </a:r>
          </a:p>
        </p:txBody>
      </p:sp>
      <p:sp>
        <p:nvSpPr>
          <p:cNvPr id="19" name="method-sentence">
            <a:extLst xmlns:a="http://schemas.openxmlformats.org/drawingml/2006/main">
              <a:ext uri="{FF2B5EF4-FFF2-40B4-BE49-F238E27FC236}">
                <a16:creationId xmlns:a16="http://schemas.microsoft.com/office/drawing/2014/main" id="{42749760-E1B2-4E0D-8FC1-F9176A4F1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6667500"/>
            <a:ext cx="1143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754820"/>
                </a:solidFill>
                <a:latin typeface="Faustina"/>
                <a:ea typeface="Faustina"/>
                <a:cs typeface="Faustina"/>
              </a:defRPr>
            </a:pPr>
            <a:r>
              <a:rPr sz="2250" b="0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We tested whether each prototype helped users understand the problem, complete the task, and know the next step.</a:t>
            </a:r>
          </a:p>
        </p:txBody>
      </p:sp>
    </p:spTree>
    <p:extLst>
      <p:ext uri="{BB962C8B-B14F-4D97-AF65-F5344CB8AC3E}">
        <p14:creationId xmlns:p14="http://schemas.microsoft.com/office/powerpoint/2010/main" val="79390995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EFD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6D68A1B5-DC9C-4DA5-8D9B-1139E201E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1">
            <a:off x="12337292" y="-876300"/>
            <a:ext cx="6103108" cy="4114800"/>
          </a:xfrm>
          <a:custGeom xmlns:a="http://schemas.openxmlformats.org/drawingml/2006/main">
            <a:rect l="l" t="t" r="r" b="b"/>
            <a:pathLst>
              <a:path w="6103108" h="4114800">
                <a:moveTo>
                  <a:pt x="610310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103108" y="0"/>
                </a:lnTo>
                <a:lnTo>
                  <a:pt x="6103108" y="41148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18eb99d701e4457">
              <a:extLst>
                <a:ext uri="{96DAC541-7B7A-43D3-8B79-37D633B846F1}">
                  <asvg:svgBlip xmlns:asvg="http://schemas.microsoft.com/office/drawing/2016/SVG/main" r:embed="R3a426d3876b74b0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6F2BC28E-749A-47F4-B3C8-4FD898271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407223" y="-302623"/>
            <a:ext cx="5040401" cy="4114800"/>
          </a:xfrm>
          <a:custGeom xmlns:a="http://schemas.openxmlformats.org/drawingml/2006/main">
            <a:rect l="l" t="t" r="r" b="b"/>
            <a:pathLst>
              <a:path w="5040401" h="4114800">
                <a:moveTo>
                  <a:pt x="0" y="0"/>
                </a:moveTo>
                <a:lnTo>
                  <a:pt x="5040401" y="0"/>
                </a:lnTo>
                <a:lnTo>
                  <a:pt x="504040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0ecc9e209ca40bc">
              <a:extLst>
                <a:ext uri="{96DAC541-7B7A-43D3-8B79-37D633B846F1}">
                  <asvg:svgBlip xmlns:asvg="http://schemas.microsoft.com/office/drawing/2016/SVG/main" r:embed="Rda955bde4b2f40ba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19A218DD-D1AA-4778-8C12-0649940CF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826735" y="6747939"/>
            <a:ext cx="6103108" cy="4114800"/>
          </a:xfrm>
          <a:custGeom xmlns:a="http://schemas.openxmlformats.org/drawingml/2006/main">
            <a:rect l="l" t="t" r="r" b="b"/>
            <a:pathLst>
              <a:path w="6103108" h="4114800">
                <a:moveTo>
                  <a:pt x="0" y="0"/>
                </a:moveTo>
                <a:lnTo>
                  <a:pt x="6103108" y="0"/>
                </a:lnTo>
                <a:lnTo>
                  <a:pt x="61031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18eb99d701e4457">
              <a:extLst>
                <a:ext uri="{96DAC541-7B7A-43D3-8B79-37D633B846F1}">
                  <asvg:svgBlip xmlns:asvg="http://schemas.microsoft.com/office/drawing/2016/SVG/main" r:embed="R3a426d3876b74b0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27B4B153-5935-46FE-8BE9-09AC92273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0130" y="6114049"/>
            <a:ext cx="2369825" cy="2300885"/>
          </a:xfrm>
          <a:custGeom xmlns:a="http://schemas.openxmlformats.org/drawingml/2006/main">
            <a:rect l="l" t="t" r="r" b="b"/>
            <a:pathLst>
              <a:path w="2369825" h="2300885">
                <a:moveTo>
                  <a:pt x="0" y="0"/>
                </a:moveTo>
                <a:lnTo>
                  <a:pt x="2369825" y="0"/>
                </a:lnTo>
                <a:lnTo>
                  <a:pt x="2369825" y="2300885"/>
                </a:lnTo>
                <a:lnTo>
                  <a:pt x="0" y="230088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c166885f6994803">
              <a:extLst>
                <a:ext uri="{96DAC541-7B7A-43D3-8B79-37D633B846F1}">
                  <asvg:svgBlip xmlns:asvg="http://schemas.microsoft.com/office/drawing/2016/SVG/main" r:embed="R3045d0431fba493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2FBAE1F7-BB45-4A2D-82A2-CCA863D92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80533" y="1302570"/>
            <a:ext cx="13526934" cy="8444484"/>
          </a:xfrm>
          <a:custGeom xmlns:a="http://schemas.openxmlformats.org/drawingml/2006/main">
            <a:rect l="l" t="t" r="r" b="b"/>
            <a:pathLst>
              <a:path w="13526934" h="8444484">
                <a:moveTo>
                  <a:pt x="0" y="0"/>
                </a:moveTo>
                <a:lnTo>
                  <a:pt x="13526934" y="0"/>
                </a:lnTo>
                <a:lnTo>
                  <a:pt x="13526934" y="8444484"/>
                </a:lnTo>
                <a:lnTo>
                  <a:pt x="0" y="844448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58699a3393945d6">
              <a:extLst>
                <a:ext uri="{96DAC541-7B7A-43D3-8B79-37D633B846F1}">
                  <asvg:svgBlip xmlns:asvg="http://schemas.microsoft.com/office/drawing/2016/SVG/main" r:embed="R36eac80b23cb4b0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7" name="revised-title">
            <a:extLst xmlns:a="http://schemas.openxmlformats.org/drawingml/2006/main">
              <a:ext uri="{FF2B5EF4-FFF2-40B4-BE49-F238E27FC236}">
                <a16:creationId xmlns:a16="http://schemas.microsoft.com/office/drawing/2014/main" id="{F3CC4E3C-8412-417E-BAC9-F9E3E392C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181100"/>
            <a:ext cx="1257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00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defRPr>
            </a:pPr>
            <a:r>
              <a:rPr sz="5400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rPr>
              <a:t>What We Tested</a:t>
            </a:r>
          </a:p>
        </p:txBody>
      </p:sp>
      <p:sp>
        <p:nvSpPr>
          <p:cNvPr id="8" name="revised-body">
            <a:extLst xmlns:a="http://schemas.openxmlformats.org/drawingml/2006/main">
              <a:ext uri="{FF2B5EF4-FFF2-40B4-BE49-F238E27FC236}">
                <a16:creationId xmlns:a16="http://schemas.microsoft.com/office/drawing/2014/main" id="{1162A2A8-3061-4637-951B-123D78A3D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7810500"/>
            <a:ext cx="1257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754820"/>
                </a:solidFill>
                <a:latin typeface="Faustina"/>
                <a:ea typeface="Faustina"/>
                <a:cs typeface="Faustina"/>
              </a:defRPr>
            </a:pPr>
            <a:r>
              <a:rPr sz="1875" b="0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Two scenarios · six alternatives · one decision question: which interaction model best supports the user’s next step?</a:t>
            </a:r>
          </a:p>
        </p:txBody>
      </p:sp>
      <p:sp>
        <p:nvSpPr>
          <p:cNvPr id="9" name="scope-fifa">
            <a:extLst xmlns:a="http://schemas.openxmlformats.org/drawingml/2006/main">
              <a:ext uri="{FF2B5EF4-FFF2-40B4-BE49-F238E27FC236}">
                <a16:creationId xmlns:a16="http://schemas.microsoft.com/office/drawing/2014/main" id="{95008258-F15E-489C-BF98-44FFA1BCD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43250"/>
            <a:ext cx="5715000" cy="3714750"/>
          </a:xfrm>
          <a:prstGeom xmlns:a="http://schemas.openxmlformats.org/drawingml/2006/main" prst="roundRect">
            <a:avLst>
              <a:gd name="adj" fmla="val 3077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EBC6A7"/>
            </a:solidFill>
            <a:prstDash val="solid"/>
          </a:ln>
        </p:spPr>
      </p:sp>
      <p:sp>
        <p:nvSpPr>
          <p:cNvPr id="10" name="scope-fifa-rule">
            <a:extLst xmlns:a="http://schemas.openxmlformats.org/drawingml/2006/main">
              <a:ext uri="{FF2B5EF4-FFF2-40B4-BE49-F238E27FC236}">
                <a16:creationId xmlns:a16="http://schemas.microsoft.com/office/drawing/2014/main" id="{39E37EC6-87C2-4A7D-A625-36116FB8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43250"/>
            <a:ext cx="571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0875B4"/>
            </a:solidFill>
            <a:prstDash val="solid"/>
          </a:ln>
        </p:spPr>
      </p:sp>
      <p:sp>
        <p:nvSpPr>
          <p:cNvPr id="11" name="scope-fifa-header">
            <a:extLst xmlns:a="http://schemas.openxmlformats.org/drawingml/2006/main">
              <a:ext uri="{FF2B5EF4-FFF2-40B4-BE49-F238E27FC236}">
                <a16:creationId xmlns:a16="http://schemas.microsoft.com/office/drawing/2014/main" id="{E07520F3-2CF0-428D-BFDE-C725B8F33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524250"/>
            <a:ext cx="5067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defRPr>
            </a:pPr>
            <a:r>
              <a:rPr sz="2850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rPr>
              <a:t>FIFA Ticket Visibility</a:t>
            </a:r>
          </a:p>
        </p:txBody>
      </p:sp>
      <p:sp>
        <p:nvSpPr>
          <p:cNvPr id="12" name="scope-fifa-items">
            <a:extLst xmlns:a="http://schemas.openxmlformats.org/drawingml/2006/main">
              <a:ext uri="{FF2B5EF4-FFF2-40B4-BE49-F238E27FC236}">
                <a16:creationId xmlns:a16="http://schemas.microsoft.com/office/drawing/2014/main" id="{43EEF609-FB08-48B6-8A1A-AFF880995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476750"/>
            <a:ext cx="48768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754820"/>
                </a:solidFill>
                <a:latin typeface="Faustina"/>
                <a:ea typeface="Faustina"/>
                <a:cs typeface="Faustina"/>
              </a:defRPr>
            </a:pPr>
            <a:r>
              <a:rPr sz="1725" b="0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Alt 1  Status Dashboard</a:t>
            </a:r>
          </a:p>
          <a:p xmlns:a="http://schemas.openxmlformats.org/drawingml/2006/main">
            <a:pPr algn="ctr">
              <a:defRPr sz="1725" b="0">
                <a:solidFill>
                  <a:srgbClr val="754820"/>
                </a:solidFill>
                <a:latin typeface="Faustina"/>
                <a:ea typeface="Faustina"/>
                <a:cs typeface="Faustina"/>
              </a:defRPr>
            </a:pPr>
            <a:r>
              <a:rPr sz="1725" b="0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current state · pending/confirmed · next action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0">
                <a:solidFill>
                  <a:srgbClr val="754820"/>
                </a:solidFill>
                <a:latin typeface="Faustina"/>
                <a:ea typeface="Faustina"/>
                <a:cs typeface="Faustina"/>
              </a:defRPr>
            </a:pPr>
            <a:r>
              <a:rPr sz="1725" b="0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Alt 2  Timeline Tracker</a:t>
            </a:r>
          </a:p>
          <a:p xmlns:a="http://schemas.openxmlformats.org/drawingml/2006/main">
            <a:pPr algn="ctr">
              <a:defRPr sz="1725" b="0">
                <a:solidFill>
                  <a:srgbClr val="754820"/>
                </a:solidFill>
                <a:latin typeface="Faustina"/>
                <a:ea typeface="Faustina"/>
                <a:cs typeface="Faustina"/>
              </a:defRPr>
            </a:pPr>
            <a:r>
              <a:rPr sz="1725" b="0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progress · freshness · ownership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0">
                <a:solidFill>
                  <a:srgbClr val="754820"/>
                </a:solidFill>
                <a:latin typeface="Faustina"/>
                <a:ea typeface="Faustina"/>
                <a:cs typeface="Faustina"/>
              </a:defRPr>
            </a:pPr>
            <a:r>
              <a:rPr sz="1725" b="0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Alt 3  Action Hub</a:t>
            </a:r>
          </a:p>
          <a:p xmlns:a="http://schemas.openxmlformats.org/drawingml/2006/main">
            <a:pPr algn="ctr">
              <a:defRPr sz="1725" b="0">
                <a:solidFill>
                  <a:srgbClr val="754820"/>
                </a:solidFill>
                <a:latin typeface="Faustina"/>
                <a:ea typeface="Faustina"/>
                <a:cs typeface="Faustina"/>
              </a:defRPr>
            </a:pPr>
            <a:r>
              <a:rPr sz="1725" b="0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direct actions · partner handoff</a:t>
            </a:r>
          </a:p>
        </p:txBody>
      </p:sp>
      <p:sp>
        <p:nvSpPr>
          <p:cNvPr id="13" name="scope-chess">
            <a:extLst xmlns:a="http://schemas.openxmlformats.org/drawingml/2006/main">
              <a:ext uri="{FF2B5EF4-FFF2-40B4-BE49-F238E27FC236}">
                <a16:creationId xmlns:a16="http://schemas.microsoft.com/office/drawing/2014/main" id="{E7189152-23DC-46E5-BBD5-40221844E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143250"/>
            <a:ext cx="5715000" cy="3714750"/>
          </a:xfrm>
          <a:prstGeom xmlns:a="http://schemas.openxmlformats.org/drawingml/2006/main" prst="roundRect">
            <a:avLst>
              <a:gd name="adj" fmla="val 3077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EBC6A7"/>
            </a:solidFill>
            <a:prstDash val="solid"/>
          </a:ln>
        </p:spPr>
      </p:sp>
      <p:sp>
        <p:nvSpPr>
          <p:cNvPr id="14" name="scope-chess-rule">
            <a:extLst xmlns:a="http://schemas.openxmlformats.org/drawingml/2006/main">
              <a:ext uri="{FF2B5EF4-FFF2-40B4-BE49-F238E27FC236}">
                <a16:creationId xmlns:a16="http://schemas.microsoft.com/office/drawing/2014/main" id="{D7FD76E0-731D-4B6B-A3B1-431802D41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143250"/>
            <a:ext cx="571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5C8F69"/>
            </a:solidFill>
            <a:prstDash val="solid"/>
          </a:ln>
        </p:spPr>
      </p:sp>
      <p:sp>
        <p:nvSpPr>
          <p:cNvPr id="15" name="scope-chess-header">
            <a:extLst xmlns:a="http://schemas.openxmlformats.org/drawingml/2006/main">
              <a:ext uri="{FF2B5EF4-FFF2-40B4-BE49-F238E27FC236}">
                <a16:creationId xmlns:a16="http://schemas.microsoft.com/office/drawing/2014/main" id="{18EA32BA-B5A9-4DB4-A803-CF4BFD644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524250"/>
            <a:ext cx="5067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defRPr>
            </a:pPr>
            <a:r>
              <a:rPr sz="2850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rPr>
              <a:t>Chess Review Learnability</a:t>
            </a:r>
          </a:p>
        </p:txBody>
      </p:sp>
      <p:sp>
        <p:nvSpPr>
          <p:cNvPr id="16" name="scope-chess-items">
            <a:extLst xmlns:a="http://schemas.openxmlformats.org/drawingml/2006/main">
              <a:ext uri="{FF2B5EF4-FFF2-40B4-BE49-F238E27FC236}">
                <a16:creationId xmlns:a16="http://schemas.microsoft.com/office/drawing/2014/main" id="{B8372E43-FF8D-4DC4-95F6-DD40A1603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476750"/>
            <a:ext cx="48768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754820"/>
                </a:solidFill>
                <a:latin typeface="Faustina"/>
                <a:ea typeface="Faustina"/>
                <a:cs typeface="Faustina"/>
              </a:defRPr>
            </a:pPr>
            <a:r>
              <a:rPr sz="1725" b="0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Alt 1  Beginner Review Flow</a:t>
            </a:r>
          </a:p>
          <a:p xmlns:a="http://schemas.openxmlformats.org/drawingml/2006/main">
            <a:pPr algn="ctr">
              <a:defRPr sz="1725" b="0">
                <a:solidFill>
                  <a:srgbClr val="754820"/>
                </a:solidFill>
                <a:latin typeface="Faustina"/>
                <a:ea typeface="Faustina"/>
                <a:cs typeface="Faustina"/>
              </a:defRPr>
            </a:pPr>
            <a:r>
              <a:rPr sz="1725" b="0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guided mistake → practice path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0">
                <a:solidFill>
                  <a:srgbClr val="754820"/>
                </a:solidFill>
                <a:latin typeface="Faustina"/>
                <a:ea typeface="Faustina"/>
                <a:cs typeface="Faustina"/>
              </a:defRPr>
            </a:pPr>
            <a:r>
              <a:rPr sz="1725" b="0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Alt 2  Card Review Mode</a:t>
            </a:r>
          </a:p>
          <a:p xmlns:a="http://schemas.openxmlformats.org/drawingml/2006/main">
            <a:pPr algn="ctr">
              <a:defRPr sz="1725" b="0">
                <a:solidFill>
                  <a:srgbClr val="754820"/>
                </a:solidFill>
                <a:latin typeface="Faustina"/>
                <a:ea typeface="Faustina"/>
                <a:cs typeface="Faustina"/>
              </a:defRPr>
            </a:pPr>
            <a:r>
              <a:rPr sz="1725" b="0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choose a moment · puzzle bridge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0">
                <a:solidFill>
                  <a:srgbClr val="754820"/>
                </a:solidFill>
                <a:latin typeface="Faustina"/>
                <a:ea typeface="Faustina"/>
                <a:cs typeface="Faustina"/>
              </a:defRPr>
            </a:pPr>
            <a:r>
              <a:rPr sz="1725" b="0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Alt 3  AI Review Assistant</a:t>
            </a:r>
          </a:p>
          <a:p xmlns:a="http://schemas.openxmlformats.org/drawingml/2006/main">
            <a:pPr algn="ctr">
              <a:defRPr sz="1725" b="0">
                <a:solidFill>
                  <a:srgbClr val="754820"/>
                </a:solidFill>
                <a:latin typeface="Faustina"/>
                <a:ea typeface="Faustina"/>
                <a:cs typeface="Faustina"/>
              </a:defRPr>
            </a:pPr>
            <a:r>
              <a:rPr sz="1725" b="0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ask why · flexible follow-up</a:t>
            </a:r>
          </a:p>
        </p:txBody>
      </p:sp>
    </p:spTree>
    <p:extLst>
      <p:ext uri="{BB962C8B-B14F-4D97-AF65-F5344CB8AC3E}">
        <p14:creationId xmlns:p14="http://schemas.microsoft.com/office/powerpoint/2010/main" val="140080410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EFD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081E1B29-CC80-4D61-BFC2-2759CB816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1">
            <a:off x="12337292" y="-876300"/>
            <a:ext cx="6103108" cy="4114800"/>
          </a:xfrm>
          <a:custGeom xmlns:a="http://schemas.openxmlformats.org/drawingml/2006/main">
            <a:rect l="l" t="t" r="r" b="b"/>
            <a:pathLst>
              <a:path w="6103108" h="4114800">
                <a:moveTo>
                  <a:pt x="610310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103108" y="0"/>
                </a:lnTo>
                <a:lnTo>
                  <a:pt x="6103108" y="41148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0dbe696a5254468">
              <a:extLst>
                <a:ext uri="{96DAC541-7B7A-43D3-8B79-37D633B846F1}">
                  <asvg:svgBlip xmlns:asvg="http://schemas.microsoft.com/office/drawing/2016/SVG/main" r:embed="R93172a0726324c9d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3283C86E-D39F-4ED7-9B9A-1EC7FAD4E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407223" y="-302623"/>
            <a:ext cx="5040401" cy="4114800"/>
          </a:xfrm>
          <a:custGeom xmlns:a="http://schemas.openxmlformats.org/drawingml/2006/main">
            <a:rect l="l" t="t" r="r" b="b"/>
            <a:pathLst>
              <a:path w="5040401" h="4114800">
                <a:moveTo>
                  <a:pt x="0" y="0"/>
                </a:moveTo>
                <a:lnTo>
                  <a:pt x="5040401" y="0"/>
                </a:lnTo>
                <a:lnTo>
                  <a:pt x="504040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0ac08a491f74c52">
              <a:extLst>
                <a:ext uri="{96DAC541-7B7A-43D3-8B79-37D633B846F1}">
                  <asvg:svgBlip xmlns:asvg="http://schemas.microsoft.com/office/drawing/2016/SVG/main" r:embed="R8134373bb422494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764DB777-BC88-44D8-B0D4-E4920F47E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826735" y="6747939"/>
            <a:ext cx="6103108" cy="4114800"/>
          </a:xfrm>
          <a:custGeom xmlns:a="http://schemas.openxmlformats.org/drawingml/2006/main">
            <a:rect l="l" t="t" r="r" b="b"/>
            <a:pathLst>
              <a:path w="6103108" h="4114800">
                <a:moveTo>
                  <a:pt x="0" y="0"/>
                </a:moveTo>
                <a:lnTo>
                  <a:pt x="6103108" y="0"/>
                </a:lnTo>
                <a:lnTo>
                  <a:pt x="61031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0dbe696a5254468">
              <a:extLst>
                <a:ext uri="{96DAC541-7B7A-43D3-8B79-37D633B846F1}">
                  <asvg:svgBlip xmlns:asvg="http://schemas.microsoft.com/office/drawing/2016/SVG/main" r:embed="R93172a0726324c9d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FFAD4FD4-A9E5-4DDB-9172-3D199A765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0130" y="6114049"/>
            <a:ext cx="2369825" cy="2300885"/>
          </a:xfrm>
          <a:custGeom xmlns:a="http://schemas.openxmlformats.org/drawingml/2006/main">
            <a:rect l="l" t="t" r="r" b="b"/>
            <a:pathLst>
              <a:path w="2369825" h="2300885">
                <a:moveTo>
                  <a:pt x="0" y="0"/>
                </a:moveTo>
                <a:lnTo>
                  <a:pt x="2369825" y="0"/>
                </a:lnTo>
                <a:lnTo>
                  <a:pt x="2369825" y="2300885"/>
                </a:lnTo>
                <a:lnTo>
                  <a:pt x="0" y="230088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14a144be7d64680">
              <a:extLst>
                <a:ext uri="{96DAC541-7B7A-43D3-8B79-37D633B846F1}">
                  <asvg:svgBlip xmlns:asvg="http://schemas.microsoft.com/office/drawing/2016/SVG/main" r:embed="Re38966f11e76496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06AA433A-B5CC-48CC-B967-62A11C516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80533" y="1302570"/>
            <a:ext cx="13526934" cy="8444484"/>
          </a:xfrm>
          <a:custGeom xmlns:a="http://schemas.openxmlformats.org/drawingml/2006/main">
            <a:rect l="l" t="t" r="r" b="b"/>
            <a:pathLst>
              <a:path w="13526934" h="8444484">
                <a:moveTo>
                  <a:pt x="0" y="0"/>
                </a:moveTo>
                <a:lnTo>
                  <a:pt x="13526934" y="0"/>
                </a:lnTo>
                <a:lnTo>
                  <a:pt x="13526934" y="8444484"/>
                </a:lnTo>
                <a:lnTo>
                  <a:pt x="0" y="844448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965c9f025b64d2f">
              <a:extLst>
                <a:ext uri="{96DAC541-7B7A-43D3-8B79-37D633B846F1}">
                  <asvg:svgBlip xmlns:asvg="http://schemas.microsoft.com/office/drawing/2016/SVG/main" r:embed="Red6e09f3d63e461b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7" name="revised-title">
            <a:extLst xmlns:a="http://schemas.openxmlformats.org/drawingml/2006/main">
              <a:ext uri="{FF2B5EF4-FFF2-40B4-BE49-F238E27FC236}">
                <a16:creationId xmlns:a16="http://schemas.microsoft.com/office/drawing/2014/main" id="{CE4B9531-3152-4843-8159-86844468E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181100"/>
            <a:ext cx="1257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00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defRPr>
            </a:pPr>
            <a:r>
              <a:rPr sz="5400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rPr>
              <a:t>Testing Plan</a:t>
            </a:r>
          </a:p>
        </p:txBody>
      </p:sp>
      <p:sp>
        <p:nvSpPr>
          <p:cNvPr id="8" name="revised-body">
            <a:extLst xmlns:a="http://schemas.openxmlformats.org/drawingml/2006/main">
              <a:ext uri="{FF2B5EF4-FFF2-40B4-BE49-F238E27FC236}">
                <a16:creationId xmlns:a16="http://schemas.microsoft.com/office/drawing/2014/main" id="{AF0357F3-AFE7-4CD6-9A6E-A0BC4EC93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7667625"/>
            <a:ext cx="1352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02E17"/>
                </a:solidFill>
                <a:latin typeface="Faustina"/>
                <a:ea typeface="Faustina"/>
                <a:cs typeface="Faustina"/>
              </a:defRPr>
            </a:pPr>
            <a:r>
              <a:rPr sz="1800" b="1">
                <a:solidFill>
                  <a:srgbClr val="602E17"/>
                </a:solidFill>
                <a:latin typeface="Faustina"/>
                <a:ea typeface="Faustina"/>
                <a:cs typeface="Faustina"/>
              </a:rPr>
              <a:t>Decision rule: preference supports the decision; repeated blockers, trust impact, learning impact, and revision effort drive PA4.</a:t>
            </a:r>
          </a:p>
        </p:txBody>
      </p:sp>
      <p:sp>
        <p:nvSpPr>
          <p:cNvPr id="9" name="plan-card-1">
            <a:extLst xmlns:a="http://schemas.openxmlformats.org/drawingml/2006/main">
              <a:ext uri="{FF2B5EF4-FFF2-40B4-BE49-F238E27FC236}">
                <a16:creationId xmlns:a16="http://schemas.microsoft.com/office/drawing/2014/main" id="{5CDD7353-9DDD-4B11-B80D-4BF901DD2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43250"/>
            <a:ext cx="3810000" cy="3714750"/>
          </a:xfrm>
          <a:prstGeom xmlns:a="http://schemas.openxmlformats.org/drawingml/2006/main" prst="roundRect">
            <a:avLst>
              <a:gd name="adj" fmla="val 3077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EBC6A7"/>
            </a:solidFill>
            <a:prstDash val="solid"/>
          </a:ln>
        </p:spPr>
      </p:sp>
      <p:sp>
        <p:nvSpPr>
          <p:cNvPr id="10" name="plan-rule-1">
            <a:extLst xmlns:a="http://schemas.openxmlformats.org/drawingml/2006/main">
              <a:ext uri="{FF2B5EF4-FFF2-40B4-BE49-F238E27FC236}">
                <a16:creationId xmlns:a16="http://schemas.microsoft.com/office/drawing/2014/main" id="{AC05786A-7697-48F6-9DF0-DCB2BC329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43250"/>
            <a:ext cx="381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0875B4"/>
            </a:solidFill>
            <a:prstDash val="solid"/>
          </a:ln>
        </p:spPr>
      </p:sp>
      <p:sp>
        <p:nvSpPr>
          <p:cNvPr id="11" name="plan-label-1">
            <a:extLst xmlns:a="http://schemas.openxmlformats.org/drawingml/2006/main">
              <a:ext uri="{FF2B5EF4-FFF2-40B4-BE49-F238E27FC236}">
                <a16:creationId xmlns:a16="http://schemas.microsoft.com/office/drawing/2014/main" id="{9461E031-F6FD-42AC-8D58-27776924B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429000"/>
            <a:ext cx="3276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875B4"/>
                </a:solidFill>
                <a:latin typeface="Maven Pro Bold"/>
                <a:ea typeface="Maven Pro Bold"/>
                <a:cs typeface="Maven Pro Bold"/>
              </a:defRPr>
            </a:pPr>
            <a:r>
              <a:rPr sz="1650" b="1">
                <a:solidFill>
                  <a:srgbClr val="0875B4"/>
                </a:solidFill>
                <a:latin typeface="Maven Pro Bold"/>
                <a:ea typeface="Maven Pro Bold"/>
                <a:cs typeface="Maven Pro Bold"/>
              </a:rPr>
              <a:t>SET UP</a:t>
            </a:r>
          </a:p>
        </p:txBody>
      </p:sp>
      <p:sp>
        <p:nvSpPr>
          <p:cNvPr id="12" name="plan-title-1">
            <a:extLst xmlns:a="http://schemas.openxmlformats.org/drawingml/2006/main">
              <a:ext uri="{FF2B5EF4-FFF2-40B4-BE49-F238E27FC236}">
                <a16:creationId xmlns:a16="http://schemas.microsoft.com/office/drawing/2014/main" id="{E11C77A6-2C1B-4666-9DB0-7B66E6038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857625"/>
            <a:ext cx="335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defRPr>
            </a:pPr>
            <a:r>
              <a:rPr sz="2325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rPr>
              <a:t>Same protocol</a:t>
            </a:r>
          </a:p>
        </p:txBody>
      </p:sp>
      <p:sp>
        <p:nvSpPr>
          <p:cNvPr id="13" name="plan-body-1">
            <a:extLst xmlns:a="http://schemas.openxmlformats.org/drawingml/2006/main">
              <a:ext uri="{FF2B5EF4-FFF2-40B4-BE49-F238E27FC236}">
                <a16:creationId xmlns:a16="http://schemas.microsoft.com/office/drawing/2014/main" id="{6ECB88BF-FA97-4F4E-A7AD-583A8B59D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67250"/>
            <a:ext cx="3238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754820"/>
                </a:solidFill>
                <a:latin typeface="Faustina"/>
                <a:ea typeface="Faustina"/>
                <a:cs typeface="Faustina"/>
              </a:defRPr>
            </a:pPr>
            <a:r>
              <a:rPr sz="1725" b="0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Five novice AI reviewers used the same scenarios, prototype images, task wording, and neutral moderator rules. Orders were counterbalanced.</a:t>
            </a:r>
          </a:p>
        </p:txBody>
      </p:sp>
      <p:sp>
        <p:nvSpPr>
          <p:cNvPr id="14" name="plan-card-2">
            <a:extLst xmlns:a="http://schemas.openxmlformats.org/drawingml/2006/main">
              <a:ext uri="{FF2B5EF4-FFF2-40B4-BE49-F238E27FC236}">
                <a16:creationId xmlns:a16="http://schemas.microsoft.com/office/drawing/2014/main" id="{5F89853C-A546-495D-B8A4-FD06B71A7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43250"/>
            <a:ext cx="3810000" cy="3714750"/>
          </a:xfrm>
          <a:prstGeom xmlns:a="http://schemas.openxmlformats.org/drawingml/2006/main" prst="roundRect">
            <a:avLst>
              <a:gd name="adj" fmla="val 3077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EBC6A7"/>
            </a:solidFill>
            <a:prstDash val="solid"/>
          </a:ln>
        </p:spPr>
      </p:sp>
      <p:sp>
        <p:nvSpPr>
          <p:cNvPr id="15" name="plan-rule-2">
            <a:extLst xmlns:a="http://schemas.openxmlformats.org/drawingml/2006/main">
              <a:ext uri="{FF2B5EF4-FFF2-40B4-BE49-F238E27FC236}">
                <a16:creationId xmlns:a16="http://schemas.microsoft.com/office/drawing/2014/main" id="{5AB8B684-9BEA-499B-8934-4688577BF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43250"/>
            <a:ext cx="381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D7A35D"/>
            </a:solidFill>
            <a:prstDash val="solid"/>
          </a:ln>
        </p:spPr>
      </p:sp>
      <p:sp>
        <p:nvSpPr>
          <p:cNvPr id="16" name="plan-label-2">
            <a:extLst xmlns:a="http://schemas.openxmlformats.org/drawingml/2006/main">
              <a:ext uri="{FF2B5EF4-FFF2-40B4-BE49-F238E27FC236}">
                <a16:creationId xmlns:a16="http://schemas.microsoft.com/office/drawing/2014/main" id="{0677271E-AB76-48F3-A68D-A942087C3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429000"/>
            <a:ext cx="3276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7A35D"/>
                </a:solidFill>
                <a:latin typeface="Maven Pro Bold"/>
                <a:ea typeface="Maven Pro Bold"/>
                <a:cs typeface="Maven Pro Bold"/>
              </a:defRPr>
            </a:pPr>
            <a:r>
              <a:rPr sz="1650" b="1">
                <a:solidFill>
                  <a:srgbClr val="D7A35D"/>
                </a:solidFill>
                <a:latin typeface="Maven Pro Bold"/>
                <a:ea typeface="Maven Pro Bold"/>
                <a:cs typeface="Maven Pro Bold"/>
              </a:rPr>
              <a:t>TEST</a:t>
            </a:r>
          </a:p>
        </p:txBody>
      </p:sp>
      <p:sp>
        <p:nvSpPr>
          <p:cNvPr id="17" name="plan-title-2">
            <a:extLst xmlns:a="http://schemas.openxmlformats.org/drawingml/2006/main">
              <a:ext uri="{FF2B5EF4-FFF2-40B4-BE49-F238E27FC236}">
                <a16:creationId xmlns:a16="http://schemas.microsoft.com/office/drawing/2014/main" id="{DF3774FC-BFBF-45A6-97E6-E7E9C8D7A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857625"/>
            <a:ext cx="335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defRPr>
            </a:pPr>
            <a:r>
              <a:rPr sz="2325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rPr>
              <a:t>Observe behavior</a:t>
            </a:r>
          </a:p>
        </p:txBody>
      </p:sp>
      <p:sp>
        <p:nvSpPr>
          <p:cNvPr id="18" name="plan-body-2">
            <a:extLst xmlns:a="http://schemas.openxmlformats.org/drawingml/2006/main">
              <a:ext uri="{FF2B5EF4-FFF2-40B4-BE49-F238E27FC236}">
                <a16:creationId xmlns:a16="http://schemas.microsoft.com/office/drawing/2014/main" id="{041D119E-D11C-46BB-86FB-F78D33B79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667250"/>
            <a:ext cx="3238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754820"/>
                </a:solidFill>
                <a:latin typeface="Faustina"/>
                <a:ea typeface="Faustina"/>
                <a:cs typeface="Faustina"/>
              </a:defRPr>
            </a:pPr>
            <a:r>
              <a:rPr sz="1725" b="0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Two scenarios · six alternatives · 19 task definitions per reviewer. Code first action, comprehension, next step, trust, recovery, and intervention.</a:t>
            </a:r>
          </a:p>
        </p:txBody>
      </p:sp>
      <p:sp>
        <p:nvSpPr>
          <p:cNvPr id="19" name="plan-card-3">
            <a:extLst xmlns:a="http://schemas.openxmlformats.org/drawingml/2006/main">
              <a:ext uri="{FF2B5EF4-FFF2-40B4-BE49-F238E27FC236}">
                <a16:creationId xmlns:a16="http://schemas.microsoft.com/office/drawing/2014/main" id="{3E90C059-71FE-4943-8057-6771191E2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143250"/>
            <a:ext cx="3810000" cy="3714750"/>
          </a:xfrm>
          <a:prstGeom xmlns:a="http://schemas.openxmlformats.org/drawingml/2006/main" prst="roundRect">
            <a:avLst>
              <a:gd name="adj" fmla="val 3077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EBC6A7"/>
            </a:solidFill>
            <a:prstDash val="solid"/>
          </a:ln>
        </p:spPr>
      </p:sp>
      <p:sp>
        <p:nvSpPr>
          <p:cNvPr id="20" name="plan-rule-3">
            <a:extLst xmlns:a="http://schemas.openxmlformats.org/drawingml/2006/main">
              <a:ext uri="{FF2B5EF4-FFF2-40B4-BE49-F238E27FC236}">
                <a16:creationId xmlns:a16="http://schemas.microsoft.com/office/drawing/2014/main" id="{80216DC0-1E0F-45DF-82EB-B64B277A9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143250"/>
            <a:ext cx="381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6E9B7B"/>
            </a:solidFill>
            <a:prstDash val="solid"/>
          </a:ln>
        </p:spPr>
      </p:sp>
      <p:sp>
        <p:nvSpPr>
          <p:cNvPr id="21" name="plan-label-3">
            <a:extLst xmlns:a="http://schemas.openxmlformats.org/drawingml/2006/main">
              <a:ext uri="{FF2B5EF4-FFF2-40B4-BE49-F238E27FC236}">
                <a16:creationId xmlns:a16="http://schemas.microsoft.com/office/drawing/2014/main" id="{569E6D22-DEF9-42CA-A2DB-6E2B35930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3429000"/>
            <a:ext cx="3276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9B7B"/>
                </a:solidFill>
                <a:latin typeface="Maven Pro Bold"/>
                <a:ea typeface="Maven Pro Bold"/>
                <a:cs typeface="Maven Pro Bold"/>
              </a:defRPr>
            </a:pPr>
            <a:r>
              <a:rPr sz="1650" b="1">
                <a:solidFill>
                  <a:srgbClr val="6E9B7B"/>
                </a:solidFill>
                <a:latin typeface="Maven Pro Bold"/>
                <a:ea typeface="Maven Pro Bold"/>
                <a:cs typeface="Maven Pro Bold"/>
              </a:rPr>
              <a:t>SYNTHESIZE</a:t>
            </a:r>
          </a:p>
        </p:txBody>
      </p:sp>
      <p:sp>
        <p:nvSpPr>
          <p:cNvPr id="22" name="plan-title-3">
            <a:extLst xmlns:a="http://schemas.openxmlformats.org/drawingml/2006/main">
              <a:ext uri="{FF2B5EF4-FFF2-40B4-BE49-F238E27FC236}">
                <a16:creationId xmlns:a16="http://schemas.microsoft.com/office/drawing/2014/main" id="{C84D9B16-A0E5-4EA9-8FAF-F01D98D59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9100" y="3857625"/>
            <a:ext cx="335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defRPr>
            </a:pPr>
            <a:r>
              <a:rPr sz="2325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rPr>
              <a:t>Choose PA4</a:t>
            </a:r>
          </a:p>
        </p:txBody>
      </p:sp>
      <p:sp>
        <p:nvSpPr>
          <p:cNvPr id="23" name="plan-body-3">
            <a:extLst xmlns:a="http://schemas.openxmlformats.org/drawingml/2006/main">
              <a:ext uri="{FF2B5EF4-FFF2-40B4-BE49-F238E27FC236}">
                <a16:creationId xmlns:a16="http://schemas.microsoft.com/office/drawing/2014/main" id="{EA96DFB2-B93C-4BB0-AEA2-0EA0A2C13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667250"/>
            <a:ext cx="3238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754820"/>
                </a:solidFill>
                <a:latin typeface="Faustina"/>
                <a:ea typeface="Faustina"/>
                <a:cs typeface="Faustina"/>
              </a:defRPr>
            </a:pPr>
            <a:r>
              <a:rPr sz="1725" b="0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Code Independent Success / Hesitation / Failure, group recurring issues, rank severity and recurrence, then select a feasible direction.</a:t>
            </a:r>
          </a:p>
        </p:txBody>
      </p:sp>
    </p:spTree>
    <p:extLst>
      <p:ext uri="{BB962C8B-B14F-4D97-AF65-F5344CB8AC3E}">
        <p14:creationId xmlns:p14="http://schemas.microsoft.com/office/powerpoint/2010/main" val="26901467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EFD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20F9B505-DC49-4D2B-AAE9-839997B8B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1">
            <a:off x="12337292" y="-876300"/>
            <a:ext cx="6103108" cy="4114800"/>
          </a:xfrm>
          <a:custGeom xmlns:a="http://schemas.openxmlformats.org/drawingml/2006/main">
            <a:rect l="l" t="t" r="r" b="b"/>
            <a:pathLst>
              <a:path w="6103108" h="4114800">
                <a:moveTo>
                  <a:pt x="610310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103108" y="0"/>
                </a:lnTo>
                <a:lnTo>
                  <a:pt x="6103108" y="41148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c9a7a37812f4158">
              <a:extLst>
                <a:ext uri="{96DAC541-7B7A-43D3-8B79-37D633B846F1}">
                  <asvg:svgBlip xmlns:asvg="http://schemas.microsoft.com/office/drawing/2016/SVG/main" r:embed="R05703cf61dfb4af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35C670F0-4B63-4F1D-A491-CAE01F8F0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407223" y="-302623"/>
            <a:ext cx="5040401" cy="4114800"/>
          </a:xfrm>
          <a:custGeom xmlns:a="http://schemas.openxmlformats.org/drawingml/2006/main">
            <a:rect l="l" t="t" r="r" b="b"/>
            <a:pathLst>
              <a:path w="5040401" h="4114800">
                <a:moveTo>
                  <a:pt x="0" y="0"/>
                </a:moveTo>
                <a:lnTo>
                  <a:pt x="5040401" y="0"/>
                </a:lnTo>
                <a:lnTo>
                  <a:pt x="504040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b55b584b549431c">
              <a:extLst>
                <a:ext uri="{96DAC541-7B7A-43D3-8B79-37D633B846F1}">
                  <asvg:svgBlip xmlns:asvg="http://schemas.microsoft.com/office/drawing/2016/SVG/main" r:embed="R17e6cc21de134af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092B8660-7021-4F20-B99D-9D9A6BE5E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826735" y="6747939"/>
            <a:ext cx="6103108" cy="4114800"/>
          </a:xfrm>
          <a:custGeom xmlns:a="http://schemas.openxmlformats.org/drawingml/2006/main">
            <a:rect l="l" t="t" r="r" b="b"/>
            <a:pathLst>
              <a:path w="6103108" h="4114800">
                <a:moveTo>
                  <a:pt x="0" y="0"/>
                </a:moveTo>
                <a:lnTo>
                  <a:pt x="6103108" y="0"/>
                </a:lnTo>
                <a:lnTo>
                  <a:pt x="61031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c9a7a37812f4158">
              <a:extLst>
                <a:ext uri="{96DAC541-7B7A-43D3-8B79-37D633B846F1}">
                  <asvg:svgBlip xmlns:asvg="http://schemas.microsoft.com/office/drawing/2016/SVG/main" r:embed="R05703cf61dfb4af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9E8FE7CA-5847-451E-95EF-4E6D72720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0130" y="6114049"/>
            <a:ext cx="2369825" cy="2300885"/>
          </a:xfrm>
          <a:custGeom xmlns:a="http://schemas.openxmlformats.org/drawingml/2006/main">
            <a:rect l="l" t="t" r="r" b="b"/>
            <a:pathLst>
              <a:path w="2369825" h="2300885">
                <a:moveTo>
                  <a:pt x="0" y="0"/>
                </a:moveTo>
                <a:lnTo>
                  <a:pt x="2369825" y="0"/>
                </a:lnTo>
                <a:lnTo>
                  <a:pt x="2369825" y="2300885"/>
                </a:lnTo>
                <a:lnTo>
                  <a:pt x="0" y="230088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9e96d807f9c45c2">
              <a:extLst>
                <a:ext uri="{96DAC541-7B7A-43D3-8B79-37D633B846F1}">
                  <asvg:svgBlip xmlns:asvg="http://schemas.microsoft.com/office/drawing/2016/SVG/main" r:embed="Ree6f95a97cff4e4a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1B2847FB-E394-43E2-AC93-4A288A249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80533" y="1302570"/>
            <a:ext cx="13526934" cy="8444484"/>
          </a:xfrm>
          <a:custGeom xmlns:a="http://schemas.openxmlformats.org/drawingml/2006/main">
            <a:rect l="l" t="t" r="r" b="b"/>
            <a:pathLst>
              <a:path w="13526934" h="8444484">
                <a:moveTo>
                  <a:pt x="0" y="0"/>
                </a:moveTo>
                <a:lnTo>
                  <a:pt x="13526934" y="0"/>
                </a:lnTo>
                <a:lnTo>
                  <a:pt x="13526934" y="8444484"/>
                </a:lnTo>
                <a:lnTo>
                  <a:pt x="0" y="844448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03226d4f33b4539">
              <a:extLst>
                <a:ext uri="{96DAC541-7B7A-43D3-8B79-37D633B846F1}">
                  <asvg:svgBlip xmlns:asvg="http://schemas.microsoft.com/office/drawing/2016/SVG/main" r:embed="Rc66f780c9905496b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DBEF4635-F1DF-419E-8955-7969A85FD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0800" y="272440"/>
            <a:ext cx="2187357" cy="1069709"/>
          </a:xfrm>
          <a:custGeom xmlns:a="http://schemas.openxmlformats.org/drawingml/2006/main">
            <a:rect l="l" t="t" r="r" b="b"/>
            <a:pathLst>
              <a:path w="2187357" h="1069709">
                <a:moveTo>
                  <a:pt x="0" y="0"/>
                </a:moveTo>
                <a:lnTo>
                  <a:pt x="2187356" y="0"/>
                </a:lnTo>
                <a:lnTo>
                  <a:pt x="2187356" y="1069709"/>
                </a:lnTo>
                <a:lnTo>
                  <a:pt x="0" y="106970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d9a3ec6a40b4865"/>
            <a:stretch>
              <a:fillRect l="0" t="-53474" r="0" b="-51006"/>
            </a:stretch>
          </a:blipFill>
        </p:spPr>
      </p:sp>
      <p:sp>
        <p:nvSpPr>
          <p:cNvPr id="10" name="revised-title">
            <a:extLst xmlns:a="http://schemas.openxmlformats.org/drawingml/2006/main">
              <a:ext uri="{FF2B5EF4-FFF2-40B4-BE49-F238E27FC236}">
                <a16:creationId xmlns:a16="http://schemas.microsoft.com/office/drawing/2014/main" id="{AC8D20F3-A95E-4A50-8DBE-99D3E56FB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181100"/>
            <a:ext cx="1257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00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defRPr>
            </a:pPr>
            <a:r>
              <a:rPr sz="5400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rPr>
              <a:t>FIFA Results: status clarity mattered</a:t>
            </a:r>
          </a:p>
        </p:txBody>
      </p:sp>
      <p:sp>
        <p:nvSpPr>
          <p:cNvPr id="11" name="fifa-results-context">
            <a:extLst xmlns:a="http://schemas.openxmlformats.org/drawingml/2006/main">
              <a:ext uri="{FF2B5EF4-FFF2-40B4-BE49-F238E27FC236}">
                <a16:creationId xmlns:a16="http://schemas.microsoft.com/office/drawing/2014/main" id="{310473DC-A2B5-4AC4-AF10-B80A58CBE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86000"/>
            <a:ext cx="1143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9B7258"/>
                </a:solidFill>
                <a:latin typeface="Faustina"/>
                <a:ea typeface="Faustina"/>
                <a:cs typeface="Faustina"/>
              </a:defRPr>
            </a:pPr>
            <a:r>
              <a:rPr sz="1575" b="0">
                <a:solidFill>
                  <a:srgbClr val="9B7258"/>
                </a:solidFill>
                <a:latin typeface="Faustina"/>
                <a:ea typeface="Faustina"/>
                <a:cs typeface="Faustina"/>
              </a:rPr>
              <a:t>50 task outcomes per alternative · preference supports, not decides</a:t>
            </a:r>
          </a:p>
        </p:txBody>
      </p:sp>
      <p:sp>
        <p:nvSpPr>
          <p:cNvPr id="12" name="fifa-results-legend-swatch-1">
            <a:extLst xmlns:a="http://schemas.openxmlformats.org/drawingml/2006/main">
              <a:ext uri="{FF2B5EF4-FFF2-40B4-BE49-F238E27FC236}">
                <a16:creationId xmlns:a16="http://schemas.microsoft.com/office/drawing/2014/main" id="{ED4FA56A-96E5-4D99-B0A2-FCC0D7351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860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B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ifa-results-legend-label-1">
            <a:extLst xmlns:a="http://schemas.openxmlformats.org/drawingml/2006/main">
              <a:ext uri="{FF2B5EF4-FFF2-40B4-BE49-F238E27FC236}">
                <a16:creationId xmlns:a16="http://schemas.microsoft.com/office/drawing/2014/main" id="{C7B4D749-14C6-4538-B41E-8B7B22924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61937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54820"/>
                </a:solidFill>
                <a:latin typeface="Faustina"/>
                <a:ea typeface="Faustina"/>
                <a:cs typeface="Faustina"/>
              </a:defRPr>
            </a:pPr>
            <a:r>
              <a:rPr sz="1725" b="0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Independent Success</a:t>
            </a:r>
          </a:p>
        </p:txBody>
      </p:sp>
      <p:sp>
        <p:nvSpPr>
          <p:cNvPr id="14" name="fifa-results-legend-swatch-2">
            <a:extLst xmlns:a="http://schemas.openxmlformats.org/drawingml/2006/main">
              <a:ext uri="{FF2B5EF4-FFF2-40B4-BE49-F238E27FC236}">
                <a16:creationId xmlns:a16="http://schemas.microsoft.com/office/drawing/2014/main" id="{97C31EB7-F1E6-49C8-BA62-AA417F448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6860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3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ifa-results-legend-label-2">
            <a:extLst xmlns:a="http://schemas.openxmlformats.org/drawingml/2006/main">
              <a:ext uri="{FF2B5EF4-FFF2-40B4-BE49-F238E27FC236}">
                <a16:creationId xmlns:a16="http://schemas.microsoft.com/office/drawing/2014/main" id="{B600621F-E594-4C57-9A13-14A69432A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61937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54820"/>
                </a:solidFill>
                <a:latin typeface="Faustina"/>
                <a:ea typeface="Faustina"/>
                <a:cs typeface="Faustina"/>
              </a:defRPr>
            </a:pPr>
            <a:r>
              <a:rPr sz="1725" b="0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Success With Hesitation</a:t>
            </a:r>
          </a:p>
        </p:txBody>
      </p:sp>
      <p:sp>
        <p:nvSpPr>
          <p:cNvPr id="16" name="fifa-results-legend-swatch-3">
            <a:extLst xmlns:a="http://schemas.openxmlformats.org/drawingml/2006/main">
              <a:ext uri="{FF2B5EF4-FFF2-40B4-BE49-F238E27FC236}">
                <a16:creationId xmlns:a16="http://schemas.microsoft.com/office/drawing/2014/main" id="{96F6CBB0-D9CB-4F39-A778-EEC595326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6860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F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ifa-results-legend-label-3">
            <a:extLst xmlns:a="http://schemas.openxmlformats.org/drawingml/2006/main">
              <a:ext uri="{FF2B5EF4-FFF2-40B4-BE49-F238E27FC236}">
                <a16:creationId xmlns:a16="http://schemas.microsoft.com/office/drawing/2014/main" id="{151DAD62-78D3-4628-91A9-7F5985E4B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61937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54820"/>
                </a:solidFill>
                <a:latin typeface="Faustina"/>
                <a:ea typeface="Faustina"/>
                <a:cs typeface="Faustina"/>
              </a:defRPr>
            </a:pPr>
            <a:r>
              <a:rPr sz="1725" b="0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Failure</a:t>
            </a:r>
          </a:p>
        </p:txBody>
      </p:sp>
      <p:sp>
        <p:nvSpPr>
          <p:cNvPr id="18" name="fifa-results-row-label-1">
            <a:extLst xmlns:a="http://schemas.openxmlformats.org/drawingml/2006/main">
              <a:ext uri="{FF2B5EF4-FFF2-40B4-BE49-F238E27FC236}">
                <a16:creationId xmlns:a16="http://schemas.microsoft.com/office/drawing/2014/main" id="{AED5D876-63F3-465D-95E9-86DA2C488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25755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175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defRPr>
            </a:pPr>
            <a:r>
              <a:rPr sz="2175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rPr>
              <a:t>Alt 1 Status</a:t>
            </a:r>
          </a:p>
        </p:txBody>
      </p:sp>
      <p:sp>
        <p:nvSpPr>
          <p:cNvPr id="19" name="fifa-results-bar-1-1">
            <a:extLst xmlns:a="http://schemas.openxmlformats.org/drawingml/2006/main">
              <a:ext uri="{FF2B5EF4-FFF2-40B4-BE49-F238E27FC236}">
                <a16:creationId xmlns:a16="http://schemas.microsoft.com/office/drawing/2014/main" id="{0B7C66C3-B30F-40B6-9999-B3613E6BD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38500"/>
            <a:ext cx="490156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B7B"/>
          </a:solidFill>
          <a:ln xmlns:a="http://schemas.openxmlformats.org/drawingml/2006/main" w="19050">
            <a:solidFill>
              <a:srgbClr val="FFF9F0"/>
            </a:solidFill>
            <a:prstDash val="solid"/>
          </a:ln>
        </p:spPr>
      </p:sp>
      <p:sp>
        <p:nvSpPr>
          <p:cNvPr id="20" name="fifa-results-value-1-1">
            <a:extLst xmlns:a="http://schemas.openxmlformats.org/drawingml/2006/main">
              <a:ext uri="{FF2B5EF4-FFF2-40B4-BE49-F238E27FC236}">
                <a16:creationId xmlns:a16="http://schemas.microsoft.com/office/drawing/2014/main" id="{0915BB82-98CF-45A1-8069-A198DE6CF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28975"/>
            <a:ext cx="490156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9F0"/>
                </a:solidFill>
                <a:latin typeface="Maven Pro Bold"/>
                <a:ea typeface="Maven Pro Bold"/>
                <a:cs typeface="Maven Pro Bold"/>
              </a:defRPr>
            </a:pPr>
            <a:r>
              <a:rPr sz="1800" b="1">
                <a:solidFill>
                  <a:srgbClr val="FFF9F0"/>
                </a:solidFill>
                <a:latin typeface="Maven Pro Bold"/>
                <a:ea typeface="Maven Pro Bold"/>
                <a:cs typeface="Maven Pro Bold"/>
              </a:rPr>
              <a:t>31</a:t>
            </a:r>
          </a:p>
        </p:txBody>
      </p:sp>
      <p:sp>
        <p:nvSpPr>
          <p:cNvPr id="21" name="fifa-results-bar-1-2">
            <a:extLst xmlns:a="http://schemas.openxmlformats.org/drawingml/2006/main">
              <a:ext uri="{FF2B5EF4-FFF2-40B4-BE49-F238E27FC236}">
                <a16:creationId xmlns:a16="http://schemas.microsoft.com/office/drawing/2014/main" id="{35FEEFD0-3E39-421D-A629-D58ACF18D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1815" y="3238500"/>
            <a:ext cx="173926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35D"/>
          </a:solidFill>
          <a:ln xmlns:a="http://schemas.openxmlformats.org/drawingml/2006/main" w="19050">
            <a:solidFill>
              <a:srgbClr val="FFF9F0"/>
            </a:solidFill>
            <a:prstDash val="solid"/>
          </a:ln>
        </p:spPr>
      </p:sp>
      <p:sp>
        <p:nvSpPr>
          <p:cNvPr id="22" name="fifa-results-value-1-2">
            <a:extLst xmlns:a="http://schemas.openxmlformats.org/drawingml/2006/main">
              <a:ext uri="{FF2B5EF4-FFF2-40B4-BE49-F238E27FC236}">
                <a16:creationId xmlns:a16="http://schemas.microsoft.com/office/drawing/2014/main" id="{FAB872FB-729C-4125-8094-E7A8DD681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1815" y="3228975"/>
            <a:ext cx="173926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defRPr>
            </a:pPr>
            <a:r>
              <a:rPr sz="1800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rPr>
              <a:t>11</a:t>
            </a:r>
          </a:p>
        </p:txBody>
      </p:sp>
      <p:sp>
        <p:nvSpPr>
          <p:cNvPr id="23" name="fifa-results-bar-1-3">
            <a:extLst xmlns:a="http://schemas.openxmlformats.org/drawingml/2006/main">
              <a:ext uri="{FF2B5EF4-FFF2-40B4-BE49-F238E27FC236}">
                <a16:creationId xmlns:a16="http://schemas.microsoft.com/office/drawing/2014/main" id="{0158D873-6839-4A84-9689-5AC712CE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1080" y="3238500"/>
            <a:ext cx="126492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F62"/>
          </a:solidFill>
          <a:ln xmlns:a="http://schemas.openxmlformats.org/drawingml/2006/main" w="19050">
            <a:solidFill>
              <a:srgbClr val="FFF9F0"/>
            </a:solidFill>
            <a:prstDash val="solid"/>
          </a:ln>
        </p:spPr>
      </p:sp>
      <p:sp>
        <p:nvSpPr>
          <p:cNvPr id="24" name="fifa-results-value-1-3">
            <a:extLst xmlns:a="http://schemas.openxmlformats.org/drawingml/2006/main">
              <a:ext uri="{FF2B5EF4-FFF2-40B4-BE49-F238E27FC236}">
                <a16:creationId xmlns:a16="http://schemas.microsoft.com/office/drawing/2014/main" id="{7B4D4592-FA61-4AED-A89E-D5B8D6E14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1080" y="3228975"/>
            <a:ext cx="12649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9F0"/>
                </a:solidFill>
                <a:latin typeface="Maven Pro Bold"/>
                <a:ea typeface="Maven Pro Bold"/>
                <a:cs typeface="Maven Pro Bold"/>
              </a:defRPr>
            </a:pPr>
            <a:r>
              <a:rPr sz="1800" b="1">
                <a:solidFill>
                  <a:srgbClr val="FFF9F0"/>
                </a:solidFill>
                <a:latin typeface="Maven Pro Bold"/>
                <a:ea typeface="Maven Pro Bold"/>
                <a:cs typeface="Maven Pro Bold"/>
              </a:rPr>
              <a:t>8</a:t>
            </a:r>
          </a:p>
        </p:txBody>
      </p:sp>
      <p:sp>
        <p:nvSpPr>
          <p:cNvPr id="25" name="fifa-results-preference-1">
            <a:extLst xmlns:a="http://schemas.openxmlformats.org/drawingml/2006/main">
              <a:ext uri="{FF2B5EF4-FFF2-40B4-BE49-F238E27FC236}">
                <a16:creationId xmlns:a16="http://schemas.microsoft.com/office/drawing/2014/main" id="{60DA3B69-4FFF-42EB-8632-30EF7F812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3286125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defRPr>
            </a:pPr>
            <a:r>
              <a:rPr sz="1950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rPr>
              <a:t>3/5 preferred</a:t>
            </a:r>
          </a:p>
        </p:txBody>
      </p:sp>
      <p:sp>
        <p:nvSpPr>
          <p:cNvPr id="26" name="fifa-results-row-label-2">
            <a:extLst xmlns:a="http://schemas.openxmlformats.org/drawingml/2006/main">
              <a:ext uri="{FF2B5EF4-FFF2-40B4-BE49-F238E27FC236}">
                <a16:creationId xmlns:a16="http://schemas.microsoft.com/office/drawing/2014/main" id="{8293F40E-3ABF-4E16-88F2-851F65EAD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40055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175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defRPr>
            </a:pPr>
            <a:r>
              <a:rPr sz="2175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rPr>
              <a:t>Alt 2 Timeline</a:t>
            </a:r>
          </a:p>
        </p:txBody>
      </p:sp>
      <p:sp>
        <p:nvSpPr>
          <p:cNvPr id="27" name="fifa-results-bar-2-1">
            <a:extLst xmlns:a="http://schemas.openxmlformats.org/drawingml/2006/main">
              <a:ext uri="{FF2B5EF4-FFF2-40B4-BE49-F238E27FC236}">
                <a16:creationId xmlns:a16="http://schemas.microsoft.com/office/drawing/2014/main" id="{DD33967F-0147-4823-AF86-D9C12BA1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381500"/>
            <a:ext cx="411099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B7B"/>
          </a:solidFill>
          <a:ln xmlns:a="http://schemas.openxmlformats.org/drawingml/2006/main" w="19050">
            <a:solidFill>
              <a:srgbClr val="FFF9F0"/>
            </a:solidFill>
            <a:prstDash val="solid"/>
          </a:ln>
        </p:spPr>
      </p:sp>
      <p:sp>
        <p:nvSpPr>
          <p:cNvPr id="28" name="fifa-results-value-2-1">
            <a:extLst xmlns:a="http://schemas.openxmlformats.org/drawingml/2006/main">
              <a:ext uri="{FF2B5EF4-FFF2-40B4-BE49-F238E27FC236}">
                <a16:creationId xmlns:a16="http://schemas.microsoft.com/office/drawing/2014/main" id="{55FD9C58-15F5-450E-AB1A-5FE166838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371975"/>
            <a:ext cx="411099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9F0"/>
                </a:solidFill>
                <a:latin typeface="Maven Pro Bold"/>
                <a:ea typeface="Maven Pro Bold"/>
                <a:cs typeface="Maven Pro Bold"/>
              </a:defRPr>
            </a:pPr>
            <a:r>
              <a:rPr sz="1800" b="1">
                <a:solidFill>
                  <a:srgbClr val="FFF9F0"/>
                </a:solidFill>
                <a:latin typeface="Maven Pro Bold"/>
                <a:ea typeface="Maven Pro Bold"/>
                <a:cs typeface="Maven Pro Bold"/>
              </a:rPr>
              <a:t>26</a:t>
            </a:r>
          </a:p>
        </p:txBody>
      </p:sp>
      <p:sp>
        <p:nvSpPr>
          <p:cNvPr id="29" name="fifa-results-bar-2-2">
            <a:extLst xmlns:a="http://schemas.openxmlformats.org/drawingml/2006/main">
              <a:ext uri="{FF2B5EF4-FFF2-40B4-BE49-F238E27FC236}">
                <a16:creationId xmlns:a16="http://schemas.microsoft.com/office/drawing/2014/main" id="{1EB97114-7AD7-4401-8779-3A129A58C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40" y="4381500"/>
            <a:ext cx="142303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35D"/>
          </a:solidFill>
          <a:ln xmlns:a="http://schemas.openxmlformats.org/drawingml/2006/main" w="19050">
            <a:solidFill>
              <a:srgbClr val="FFF9F0"/>
            </a:solidFill>
            <a:prstDash val="solid"/>
          </a:ln>
        </p:spPr>
      </p:sp>
      <p:sp>
        <p:nvSpPr>
          <p:cNvPr id="30" name="fifa-results-value-2-2">
            <a:extLst xmlns:a="http://schemas.openxmlformats.org/drawingml/2006/main">
              <a:ext uri="{FF2B5EF4-FFF2-40B4-BE49-F238E27FC236}">
                <a16:creationId xmlns:a16="http://schemas.microsoft.com/office/drawing/2014/main" id="{2A439E12-6DA3-42D1-9059-ACC47AC9F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40" y="4371975"/>
            <a:ext cx="142303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defRPr>
            </a:pPr>
            <a:r>
              <a:rPr sz="1800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rPr>
              <a:t>9</a:t>
            </a:r>
          </a:p>
        </p:txBody>
      </p:sp>
      <p:sp>
        <p:nvSpPr>
          <p:cNvPr id="31" name="fifa-results-bar-2-3">
            <a:extLst xmlns:a="http://schemas.openxmlformats.org/drawingml/2006/main">
              <a:ext uri="{FF2B5EF4-FFF2-40B4-BE49-F238E27FC236}">
                <a16:creationId xmlns:a16="http://schemas.microsoft.com/office/drawing/2014/main" id="{4C2A62A1-E9A8-41EF-942E-5E377652E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4381500"/>
            <a:ext cx="23717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F62"/>
          </a:solidFill>
          <a:ln xmlns:a="http://schemas.openxmlformats.org/drawingml/2006/main" w="19050">
            <a:solidFill>
              <a:srgbClr val="FFF9F0"/>
            </a:solidFill>
            <a:prstDash val="solid"/>
          </a:ln>
        </p:spPr>
      </p:sp>
      <p:sp>
        <p:nvSpPr>
          <p:cNvPr id="32" name="fifa-results-value-2-3">
            <a:extLst xmlns:a="http://schemas.openxmlformats.org/drawingml/2006/main">
              <a:ext uri="{FF2B5EF4-FFF2-40B4-BE49-F238E27FC236}">
                <a16:creationId xmlns:a16="http://schemas.microsoft.com/office/drawing/2014/main" id="{C43837A0-7457-4465-999D-DC621378D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4371975"/>
            <a:ext cx="2371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9F0"/>
                </a:solidFill>
                <a:latin typeface="Maven Pro Bold"/>
                <a:ea typeface="Maven Pro Bold"/>
                <a:cs typeface="Maven Pro Bold"/>
              </a:defRPr>
            </a:pPr>
            <a:r>
              <a:rPr sz="1800" b="1">
                <a:solidFill>
                  <a:srgbClr val="FFF9F0"/>
                </a:solidFill>
                <a:latin typeface="Maven Pro Bold"/>
                <a:ea typeface="Maven Pro Bold"/>
                <a:cs typeface="Maven Pro Bold"/>
              </a:rPr>
              <a:t>15</a:t>
            </a:r>
          </a:p>
        </p:txBody>
      </p:sp>
      <p:sp>
        <p:nvSpPr>
          <p:cNvPr id="33" name="fifa-results-preference-2">
            <a:extLst xmlns:a="http://schemas.openxmlformats.org/drawingml/2006/main">
              <a:ext uri="{FF2B5EF4-FFF2-40B4-BE49-F238E27FC236}">
                <a16:creationId xmlns:a16="http://schemas.microsoft.com/office/drawing/2014/main" id="{4A1BB4E7-2FFF-4C02-9013-50753FC3B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4429125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defRPr>
            </a:pPr>
            <a:r>
              <a:rPr sz="1950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rPr>
              <a:t>2/5 preferred</a:t>
            </a:r>
          </a:p>
        </p:txBody>
      </p:sp>
      <p:sp>
        <p:nvSpPr>
          <p:cNvPr id="34" name="fifa-results-row-label-3">
            <a:extLst xmlns:a="http://schemas.openxmlformats.org/drawingml/2006/main">
              <a:ext uri="{FF2B5EF4-FFF2-40B4-BE49-F238E27FC236}">
                <a16:creationId xmlns:a16="http://schemas.microsoft.com/office/drawing/2014/main" id="{1F8BAB24-E8E9-401A-B9B7-6505BEE7C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54355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175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defRPr>
            </a:pPr>
            <a:r>
              <a:rPr sz="2175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rPr>
              <a:t>Alt 3 Actions</a:t>
            </a:r>
          </a:p>
        </p:txBody>
      </p:sp>
      <p:sp>
        <p:nvSpPr>
          <p:cNvPr id="35" name="fifa-results-bar-3-1">
            <a:extLst xmlns:a="http://schemas.openxmlformats.org/drawingml/2006/main">
              <a:ext uri="{FF2B5EF4-FFF2-40B4-BE49-F238E27FC236}">
                <a16:creationId xmlns:a16="http://schemas.microsoft.com/office/drawing/2014/main" id="{63A16B8A-01A3-4225-9841-A5A342D86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524500"/>
            <a:ext cx="585025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B7B"/>
          </a:solidFill>
          <a:ln xmlns:a="http://schemas.openxmlformats.org/drawingml/2006/main" w="19050">
            <a:solidFill>
              <a:srgbClr val="FFF9F0"/>
            </a:solidFill>
            <a:prstDash val="solid"/>
          </a:ln>
        </p:spPr>
      </p:sp>
      <p:sp>
        <p:nvSpPr>
          <p:cNvPr id="36" name="fifa-results-value-3-1">
            <a:extLst xmlns:a="http://schemas.openxmlformats.org/drawingml/2006/main">
              <a:ext uri="{FF2B5EF4-FFF2-40B4-BE49-F238E27FC236}">
                <a16:creationId xmlns:a16="http://schemas.microsoft.com/office/drawing/2014/main" id="{1E3B5986-6171-4479-8AAC-42178C19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514975"/>
            <a:ext cx="585025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9F0"/>
                </a:solidFill>
                <a:latin typeface="Maven Pro Bold"/>
                <a:ea typeface="Maven Pro Bold"/>
                <a:cs typeface="Maven Pro Bold"/>
              </a:defRPr>
            </a:pPr>
            <a:r>
              <a:rPr sz="1800" b="1">
                <a:solidFill>
                  <a:srgbClr val="FFF9F0"/>
                </a:solidFill>
                <a:latin typeface="Maven Pro Bold"/>
                <a:ea typeface="Maven Pro Bold"/>
                <a:cs typeface="Maven Pro Bold"/>
              </a:rPr>
              <a:t>37</a:t>
            </a:r>
          </a:p>
        </p:txBody>
      </p:sp>
      <p:sp>
        <p:nvSpPr>
          <p:cNvPr id="37" name="fifa-results-bar-3-2">
            <a:extLst xmlns:a="http://schemas.openxmlformats.org/drawingml/2006/main">
              <a:ext uri="{FF2B5EF4-FFF2-40B4-BE49-F238E27FC236}">
                <a16:creationId xmlns:a16="http://schemas.microsoft.com/office/drawing/2014/main" id="{974C927A-90CC-4879-B905-2DF8931BB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0505" y="5524500"/>
            <a:ext cx="47434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35D"/>
          </a:solidFill>
          <a:ln xmlns:a="http://schemas.openxmlformats.org/drawingml/2006/main" w="19050">
            <a:solidFill>
              <a:srgbClr val="FFF9F0"/>
            </a:solidFill>
            <a:prstDash val="solid"/>
          </a:ln>
        </p:spPr>
      </p:sp>
      <p:sp>
        <p:nvSpPr>
          <p:cNvPr id="38" name="fifa-results-value-3-2">
            <a:extLst xmlns:a="http://schemas.openxmlformats.org/drawingml/2006/main">
              <a:ext uri="{FF2B5EF4-FFF2-40B4-BE49-F238E27FC236}">
                <a16:creationId xmlns:a16="http://schemas.microsoft.com/office/drawing/2014/main" id="{FE79E679-9617-424B-836F-1D13E8BD8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55149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defRPr>
            </a:pPr>
            <a:r>
              <a:rPr sz="1800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rPr>
              <a:t>3</a:t>
            </a:r>
          </a:p>
        </p:txBody>
      </p:sp>
      <p:sp>
        <p:nvSpPr>
          <p:cNvPr id="39" name="fifa-results-bar-3-3">
            <a:extLst xmlns:a="http://schemas.openxmlformats.org/drawingml/2006/main">
              <a:ext uri="{FF2B5EF4-FFF2-40B4-BE49-F238E27FC236}">
                <a16:creationId xmlns:a16="http://schemas.microsoft.com/office/drawing/2014/main" id="{2450F140-0C6E-44EC-8269-A2F55EE6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5524500"/>
            <a:ext cx="1581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F62"/>
          </a:solidFill>
          <a:ln xmlns:a="http://schemas.openxmlformats.org/drawingml/2006/main" w="19050">
            <a:solidFill>
              <a:srgbClr val="FFF9F0"/>
            </a:solidFill>
            <a:prstDash val="solid"/>
          </a:ln>
        </p:spPr>
      </p:sp>
      <p:sp>
        <p:nvSpPr>
          <p:cNvPr id="40" name="fifa-results-value-3-3">
            <a:extLst xmlns:a="http://schemas.openxmlformats.org/drawingml/2006/main">
              <a:ext uri="{FF2B5EF4-FFF2-40B4-BE49-F238E27FC236}">
                <a16:creationId xmlns:a16="http://schemas.microsoft.com/office/drawing/2014/main" id="{F2B6BED2-F5B4-4BD8-820F-087F9FC04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5514975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9F0"/>
                </a:solidFill>
                <a:latin typeface="Maven Pro Bold"/>
                <a:ea typeface="Maven Pro Bold"/>
                <a:cs typeface="Maven Pro Bold"/>
              </a:defRPr>
            </a:pPr>
            <a:r>
              <a:rPr sz="1800" b="1">
                <a:solidFill>
                  <a:srgbClr val="FFF9F0"/>
                </a:solidFill>
                <a:latin typeface="Maven Pro Bold"/>
                <a:ea typeface="Maven Pro Bold"/>
                <a:cs typeface="Maven Pro Bold"/>
              </a:rPr>
              <a:t>10</a:t>
            </a:r>
          </a:p>
        </p:txBody>
      </p:sp>
      <p:sp>
        <p:nvSpPr>
          <p:cNvPr id="41" name="fifa-results-preference-3">
            <a:extLst xmlns:a="http://schemas.openxmlformats.org/drawingml/2006/main">
              <a:ext uri="{FF2B5EF4-FFF2-40B4-BE49-F238E27FC236}">
                <a16:creationId xmlns:a16="http://schemas.microsoft.com/office/drawing/2014/main" id="{3CB2181F-1EBB-4F49-9377-ED8B36C8D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5572125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defRPr>
            </a:pPr>
            <a:r>
              <a:rPr sz="1950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rPr>
              <a:t>0/5 preferred</a:t>
            </a:r>
          </a:p>
        </p:txBody>
      </p:sp>
      <p:sp>
        <p:nvSpPr>
          <p:cNvPr id="42" name="fifa-results-note">
            <a:extLst xmlns:a="http://schemas.openxmlformats.org/drawingml/2006/main">
              <a:ext uri="{FF2B5EF4-FFF2-40B4-BE49-F238E27FC236}">
                <a16:creationId xmlns:a16="http://schemas.microsoft.com/office/drawing/2014/main" id="{05108C11-4F73-4735-8AE2-19EBF9250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8239125"/>
            <a:ext cx="1143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9B7258"/>
                </a:solidFill>
                <a:latin typeface="Faustina"/>
                <a:ea typeface="Faustina"/>
                <a:cs typeface="Faustina"/>
              </a:defRPr>
            </a:pPr>
            <a:r>
              <a:rPr sz="1725" b="0">
                <a:solidFill>
                  <a:srgbClr val="9B7258"/>
                </a:solidFill>
                <a:latin typeface="Faustina"/>
                <a:ea typeface="Faustina"/>
                <a:cs typeface="Faustina"/>
              </a:rPr>
              <a:t>Independent success · hesitation · failure · reviewer preference</a:t>
            </a:r>
          </a:p>
        </p:txBody>
      </p:sp>
      <p:sp>
        <p:nvSpPr>
          <p:cNvPr id="43" name="fifa-results-synthesis-1">
            <a:extLst xmlns:a="http://schemas.openxmlformats.org/drawingml/2006/main">
              <a:ext uri="{FF2B5EF4-FFF2-40B4-BE49-F238E27FC236}">
                <a16:creationId xmlns:a16="http://schemas.microsoft.com/office/drawing/2014/main" id="{E4E54453-2426-44DE-8DAF-5CC8F331D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6858000"/>
            <a:ext cx="4191000" cy="1428750"/>
          </a:xfrm>
          <a:prstGeom xmlns:a="http://schemas.openxmlformats.org/drawingml/2006/main" prst="roundRect">
            <a:avLst>
              <a:gd name="adj" fmla="val 8000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0875B4"/>
            </a:solidFill>
            <a:prstDash val="solid"/>
          </a:ln>
        </p:spPr>
      </p:sp>
      <p:sp>
        <p:nvSpPr>
          <p:cNvPr id="44" name="fifa-results-synthesis-label-1">
            <a:extLst xmlns:a="http://schemas.openxmlformats.org/drawingml/2006/main">
              <a:ext uri="{FF2B5EF4-FFF2-40B4-BE49-F238E27FC236}">
                <a16:creationId xmlns:a16="http://schemas.microsoft.com/office/drawing/2014/main" id="{4325D7FA-D9E2-4DD9-9198-AEF20F0BA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7029450"/>
            <a:ext cx="3733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875B4"/>
                </a:solidFill>
                <a:latin typeface="Maven Pro Bold"/>
                <a:ea typeface="Maven Pro Bold"/>
                <a:cs typeface="Maven Pro Bold"/>
              </a:defRPr>
            </a:pPr>
            <a:r>
              <a:rPr sz="1650" b="1">
                <a:solidFill>
                  <a:srgbClr val="0875B4"/>
                </a:solidFill>
                <a:latin typeface="Maven Pro Bold"/>
                <a:ea typeface="Maven Pro Bold"/>
                <a:cs typeface="Maven Pro Bold"/>
              </a:rPr>
              <a:t>STATE</a:t>
            </a:r>
          </a:p>
        </p:txBody>
      </p:sp>
      <p:sp>
        <p:nvSpPr>
          <p:cNvPr id="45" name="fifa-results-synthesis-body-1">
            <a:extLst xmlns:a="http://schemas.openxmlformats.org/drawingml/2006/main">
              <a:ext uri="{FF2B5EF4-FFF2-40B4-BE49-F238E27FC236}">
                <a16:creationId xmlns:a16="http://schemas.microsoft.com/office/drawing/2014/main" id="{7C86AF00-2C68-4731-96A6-98780CEC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7381875"/>
            <a:ext cx="3733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12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754820"/>
                </a:solidFill>
                <a:latin typeface="Faustina"/>
                <a:ea typeface="Faustina"/>
                <a:cs typeface="Faustina"/>
              </a:defRPr>
            </a:pPr>
            <a:r>
              <a:rPr sz="1575" b="0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Alt 1: strongest current-state read. Alt 2: strongest progress/freshness view. Alt 3: action-first, but weak pending-state explanation.</a:t>
            </a:r>
          </a:p>
        </p:txBody>
      </p:sp>
      <p:sp>
        <p:nvSpPr>
          <p:cNvPr id="46" name="fifa-results-synthesis-2">
            <a:extLst xmlns:a="http://schemas.openxmlformats.org/drawingml/2006/main">
              <a:ext uri="{FF2B5EF4-FFF2-40B4-BE49-F238E27FC236}">
                <a16:creationId xmlns:a16="http://schemas.microsoft.com/office/drawing/2014/main" id="{12E31A8A-A0B2-4F5E-8191-311C8CFAC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858000"/>
            <a:ext cx="4191000" cy="1428750"/>
          </a:xfrm>
          <a:prstGeom xmlns:a="http://schemas.openxmlformats.org/drawingml/2006/main" prst="roundRect">
            <a:avLst>
              <a:gd name="adj" fmla="val 8000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D7A35D"/>
            </a:solidFill>
            <a:prstDash val="solid"/>
          </a:ln>
        </p:spPr>
      </p:sp>
      <p:sp>
        <p:nvSpPr>
          <p:cNvPr id="47" name="fifa-results-synthesis-label-2">
            <a:extLst xmlns:a="http://schemas.openxmlformats.org/drawingml/2006/main">
              <a:ext uri="{FF2B5EF4-FFF2-40B4-BE49-F238E27FC236}">
                <a16:creationId xmlns:a16="http://schemas.microsoft.com/office/drawing/2014/main" id="{F3994914-5634-4B23-98E2-8D61B2B0D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7029450"/>
            <a:ext cx="3733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7A35D"/>
                </a:solidFill>
                <a:latin typeface="Maven Pro Bold"/>
                <a:ea typeface="Maven Pro Bold"/>
                <a:cs typeface="Maven Pro Bold"/>
              </a:defRPr>
            </a:pPr>
            <a:r>
              <a:rPr sz="1650" b="1">
                <a:solidFill>
                  <a:srgbClr val="D7A35D"/>
                </a:solidFill>
                <a:latin typeface="Maven Pro Bold"/>
                <a:ea typeface="Maven Pro Bold"/>
                <a:cs typeface="Maven Pro Bold"/>
              </a:rPr>
              <a:t>TRUST</a:t>
            </a:r>
          </a:p>
        </p:txBody>
      </p:sp>
      <p:sp>
        <p:nvSpPr>
          <p:cNvPr id="48" name="fifa-results-synthesis-body-2">
            <a:extLst xmlns:a="http://schemas.openxmlformats.org/drawingml/2006/main">
              <a:ext uri="{FF2B5EF4-FFF2-40B4-BE49-F238E27FC236}">
                <a16:creationId xmlns:a16="http://schemas.microsoft.com/office/drawing/2014/main" id="{73255A62-84F5-4576-9E20-5BC7D2072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7381875"/>
            <a:ext cx="3733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412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754820"/>
                </a:solidFill>
                <a:latin typeface="Faustina"/>
                <a:ea typeface="Faustina"/>
                <a:cs typeface="Faustina"/>
              </a:defRPr>
            </a:pPr>
            <a:r>
              <a:rPr sz="1575" b="0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Alt 2 made official source and freshness explicit. Alt 1 needed owner/timing + partner handoff. Alt 3 had trust cues, but away from actions.</a:t>
            </a:r>
          </a:p>
        </p:txBody>
      </p:sp>
      <p:sp>
        <p:nvSpPr>
          <p:cNvPr id="49" name="fifa-results-synthesis-3">
            <a:extLst xmlns:a="http://schemas.openxmlformats.org/drawingml/2006/main">
              <a:ext uri="{FF2B5EF4-FFF2-40B4-BE49-F238E27FC236}">
                <a16:creationId xmlns:a16="http://schemas.microsoft.com/office/drawing/2014/main" id="{3EEC556E-B2E2-4C26-B555-5D9CFA41C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6858000"/>
            <a:ext cx="4191000" cy="1428750"/>
          </a:xfrm>
          <a:prstGeom xmlns:a="http://schemas.openxmlformats.org/drawingml/2006/main" prst="roundRect">
            <a:avLst>
              <a:gd name="adj" fmla="val 8000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6E9B7B"/>
            </a:solidFill>
            <a:prstDash val="solid"/>
          </a:ln>
        </p:spPr>
      </p:sp>
      <p:sp>
        <p:nvSpPr>
          <p:cNvPr id="50" name="fifa-results-synthesis-label-3">
            <a:extLst xmlns:a="http://schemas.openxmlformats.org/drawingml/2006/main">
              <a:ext uri="{FF2B5EF4-FFF2-40B4-BE49-F238E27FC236}">
                <a16:creationId xmlns:a16="http://schemas.microsoft.com/office/drawing/2014/main" id="{9E7F14D4-73E7-45C5-AF32-7A7199052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7029450"/>
            <a:ext cx="3733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9B7B"/>
                </a:solidFill>
                <a:latin typeface="Maven Pro Bold"/>
                <a:ea typeface="Maven Pro Bold"/>
                <a:cs typeface="Maven Pro Bold"/>
              </a:defRPr>
            </a:pPr>
            <a:r>
              <a:rPr sz="1650" b="1">
                <a:solidFill>
                  <a:srgbClr val="6E9B7B"/>
                </a:solidFill>
                <a:latin typeface="Maven Pro Bold"/>
                <a:ea typeface="Maven Pro Bold"/>
                <a:cs typeface="Maven Pro Bold"/>
              </a:rPr>
              <a:t>ACTION</a:t>
            </a:r>
          </a:p>
        </p:txBody>
      </p:sp>
      <p:sp>
        <p:nvSpPr>
          <p:cNvPr id="51" name="fifa-results-synthesis-body-3">
            <a:extLst xmlns:a="http://schemas.openxmlformats.org/drawingml/2006/main">
              <a:ext uri="{FF2B5EF4-FFF2-40B4-BE49-F238E27FC236}">
                <a16:creationId xmlns:a16="http://schemas.microsoft.com/office/drawing/2014/main" id="{45830954-7E92-4DF5-A4A2-E3A13B087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7381875"/>
            <a:ext cx="3733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754820"/>
                </a:solidFill>
                <a:latin typeface="Faustina"/>
                <a:ea typeface="Faustina"/>
                <a:cs typeface="Faustina"/>
              </a:defRPr>
            </a:pPr>
            <a:r>
              <a:rPr sz="1575" b="0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Alt 3 led on direct actions (37 independent). Alt 1 kept common actions visible. Alt 2 explained progress but hid View / Transfer.</a:t>
            </a:r>
          </a:p>
        </p:txBody>
      </p:sp>
      <p:sp>
        <p:nvSpPr>
          <p:cNvPr id="52" name="fifa-results-synthesis-close">
            <a:extLst xmlns:a="http://schemas.openxmlformats.org/drawingml/2006/main">
              <a:ext uri="{FF2B5EF4-FFF2-40B4-BE49-F238E27FC236}">
                <a16:creationId xmlns:a16="http://schemas.microsoft.com/office/drawing/2014/main" id="{6BC36490-5190-46EB-B314-57589B6C4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8524875"/>
            <a:ext cx="1219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defRPr>
            </a:pPr>
            <a:r>
              <a:rPr sz="1800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rPr>
              <a:t>Synthesis → Status Dashboard: keep the state model; borrow Timeline provenance and Action Hub handoff cues.</a:t>
            </a:r>
          </a:p>
        </p:txBody>
      </p:sp>
    </p:spTree>
    <p:extLst>
      <p:ext uri="{BB962C8B-B14F-4D97-AF65-F5344CB8AC3E}">
        <p14:creationId xmlns:p14="http://schemas.microsoft.com/office/powerpoint/2010/main" val="528457655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EFD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104E6442-0D1D-47B1-A270-6F2C704DA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1">
            <a:off x="12337292" y="-876300"/>
            <a:ext cx="6103108" cy="4114800"/>
          </a:xfrm>
          <a:custGeom xmlns:a="http://schemas.openxmlformats.org/drawingml/2006/main">
            <a:rect l="l" t="t" r="r" b="b"/>
            <a:pathLst>
              <a:path w="6103108" h="4114800">
                <a:moveTo>
                  <a:pt x="610310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103108" y="0"/>
                </a:lnTo>
                <a:lnTo>
                  <a:pt x="6103108" y="41148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c1ad9c063474478">
              <a:extLst>
                <a:ext uri="{96DAC541-7B7A-43D3-8B79-37D633B846F1}">
                  <asvg:svgBlip xmlns:asvg="http://schemas.microsoft.com/office/drawing/2016/SVG/main" r:embed="R93f93aa62eeb46ac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FC654269-B3B2-421E-A841-AB21D2C3C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407223" y="-302623"/>
            <a:ext cx="5040401" cy="4114800"/>
          </a:xfrm>
          <a:custGeom xmlns:a="http://schemas.openxmlformats.org/drawingml/2006/main">
            <a:rect l="l" t="t" r="r" b="b"/>
            <a:pathLst>
              <a:path w="5040401" h="4114800">
                <a:moveTo>
                  <a:pt x="0" y="0"/>
                </a:moveTo>
                <a:lnTo>
                  <a:pt x="5040401" y="0"/>
                </a:lnTo>
                <a:lnTo>
                  <a:pt x="504040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eddccd6c07b49a4">
              <a:extLst>
                <a:ext uri="{96DAC541-7B7A-43D3-8B79-37D633B846F1}">
                  <asvg:svgBlip xmlns:asvg="http://schemas.microsoft.com/office/drawing/2016/SVG/main" r:embed="Rd11641334d35445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B24F06A5-235B-44EA-9611-4E38E9654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826735" y="6747939"/>
            <a:ext cx="6103108" cy="4114800"/>
          </a:xfrm>
          <a:custGeom xmlns:a="http://schemas.openxmlformats.org/drawingml/2006/main">
            <a:rect l="l" t="t" r="r" b="b"/>
            <a:pathLst>
              <a:path w="6103108" h="4114800">
                <a:moveTo>
                  <a:pt x="0" y="0"/>
                </a:moveTo>
                <a:lnTo>
                  <a:pt x="6103108" y="0"/>
                </a:lnTo>
                <a:lnTo>
                  <a:pt x="61031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c1ad9c063474478">
              <a:extLst>
                <a:ext uri="{96DAC541-7B7A-43D3-8B79-37D633B846F1}">
                  <asvg:svgBlip xmlns:asvg="http://schemas.microsoft.com/office/drawing/2016/SVG/main" r:embed="R93f93aa62eeb46ac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ECF59C80-9F9D-4A7D-8A1F-C5A21EE8C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0130" y="6114049"/>
            <a:ext cx="2369825" cy="2300885"/>
          </a:xfrm>
          <a:custGeom xmlns:a="http://schemas.openxmlformats.org/drawingml/2006/main">
            <a:rect l="l" t="t" r="r" b="b"/>
            <a:pathLst>
              <a:path w="2369825" h="2300885">
                <a:moveTo>
                  <a:pt x="0" y="0"/>
                </a:moveTo>
                <a:lnTo>
                  <a:pt x="2369825" y="0"/>
                </a:lnTo>
                <a:lnTo>
                  <a:pt x="2369825" y="2300885"/>
                </a:lnTo>
                <a:lnTo>
                  <a:pt x="0" y="230088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728e0c87daf48e4">
              <a:extLst>
                <a:ext uri="{96DAC541-7B7A-43D3-8B79-37D633B846F1}">
                  <asvg:svgBlip xmlns:asvg="http://schemas.microsoft.com/office/drawing/2016/SVG/main" r:embed="R88ab3508986142b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2D9D619D-9085-4A3C-B587-355BF83F5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80533" y="1302570"/>
            <a:ext cx="13526934" cy="8444484"/>
          </a:xfrm>
          <a:custGeom xmlns:a="http://schemas.openxmlformats.org/drawingml/2006/main">
            <a:rect l="l" t="t" r="r" b="b"/>
            <a:pathLst>
              <a:path w="13526934" h="8444484">
                <a:moveTo>
                  <a:pt x="0" y="0"/>
                </a:moveTo>
                <a:lnTo>
                  <a:pt x="13526934" y="0"/>
                </a:lnTo>
                <a:lnTo>
                  <a:pt x="13526934" y="8444484"/>
                </a:lnTo>
                <a:lnTo>
                  <a:pt x="0" y="844448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30cb29baf5f43aa">
              <a:extLst>
                <a:ext uri="{96DAC541-7B7A-43D3-8B79-37D633B846F1}">
                  <asvg:svgBlip xmlns:asvg="http://schemas.microsoft.com/office/drawing/2016/SVG/main" r:embed="R3db86e799df84b7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C9571590-0BC9-41DB-86A4-E85121EB4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0800" y="272440"/>
            <a:ext cx="2187357" cy="1069709"/>
          </a:xfrm>
          <a:custGeom xmlns:a="http://schemas.openxmlformats.org/drawingml/2006/main">
            <a:rect l="l" t="t" r="r" b="b"/>
            <a:pathLst>
              <a:path w="2187357" h="1069709">
                <a:moveTo>
                  <a:pt x="0" y="0"/>
                </a:moveTo>
                <a:lnTo>
                  <a:pt x="2187356" y="0"/>
                </a:lnTo>
                <a:lnTo>
                  <a:pt x="2187356" y="1069709"/>
                </a:lnTo>
                <a:lnTo>
                  <a:pt x="0" y="106970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6fdc312bb284552"/>
            <a:stretch>
              <a:fillRect l="0" t="-53474" r="0" b="-51006"/>
            </a:stretch>
          </a:blipFill>
        </p:spPr>
      </p:sp>
      <p:sp>
        <p:nvSpPr>
          <p:cNvPr id="10" name="revised-title">
            <a:extLst xmlns:a="http://schemas.openxmlformats.org/drawingml/2006/main">
              <a:ext uri="{FF2B5EF4-FFF2-40B4-BE49-F238E27FC236}">
                <a16:creationId xmlns:a16="http://schemas.microsoft.com/office/drawing/2014/main" id="{6D5F598C-45A7-40F7-8501-7092D9CF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181100"/>
            <a:ext cx="1257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00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defRPr>
            </a:pPr>
            <a:r>
              <a:rPr sz="5400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rPr>
              <a:t>FIFA: what testing exposed</a:t>
            </a:r>
          </a:p>
        </p:txBody>
      </p:sp>
      <p:sp>
        <p:nvSpPr>
          <p:cNvPr id="11" name="revised-body">
            <a:extLst xmlns:a="http://schemas.openxmlformats.org/drawingml/2006/main">
              <a:ext uri="{FF2B5EF4-FFF2-40B4-BE49-F238E27FC236}">
                <a16:creationId xmlns:a16="http://schemas.microsoft.com/office/drawing/2014/main" id="{8802E8B8-250A-4AD2-BE0D-9C96F326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7810500"/>
            <a:ext cx="1257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602E17"/>
                </a:solidFill>
                <a:latin typeface="Faustina"/>
                <a:ea typeface="Faustina"/>
                <a:cs typeface="Faustina"/>
              </a:defRPr>
            </a:pPr>
            <a:r>
              <a:rPr sz="1875" b="1">
                <a:solidFill>
                  <a:srgbClr val="602E17"/>
                </a:solidFill>
                <a:latin typeface="Faustina"/>
                <a:ea typeface="Faustina"/>
                <a:cs typeface="Faustina"/>
              </a:rPr>
              <a:t>PA4 direction: Status Dashboard, with selected cues borrowed from Timeline and Action Hub.</a:t>
            </a:r>
          </a:p>
        </p:txBody>
      </p:sp>
      <p:sp>
        <p:nvSpPr>
          <p:cNvPr id="12" name="fifa-fix-card-1">
            <a:extLst xmlns:a="http://schemas.openxmlformats.org/drawingml/2006/main">
              <a:ext uri="{FF2B5EF4-FFF2-40B4-BE49-F238E27FC236}">
                <a16:creationId xmlns:a16="http://schemas.microsoft.com/office/drawing/2014/main" id="{49C3F527-3438-45E5-94E8-7FB41A58B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43250"/>
            <a:ext cx="3810000" cy="4095750"/>
          </a:xfrm>
          <a:prstGeom xmlns:a="http://schemas.openxmlformats.org/drawingml/2006/main" prst="roundRect">
            <a:avLst>
              <a:gd name="adj" fmla="val 3000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EBC6A7"/>
            </a:solidFill>
            <a:prstDash val="solid"/>
          </a:ln>
        </p:spPr>
      </p:sp>
      <p:sp>
        <p:nvSpPr>
          <p:cNvPr id="13" name="fifa-fix-issue-label-1">
            <a:extLst xmlns:a="http://schemas.openxmlformats.org/drawingml/2006/main">
              <a:ext uri="{FF2B5EF4-FFF2-40B4-BE49-F238E27FC236}">
                <a16:creationId xmlns:a16="http://schemas.microsoft.com/office/drawing/2014/main" id="{66971AD2-A10A-4AB6-AE74-7391BD239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429000"/>
            <a:ext cx="3276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96F62"/>
                </a:solidFill>
                <a:latin typeface="Maven Pro Bold"/>
                <a:ea typeface="Maven Pro Bold"/>
                <a:cs typeface="Maven Pro Bold"/>
              </a:defRPr>
            </a:pPr>
            <a:r>
              <a:rPr sz="1800" b="1">
                <a:solidFill>
                  <a:srgbClr val="C96F62"/>
                </a:solidFill>
                <a:latin typeface="Maven Pro Bold"/>
                <a:ea typeface="Maven Pro Bold"/>
                <a:cs typeface="Maven Pro Bold"/>
              </a:rPr>
              <a:t>ISSUE</a:t>
            </a:r>
          </a:p>
        </p:txBody>
      </p:sp>
      <p:sp>
        <p:nvSpPr>
          <p:cNvPr id="14" name="fifa-fix-issue-1">
            <a:extLst xmlns:a="http://schemas.openxmlformats.org/drawingml/2006/main">
              <a:ext uri="{FF2B5EF4-FFF2-40B4-BE49-F238E27FC236}">
                <a16:creationId xmlns:a16="http://schemas.microsoft.com/office/drawing/2014/main" id="{B0E3D097-90F0-4BD6-B646-7B5DC869E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810000"/>
            <a:ext cx="32766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54820"/>
                </a:solidFill>
                <a:latin typeface="Faustina"/>
                <a:ea typeface="Faustina"/>
                <a:cs typeface="Faustina"/>
              </a:defRPr>
            </a:pPr>
            <a:r>
              <a:rPr sz="1800" b="0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Pending status had no owner, timing, or clear wait-versus-act cue.</a:t>
            </a:r>
          </a:p>
        </p:txBody>
      </p:sp>
      <p:sp>
        <p:nvSpPr>
          <p:cNvPr id="15" name="fifa-fix-rule-1">
            <a:extLst xmlns:a="http://schemas.openxmlformats.org/drawingml/2006/main">
              <a:ext uri="{FF2B5EF4-FFF2-40B4-BE49-F238E27FC236}">
                <a16:creationId xmlns:a16="http://schemas.microsoft.com/office/drawing/2014/main" id="{59310E8F-0CB5-43E0-B0F7-69D51228A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143500"/>
            <a:ext cx="327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BC6A7"/>
            </a:solidFill>
            <a:prstDash val="solid"/>
          </a:ln>
        </p:spPr>
      </p:sp>
      <p:sp>
        <p:nvSpPr>
          <p:cNvPr id="16" name="fifa-fix-fix-label-1">
            <a:extLst xmlns:a="http://schemas.openxmlformats.org/drawingml/2006/main">
              <a:ext uri="{FF2B5EF4-FFF2-40B4-BE49-F238E27FC236}">
                <a16:creationId xmlns:a16="http://schemas.microsoft.com/office/drawing/2014/main" id="{2633AE9D-4D95-4496-9CF9-CE3FB06C4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381625"/>
            <a:ext cx="3276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E9B7B"/>
                </a:solidFill>
                <a:latin typeface="Maven Pro Bold"/>
                <a:ea typeface="Maven Pro Bold"/>
                <a:cs typeface="Maven Pro Bold"/>
              </a:defRPr>
            </a:pPr>
            <a:r>
              <a:rPr sz="1800" b="1">
                <a:solidFill>
                  <a:srgbClr val="6E9B7B"/>
                </a:solidFill>
                <a:latin typeface="Maven Pro Bold"/>
                <a:ea typeface="Maven Pro Bold"/>
                <a:cs typeface="Maven Pro Bold"/>
              </a:rPr>
              <a:t>FIX</a:t>
            </a:r>
          </a:p>
        </p:txBody>
      </p:sp>
      <p:sp>
        <p:nvSpPr>
          <p:cNvPr id="17" name="fifa-fix-fix-1">
            <a:extLst xmlns:a="http://schemas.openxmlformats.org/drawingml/2006/main">
              <a:ext uri="{FF2B5EF4-FFF2-40B4-BE49-F238E27FC236}">
                <a16:creationId xmlns:a16="http://schemas.microsoft.com/office/drawing/2014/main" id="{5B405686-D377-4DE2-A1E9-06DF01AFE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762625"/>
            <a:ext cx="3276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54820"/>
                </a:solidFill>
                <a:latin typeface="Faustina"/>
                <a:ea typeface="Faustina"/>
                <a:cs typeface="Faustina"/>
              </a:defRPr>
            </a:pPr>
            <a:r>
              <a:rPr sz="1800" b="0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Add Current status, Next step, Owner, and Expected timing; keep status color paired with text.</a:t>
            </a:r>
          </a:p>
        </p:txBody>
      </p:sp>
      <p:sp>
        <p:nvSpPr>
          <p:cNvPr id="18" name="fifa-fix-card-2">
            <a:extLst xmlns:a="http://schemas.openxmlformats.org/drawingml/2006/main">
              <a:ext uri="{FF2B5EF4-FFF2-40B4-BE49-F238E27FC236}">
                <a16:creationId xmlns:a16="http://schemas.microsoft.com/office/drawing/2014/main" id="{1EF64EF2-6B9A-4BFA-A024-05AB24805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43250"/>
            <a:ext cx="3810000" cy="4095750"/>
          </a:xfrm>
          <a:prstGeom xmlns:a="http://schemas.openxmlformats.org/drawingml/2006/main" prst="roundRect">
            <a:avLst>
              <a:gd name="adj" fmla="val 3000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EBC6A7"/>
            </a:solidFill>
            <a:prstDash val="solid"/>
          </a:ln>
        </p:spPr>
      </p:sp>
      <p:sp>
        <p:nvSpPr>
          <p:cNvPr id="19" name="fifa-fix-issue-label-2">
            <a:extLst xmlns:a="http://schemas.openxmlformats.org/drawingml/2006/main">
              <a:ext uri="{FF2B5EF4-FFF2-40B4-BE49-F238E27FC236}">
                <a16:creationId xmlns:a16="http://schemas.microsoft.com/office/drawing/2014/main" id="{0807ADBC-7F98-4A8B-933F-7E43DA839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429000"/>
            <a:ext cx="3276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96F62"/>
                </a:solidFill>
                <a:latin typeface="Maven Pro Bold"/>
                <a:ea typeface="Maven Pro Bold"/>
                <a:cs typeface="Maven Pro Bold"/>
              </a:defRPr>
            </a:pPr>
            <a:r>
              <a:rPr sz="1800" b="1">
                <a:solidFill>
                  <a:srgbClr val="C96F62"/>
                </a:solidFill>
                <a:latin typeface="Maven Pro Bold"/>
                <a:ea typeface="Maven Pro Bold"/>
                <a:cs typeface="Maven Pro Bold"/>
              </a:rPr>
              <a:t>ISSUE</a:t>
            </a:r>
          </a:p>
        </p:txBody>
      </p:sp>
      <p:sp>
        <p:nvSpPr>
          <p:cNvPr id="20" name="fifa-fix-issue-2">
            <a:extLst xmlns:a="http://schemas.openxmlformats.org/drawingml/2006/main">
              <a:ext uri="{FF2B5EF4-FFF2-40B4-BE49-F238E27FC236}">
                <a16:creationId xmlns:a16="http://schemas.microsoft.com/office/drawing/2014/main" id="{252B45DA-2833-4B87-B2DD-60E74DD03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810000"/>
            <a:ext cx="32766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54820"/>
                </a:solidFill>
                <a:latin typeface="Faustina"/>
                <a:ea typeface="Faustina"/>
                <a:cs typeface="Faustina"/>
              </a:defRPr>
            </a:pPr>
            <a:r>
              <a:rPr sz="1800" b="0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Timeline steps mixed system work and user work; pending ownership stayed ambiguous.</a:t>
            </a:r>
          </a:p>
        </p:txBody>
      </p:sp>
      <p:sp>
        <p:nvSpPr>
          <p:cNvPr id="21" name="fifa-fix-rule-2">
            <a:extLst xmlns:a="http://schemas.openxmlformats.org/drawingml/2006/main">
              <a:ext uri="{FF2B5EF4-FFF2-40B4-BE49-F238E27FC236}">
                <a16:creationId xmlns:a16="http://schemas.microsoft.com/office/drawing/2014/main" id="{1B6CBEFF-BBC6-4AD9-8F3F-C0DCEED38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143500"/>
            <a:ext cx="327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BC6A7"/>
            </a:solidFill>
            <a:prstDash val="solid"/>
          </a:ln>
        </p:spPr>
      </p:sp>
      <p:sp>
        <p:nvSpPr>
          <p:cNvPr id="22" name="fifa-fix-fix-label-2">
            <a:extLst xmlns:a="http://schemas.openxmlformats.org/drawingml/2006/main">
              <a:ext uri="{FF2B5EF4-FFF2-40B4-BE49-F238E27FC236}">
                <a16:creationId xmlns:a16="http://schemas.microsoft.com/office/drawing/2014/main" id="{55AE581C-306E-4A07-9E3E-DDA80FB4C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381625"/>
            <a:ext cx="3276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E9B7B"/>
                </a:solidFill>
                <a:latin typeface="Maven Pro Bold"/>
                <a:ea typeface="Maven Pro Bold"/>
                <a:cs typeface="Maven Pro Bold"/>
              </a:defRPr>
            </a:pPr>
            <a:r>
              <a:rPr sz="1800" b="1">
                <a:solidFill>
                  <a:srgbClr val="6E9B7B"/>
                </a:solidFill>
                <a:latin typeface="Maven Pro Bold"/>
                <a:ea typeface="Maven Pro Bold"/>
                <a:cs typeface="Maven Pro Bold"/>
              </a:rPr>
              <a:t>FIX</a:t>
            </a:r>
          </a:p>
        </p:txBody>
      </p:sp>
      <p:sp>
        <p:nvSpPr>
          <p:cNvPr id="23" name="fifa-fix-fix-2">
            <a:extLst xmlns:a="http://schemas.openxmlformats.org/drawingml/2006/main">
              <a:ext uri="{FF2B5EF4-FFF2-40B4-BE49-F238E27FC236}">
                <a16:creationId xmlns:a16="http://schemas.microsoft.com/office/drawing/2014/main" id="{6BC9C93E-88A9-4648-BDF3-542C1638E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762625"/>
            <a:ext cx="3276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54820"/>
                </a:solidFill>
                <a:latin typeface="Faustina"/>
                <a:ea typeface="Faustina"/>
                <a:cs typeface="Faustina"/>
              </a:defRPr>
            </a:pPr>
            <a:r>
              <a:rPr sz="1800" b="0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Label System / Your Step / Waiting; surface the current and next step, including the 72h milestone.</a:t>
            </a:r>
          </a:p>
        </p:txBody>
      </p:sp>
      <p:sp>
        <p:nvSpPr>
          <p:cNvPr id="24" name="fifa-fix-card-3">
            <a:extLst xmlns:a="http://schemas.openxmlformats.org/drawingml/2006/main">
              <a:ext uri="{FF2B5EF4-FFF2-40B4-BE49-F238E27FC236}">
                <a16:creationId xmlns:a16="http://schemas.microsoft.com/office/drawing/2014/main" id="{92B3E644-E3F2-48A2-9306-0D5D3E2A1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143250"/>
            <a:ext cx="3810000" cy="4095750"/>
          </a:xfrm>
          <a:prstGeom xmlns:a="http://schemas.openxmlformats.org/drawingml/2006/main" prst="roundRect">
            <a:avLst>
              <a:gd name="adj" fmla="val 3000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EBC6A7"/>
            </a:solidFill>
            <a:prstDash val="solid"/>
          </a:ln>
        </p:spPr>
      </p:sp>
      <p:sp>
        <p:nvSpPr>
          <p:cNvPr id="25" name="fifa-fix-issue-label-3">
            <a:extLst xmlns:a="http://schemas.openxmlformats.org/drawingml/2006/main">
              <a:ext uri="{FF2B5EF4-FFF2-40B4-BE49-F238E27FC236}">
                <a16:creationId xmlns:a16="http://schemas.microsoft.com/office/drawing/2014/main" id="{D48FB770-E4E6-45B3-B85B-4ABA38FE0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3429000"/>
            <a:ext cx="3276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96F62"/>
                </a:solidFill>
                <a:latin typeface="Maven Pro Bold"/>
                <a:ea typeface="Maven Pro Bold"/>
                <a:cs typeface="Maven Pro Bold"/>
              </a:defRPr>
            </a:pPr>
            <a:r>
              <a:rPr sz="1800" b="1">
                <a:solidFill>
                  <a:srgbClr val="C96F62"/>
                </a:solidFill>
                <a:latin typeface="Maven Pro Bold"/>
                <a:ea typeface="Maven Pro Bold"/>
                <a:cs typeface="Maven Pro Bold"/>
              </a:rPr>
              <a:t>ISSUE</a:t>
            </a:r>
          </a:p>
        </p:txBody>
      </p:sp>
      <p:sp>
        <p:nvSpPr>
          <p:cNvPr id="26" name="fifa-fix-issue-3">
            <a:extLst xmlns:a="http://schemas.openxmlformats.org/drawingml/2006/main">
              <a:ext uri="{FF2B5EF4-FFF2-40B4-BE49-F238E27FC236}">
                <a16:creationId xmlns:a16="http://schemas.microsoft.com/office/drawing/2014/main" id="{BEF91414-0D7F-4052-8938-7F74D0458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3810000"/>
            <a:ext cx="32766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54820"/>
                </a:solidFill>
                <a:latin typeface="Faustina"/>
                <a:ea typeface="Faustina"/>
                <a:cs typeface="Faustina"/>
              </a:defRPr>
            </a:pPr>
            <a:r>
              <a:rPr sz="1800" b="0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Direct actions were fast, but status context and the partner boundary were separated.</a:t>
            </a:r>
          </a:p>
        </p:txBody>
      </p:sp>
      <p:sp>
        <p:nvSpPr>
          <p:cNvPr id="27" name="fifa-fix-rule-3">
            <a:extLst xmlns:a="http://schemas.openxmlformats.org/drawingml/2006/main">
              <a:ext uri="{FF2B5EF4-FFF2-40B4-BE49-F238E27FC236}">
                <a16:creationId xmlns:a16="http://schemas.microsoft.com/office/drawing/2014/main" id="{5CB182F7-3981-46EA-B37C-2CB51362B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5143500"/>
            <a:ext cx="327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BC6A7"/>
            </a:solidFill>
            <a:prstDash val="solid"/>
          </a:ln>
        </p:spPr>
      </p:sp>
      <p:sp>
        <p:nvSpPr>
          <p:cNvPr id="28" name="fifa-fix-fix-label-3">
            <a:extLst xmlns:a="http://schemas.openxmlformats.org/drawingml/2006/main">
              <a:ext uri="{FF2B5EF4-FFF2-40B4-BE49-F238E27FC236}">
                <a16:creationId xmlns:a16="http://schemas.microsoft.com/office/drawing/2014/main" id="{24720576-8B9E-4209-AE02-06CB4D20E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5381625"/>
            <a:ext cx="3276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E9B7B"/>
                </a:solidFill>
                <a:latin typeface="Maven Pro Bold"/>
                <a:ea typeface="Maven Pro Bold"/>
                <a:cs typeface="Maven Pro Bold"/>
              </a:defRPr>
            </a:pPr>
            <a:r>
              <a:rPr sz="1800" b="1">
                <a:solidFill>
                  <a:srgbClr val="6E9B7B"/>
                </a:solidFill>
                <a:latin typeface="Maven Pro Bold"/>
                <a:ea typeface="Maven Pro Bold"/>
                <a:cs typeface="Maven Pro Bold"/>
              </a:rPr>
              <a:t>FIX</a:t>
            </a:r>
          </a:p>
        </p:txBody>
      </p:sp>
      <p:sp>
        <p:nvSpPr>
          <p:cNvPr id="29" name="fifa-fix-fix-3">
            <a:extLst xmlns:a="http://schemas.openxmlformats.org/drawingml/2006/main">
              <a:ext uri="{FF2B5EF4-FFF2-40B4-BE49-F238E27FC236}">
                <a16:creationId xmlns:a16="http://schemas.microsoft.com/office/drawing/2014/main" id="{6444A65C-E242-47D1-A71C-F7987F6CC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5762625"/>
            <a:ext cx="3276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54820"/>
                </a:solidFill>
                <a:latin typeface="Faustina"/>
                <a:ea typeface="Faustina"/>
                <a:cs typeface="Faustina"/>
              </a:defRPr>
            </a:pPr>
            <a:r>
              <a:rPr sz="1800" b="0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Add a status strip, expected step, and handoff warning beside each outgoing action.</a:t>
            </a:r>
          </a:p>
        </p:txBody>
      </p:sp>
    </p:spTree>
    <p:extLst>
      <p:ext uri="{BB962C8B-B14F-4D97-AF65-F5344CB8AC3E}">
        <p14:creationId xmlns:p14="http://schemas.microsoft.com/office/powerpoint/2010/main" val="1041417058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EFD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6987FBAC-9B76-4A2E-8FA5-1662C4509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1">
            <a:off x="12337292" y="-876300"/>
            <a:ext cx="6103108" cy="4114800"/>
          </a:xfrm>
          <a:custGeom xmlns:a="http://schemas.openxmlformats.org/drawingml/2006/main">
            <a:rect l="l" t="t" r="r" b="b"/>
            <a:pathLst>
              <a:path w="6103108" h="4114800">
                <a:moveTo>
                  <a:pt x="610310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103108" y="0"/>
                </a:lnTo>
                <a:lnTo>
                  <a:pt x="6103108" y="41148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75ab26825184ba4">
              <a:extLst>
                <a:ext uri="{96DAC541-7B7A-43D3-8B79-37D633B846F1}">
                  <asvg:svgBlip xmlns:asvg="http://schemas.microsoft.com/office/drawing/2016/SVG/main" r:embed="Rcb1b3917b7884e8c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C5A33091-2713-4FF1-8551-CC0B779D6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407223" y="-302623"/>
            <a:ext cx="5040401" cy="4114800"/>
          </a:xfrm>
          <a:custGeom xmlns:a="http://schemas.openxmlformats.org/drawingml/2006/main">
            <a:rect l="l" t="t" r="r" b="b"/>
            <a:pathLst>
              <a:path w="5040401" h="4114800">
                <a:moveTo>
                  <a:pt x="0" y="0"/>
                </a:moveTo>
                <a:lnTo>
                  <a:pt x="5040401" y="0"/>
                </a:lnTo>
                <a:lnTo>
                  <a:pt x="504040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e7392d70f5749a8">
              <a:extLst>
                <a:ext uri="{96DAC541-7B7A-43D3-8B79-37D633B846F1}">
                  <asvg:svgBlip xmlns:asvg="http://schemas.microsoft.com/office/drawing/2016/SVG/main" r:embed="R909f95ae11234e9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ED17287C-9FDC-4D64-BDCD-A24EDDF14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826735" y="6747939"/>
            <a:ext cx="6103108" cy="4114800"/>
          </a:xfrm>
          <a:custGeom xmlns:a="http://schemas.openxmlformats.org/drawingml/2006/main">
            <a:rect l="l" t="t" r="r" b="b"/>
            <a:pathLst>
              <a:path w="6103108" h="4114800">
                <a:moveTo>
                  <a:pt x="0" y="0"/>
                </a:moveTo>
                <a:lnTo>
                  <a:pt x="6103108" y="0"/>
                </a:lnTo>
                <a:lnTo>
                  <a:pt x="61031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75ab26825184ba4">
              <a:extLst>
                <a:ext uri="{96DAC541-7B7A-43D3-8B79-37D633B846F1}">
                  <asvg:svgBlip xmlns:asvg="http://schemas.microsoft.com/office/drawing/2016/SVG/main" r:embed="Rcb1b3917b7884e8c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68F7245B-D2BD-4EDC-882D-5E1400D71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0130" y="6114049"/>
            <a:ext cx="2369825" cy="2300885"/>
          </a:xfrm>
          <a:custGeom xmlns:a="http://schemas.openxmlformats.org/drawingml/2006/main">
            <a:rect l="l" t="t" r="r" b="b"/>
            <a:pathLst>
              <a:path w="2369825" h="2300885">
                <a:moveTo>
                  <a:pt x="0" y="0"/>
                </a:moveTo>
                <a:lnTo>
                  <a:pt x="2369825" y="0"/>
                </a:lnTo>
                <a:lnTo>
                  <a:pt x="2369825" y="2300885"/>
                </a:lnTo>
                <a:lnTo>
                  <a:pt x="0" y="230088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3b50033e00145c8">
              <a:extLst>
                <a:ext uri="{96DAC541-7B7A-43D3-8B79-37D633B846F1}">
                  <asvg:svgBlip xmlns:asvg="http://schemas.microsoft.com/office/drawing/2016/SVG/main" r:embed="R685d8c01f59d4d0d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625A55A6-7626-48FC-B57A-39D8255B5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80533" y="1302570"/>
            <a:ext cx="13526934" cy="8444484"/>
          </a:xfrm>
          <a:custGeom xmlns:a="http://schemas.openxmlformats.org/drawingml/2006/main">
            <a:rect l="l" t="t" r="r" b="b"/>
            <a:pathLst>
              <a:path w="13526934" h="8444484">
                <a:moveTo>
                  <a:pt x="0" y="0"/>
                </a:moveTo>
                <a:lnTo>
                  <a:pt x="13526934" y="0"/>
                </a:lnTo>
                <a:lnTo>
                  <a:pt x="13526934" y="8444484"/>
                </a:lnTo>
                <a:lnTo>
                  <a:pt x="0" y="844448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2562e49d83b4c31">
              <a:extLst>
                <a:ext uri="{96DAC541-7B7A-43D3-8B79-37D633B846F1}">
                  <asvg:svgBlip xmlns:asvg="http://schemas.microsoft.com/office/drawing/2016/SVG/main" r:embed="R71f68b78b8794f7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58C12B67-6960-4202-B3A8-D5391F3F8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5747" y="289936"/>
            <a:ext cx="3331694" cy="1150635"/>
          </a:xfrm>
          <a:custGeom xmlns:a="http://schemas.openxmlformats.org/drawingml/2006/main">
            <a:rect l="l" t="t" r="r" b="b"/>
            <a:pathLst>
              <a:path w="3331694" h="1150635">
                <a:moveTo>
                  <a:pt x="0" y="0"/>
                </a:moveTo>
                <a:lnTo>
                  <a:pt x="3331694" y="0"/>
                </a:lnTo>
                <a:lnTo>
                  <a:pt x="3331694" y="1150634"/>
                </a:lnTo>
                <a:lnTo>
                  <a:pt x="0" y="115063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ac662b15a0a497f"/>
            <a:stretch>
              <a:fillRect l="-7270" t="-25038" r="-6058" b="-39036"/>
            </a:stretch>
          </a:blipFill>
        </p:spPr>
      </p:sp>
      <p:sp>
        <p:nvSpPr>
          <p:cNvPr id="10" name="revised-title">
            <a:extLst xmlns:a="http://schemas.openxmlformats.org/drawingml/2006/main">
              <a:ext uri="{FF2B5EF4-FFF2-40B4-BE49-F238E27FC236}">
                <a16:creationId xmlns:a16="http://schemas.microsoft.com/office/drawing/2014/main" id="{E0562F0C-9750-4514-8600-CAF179F5D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181100"/>
            <a:ext cx="1257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00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defRPr>
            </a:pPr>
            <a:r>
              <a:rPr sz="5400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rPr>
              <a:t>Chess Results: guidance beat flexibility</a:t>
            </a:r>
          </a:p>
        </p:txBody>
      </p:sp>
      <p:sp>
        <p:nvSpPr>
          <p:cNvPr id="11" name="chess-results-context">
            <a:extLst xmlns:a="http://schemas.openxmlformats.org/drawingml/2006/main">
              <a:ext uri="{FF2B5EF4-FFF2-40B4-BE49-F238E27FC236}">
                <a16:creationId xmlns:a16="http://schemas.microsoft.com/office/drawing/2014/main" id="{A2BDD506-CBD5-48EF-BC5C-0318191C0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86000"/>
            <a:ext cx="1143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9B7258"/>
                </a:solidFill>
                <a:latin typeface="Faustina"/>
                <a:ea typeface="Faustina"/>
                <a:cs typeface="Faustina"/>
              </a:defRPr>
            </a:pPr>
            <a:r>
              <a:rPr sz="1575" b="0">
                <a:solidFill>
                  <a:srgbClr val="9B7258"/>
                </a:solidFill>
                <a:latin typeface="Faustina"/>
                <a:ea typeface="Faustina"/>
                <a:cs typeface="Faustina"/>
              </a:rPr>
              <a:t>45 task outcomes per alternative · preference supports, not decides</a:t>
            </a:r>
          </a:p>
        </p:txBody>
      </p:sp>
      <p:sp>
        <p:nvSpPr>
          <p:cNvPr id="12" name="chess-results-legend-swatch-1">
            <a:extLst xmlns:a="http://schemas.openxmlformats.org/drawingml/2006/main">
              <a:ext uri="{FF2B5EF4-FFF2-40B4-BE49-F238E27FC236}">
                <a16:creationId xmlns:a16="http://schemas.microsoft.com/office/drawing/2014/main" id="{7D4FBB19-E684-44FB-8D00-AF085D3D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860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B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hess-results-legend-label-1">
            <a:extLst xmlns:a="http://schemas.openxmlformats.org/drawingml/2006/main">
              <a:ext uri="{FF2B5EF4-FFF2-40B4-BE49-F238E27FC236}">
                <a16:creationId xmlns:a16="http://schemas.microsoft.com/office/drawing/2014/main" id="{36DD19F3-10B8-4AE7-A252-FAF9B2555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61937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54820"/>
                </a:solidFill>
                <a:latin typeface="Faustina"/>
                <a:ea typeface="Faustina"/>
                <a:cs typeface="Faustina"/>
              </a:defRPr>
            </a:pPr>
            <a:r>
              <a:rPr sz="1725" b="0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Independent Success</a:t>
            </a:r>
          </a:p>
        </p:txBody>
      </p:sp>
      <p:sp>
        <p:nvSpPr>
          <p:cNvPr id="14" name="chess-results-legend-swatch-2">
            <a:extLst xmlns:a="http://schemas.openxmlformats.org/drawingml/2006/main">
              <a:ext uri="{FF2B5EF4-FFF2-40B4-BE49-F238E27FC236}">
                <a16:creationId xmlns:a16="http://schemas.microsoft.com/office/drawing/2014/main" id="{9692DC0B-3BD2-4FE3-A934-31E149FD6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6860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3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hess-results-legend-label-2">
            <a:extLst xmlns:a="http://schemas.openxmlformats.org/drawingml/2006/main">
              <a:ext uri="{FF2B5EF4-FFF2-40B4-BE49-F238E27FC236}">
                <a16:creationId xmlns:a16="http://schemas.microsoft.com/office/drawing/2014/main" id="{37F6155A-B263-4B6C-8D58-8F55EFCED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61937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54820"/>
                </a:solidFill>
                <a:latin typeface="Faustina"/>
                <a:ea typeface="Faustina"/>
                <a:cs typeface="Faustina"/>
              </a:defRPr>
            </a:pPr>
            <a:r>
              <a:rPr sz="1725" b="0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Success With Hesitation</a:t>
            </a:r>
          </a:p>
        </p:txBody>
      </p:sp>
      <p:sp>
        <p:nvSpPr>
          <p:cNvPr id="16" name="chess-results-legend-swatch-3">
            <a:extLst xmlns:a="http://schemas.openxmlformats.org/drawingml/2006/main">
              <a:ext uri="{FF2B5EF4-FFF2-40B4-BE49-F238E27FC236}">
                <a16:creationId xmlns:a16="http://schemas.microsoft.com/office/drawing/2014/main" id="{A9021C3A-3FFB-444B-A7D9-D1611F10B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6860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F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hess-results-legend-label-3">
            <a:extLst xmlns:a="http://schemas.openxmlformats.org/drawingml/2006/main">
              <a:ext uri="{FF2B5EF4-FFF2-40B4-BE49-F238E27FC236}">
                <a16:creationId xmlns:a16="http://schemas.microsoft.com/office/drawing/2014/main" id="{A5F9E5BF-33C5-4D72-8AE4-19DCCC91F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61937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54820"/>
                </a:solidFill>
                <a:latin typeface="Faustina"/>
                <a:ea typeface="Faustina"/>
                <a:cs typeface="Faustina"/>
              </a:defRPr>
            </a:pPr>
            <a:r>
              <a:rPr sz="1725" b="0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Failure</a:t>
            </a:r>
          </a:p>
        </p:txBody>
      </p:sp>
      <p:sp>
        <p:nvSpPr>
          <p:cNvPr id="18" name="chess-results-row-label-1">
            <a:extLst xmlns:a="http://schemas.openxmlformats.org/drawingml/2006/main">
              <a:ext uri="{FF2B5EF4-FFF2-40B4-BE49-F238E27FC236}">
                <a16:creationId xmlns:a16="http://schemas.microsoft.com/office/drawing/2014/main" id="{43EE22FD-E39B-4B7F-B9B9-701E574F3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25755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175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defRPr>
            </a:pPr>
            <a:r>
              <a:rPr sz="2175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rPr>
              <a:t>Alt 1 Guided</a:t>
            </a:r>
          </a:p>
        </p:txBody>
      </p:sp>
      <p:sp>
        <p:nvSpPr>
          <p:cNvPr id="19" name="chess-results-bar-1-1">
            <a:extLst xmlns:a="http://schemas.openxmlformats.org/drawingml/2006/main">
              <a:ext uri="{FF2B5EF4-FFF2-40B4-BE49-F238E27FC236}">
                <a16:creationId xmlns:a16="http://schemas.microsoft.com/office/drawing/2014/main" id="{74A42108-1579-4DC4-922E-3979AA8EA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38500"/>
            <a:ext cx="6324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B7B"/>
          </a:solidFill>
          <a:ln xmlns:a="http://schemas.openxmlformats.org/drawingml/2006/main" w="19050">
            <a:solidFill>
              <a:srgbClr val="FFF9F0"/>
            </a:solidFill>
            <a:prstDash val="solid"/>
          </a:ln>
        </p:spPr>
      </p:sp>
      <p:sp>
        <p:nvSpPr>
          <p:cNvPr id="20" name="chess-results-value-1-1">
            <a:extLst xmlns:a="http://schemas.openxmlformats.org/drawingml/2006/main">
              <a:ext uri="{FF2B5EF4-FFF2-40B4-BE49-F238E27FC236}">
                <a16:creationId xmlns:a16="http://schemas.microsoft.com/office/drawing/2014/main" id="{238CB721-7CD4-4BD1-ACD3-426069961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28975"/>
            <a:ext cx="632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9F0"/>
                </a:solidFill>
                <a:latin typeface="Maven Pro Bold"/>
                <a:ea typeface="Maven Pro Bold"/>
                <a:cs typeface="Maven Pro Bold"/>
              </a:defRPr>
            </a:pPr>
            <a:r>
              <a:rPr sz="1800" b="1">
                <a:solidFill>
                  <a:srgbClr val="FFF9F0"/>
                </a:solidFill>
                <a:latin typeface="Maven Pro Bold"/>
                <a:ea typeface="Maven Pro Bold"/>
                <a:cs typeface="Maven Pro Bold"/>
              </a:rPr>
              <a:t>36</a:t>
            </a:r>
          </a:p>
        </p:txBody>
      </p:sp>
      <p:sp>
        <p:nvSpPr>
          <p:cNvPr id="21" name="chess-results-bar-1-2">
            <a:extLst xmlns:a="http://schemas.openxmlformats.org/drawingml/2006/main">
              <a:ext uri="{FF2B5EF4-FFF2-40B4-BE49-F238E27FC236}">
                <a16:creationId xmlns:a16="http://schemas.microsoft.com/office/drawing/2014/main" id="{228A1EA9-3B5B-48D9-BC26-1B27C7DCF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3238500"/>
            <a:ext cx="1405467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35D"/>
          </a:solidFill>
          <a:ln xmlns:a="http://schemas.openxmlformats.org/drawingml/2006/main" w="19050">
            <a:solidFill>
              <a:srgbClr val="FFF9F0"/>
            </a:solidFill>
            <a:prstDash val="solid"/>
          </a:ln>
        </p:spPr>
      </p:sp>
      <p:sp>
        <p:nvSpPr>
          <p:cNvPr id="22" name="chess-results-value-1-2">
            <a:extLst xmlns:a="http://schemas.openxmlformats.org/drawingml/2006/main">
              <a:ext uri="{FF2B5EF4-FFF2-40B4-BE49-F238E27FC236}">
                <a16:creationId xmlns:a16="http://schemas.microsoft.com/office/drawing/2014/main" id="{0AF2F29F-42FB-4859-B422-866A5BF45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3228975"/>
            <a:ext cx="1405467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defRPr>
            </a:pPr>
            <a:r>
              <a:rPr sz="1800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rPr>
              <a:t>8</a:t>
            </a:r>
          </a:p>
        </p:txBody>
      </p:sp>
      <p:sp>
        <p:nvSpPr>
          <p:cNvPr id="23" name="chess-results-bar-1-3">
            <a:extLst xmlns:a="http://schemas.openxmlformats.org/drawingml/2006/main">
              <a:ext uri="{FF2B5EF4-FFF2-40B4-BE49-F238E27FC236}">
                <a16:creationId xmlns:a16="http://schemas.microsoft.com/office/drawing/2014/main" id="{4324518D-2101-4A56-BB43-1EEEECC82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0317" y="3238500"/>
            <a:ext cx="175683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F62"/>
          </a:solidFill>
          <a:ln xmlns:a="http://schemas.openxmlformats.org/drawingml/2006/main" w="19050">
            <a:solidFill>
              <a:srgbClr val="FFF9F0"/>
            </a:solidFill>
            <a:prstDash val="solid"/>
          </a:ln>
        </p:spPr>
      </p:sp>
      <p:sp>
        <p:nvSpPr>
          <p:cNvPr id="24" name="chess-results-value-1-3">
            <a:extLst xmlns:a="http://schemas.openxmlformats.org/drawingml/2006/main">
              <a:ext uri="{FF2B5EF4-FFF2-40B4-BE49-F238E27FC236}">
                <a16:creationId xmlns:a16="http://schemas.microsoft.com/office/drawing/2014/main" id="{B343E372-E4E9-40C5-8152-4209E7AF2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32289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defRPr>
            </a:pPr>
            <a:r>
              <a:rPr sz="1800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rPr>
              <a:t>1</a:t>
            </a:r>
          </a:p>
        </p:txBody>
      </p:sp>
      <p:sp>
        <p:nvSpPr>
          <p:cNvPr id="25" name="chess-results-preference-1">
            <a:extLst xmlns:a="http://schemas.openxmlformats.org/drawingml/2006/main">
              <a:ext uri="{FF2B5EF4-FFF2-40B4-BE49-F238E27FC236}">
                <a16:creationId xmlns:a16="http://schemas.microsoft.com/office/drawing/2014/main" id="{4663724D-99D6-493B-946F-D01E69CCB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3286125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defRPr>
            </a:pPr>
            <a:r>
              <a:rPr sz="1950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rPr>
              <a:t>5/5 preferred</a:t>
            </a:r>
          </a:p>
        </p:txBody>
      </p:sp>
      <p:sp>
        <p:nvSpPr>
          <p:cNvPr id="26" name="chess-results-row-label-2">
            <a:extLst xmlns:a="http://schemas.openxmlformats.org/drawingml/2006/main">
              <a:ext uri="{FF2B5EF4-FFF2-40B4-BE49-F238E27FC236}">
                <a16:creationId xmlns:a16="http://schemas.microsoft.com/office/drawing/2014/main" id="{0307B573-1EEC-4B27-92AD-2B4338B92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40055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175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defRPr>
            </a:pPr>
            <a:r>
              <a:rPr sz="2175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rPr>
              <a:t>Alt 2 Cards</a:t>
            </a:r>
          </a:p>
        </p:txBody>
      </p:sp>
      <p:sp>
        <p:nvSpPr>
          <p:cNvPr id="27" name="chess-results-bar-2-1">
            <a:extLst xmlns:a="http://schemas.openxmlformats.org/drawingml/2006/main">
              <a:ext uri="{FF2B5EF4-FFF2-40B4-BE49-F238E27FC236}">
                <a16:creationId xmlns:a16="http://schemas.microsoft.com/office/drawing/2014/main" id="{F2E2FDC4-D115-41E9-B2F4-30892F1FA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381500"/>
            <a:ext cx="5973233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B7B"/>
          </a:solidFill>
          <a:ln xmlns:a="http://schemas.openxmlformats.org/drawingml/2006/main" w="19050">
            <a:solidFill>
              <a:srgbClr val="FFF9F0"/>
            </a:solidFill>
            <a:prstDash val="solid"/>
          </a:ln>
        </p:spPr>
      </p:sp>
      <p:sp>
        <p:nvSpPr>
          <p:cNvPr id="28" name="chess-results-value-2-1">
            <a:extLst xmlns:a="http://schemas.openxmlformats.org/drawingml/2006/main">
              <a:ext uri="{FF2B5EF4-FFF2-40B4-BE49-F238E27FC236}">
                <a16:creationId xmlns:a16="http://schemas.microsoft.com/office/drawing/2014/main" id="{865EA6D9-6748-4315-83B3-D2C9B1279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371975"/>
            <a:ext cx="597323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9F0"/>
                </a:solidFill>
                <a:latin typeface="Maven Pro Bold"/>
                <a:ea typeface="Maven Pro Bold"/>
                <a:cs typeface="Maven Pro Bold"/>
              </a:defRPr>
            </a:pPr>
            <a:r>
              <a:rPr sz="1800" b="1">
                <a:solidFill>
                  <a:srgbClr val="FFF9F0"/>
                </a:solidFill>
                <a:latin typeface="Maven Pro Bold"/>
                <a:ea typeface="Maven Pro Bold"/>
                <a:cs typeface="Maven Pro Bold"/>
              </a:rPr>
              <a:t>34</a:t>
            </a:r>
          </a:p>
        </p:txBody>
      </p:sp>
      <p:sp>
        <p:nvSpPr>
          <p:cNvPr id="29" name="chess-results-bar-2-2">
            <a:extLst xmlns:a="http://schemas.openxmlformats.org/drawingml/2006/main">
              <a:ext uri="{FF2B5EF4-FFF2-40B4-BE49-F238E27FC236}">
                <a16:creationId xmlns:a16="http://schemas.microsoft.com/office/drawing/2014/main" id="{84593904-A4FF-4ABA-B551-49E07B7B2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3483" y="4381500"/>
            <a:ext cx="1932517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35D"/>
          </a:solidFill>
          <a:ln xmlns:a="http://schemas.openxmlformats.org/drawingml/2006/main" w="19050">
            <a:solidFill>
              <a:srgbClr val="FFF9F0"/>
            </a:solidFill>
            <a:prstDash val="solid"/>
          </a:ln>
        </p:spPr>
      </p:sp>
      <p:sp>
        <p:nvSpPr>
          <p:cNvPr id="30" name="chess-results-value-2-2">
            <a:extLst xmlns:a="http://schemas.openxmlformats.org/drawingml/2006/main">
              <a:ext uri="{FF2B5EF4-FFF2-40B4-BE49-F238E27FC236}">
                <a16:creationId xmlns:a16="http://schemas.microsoft.com/office/drawing/2014/main" id="{A653499C-D882-45BB-A821-72A8B7BD3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3483" y="4371975"/>
            <a:ext cx="1932517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defRPr>
            </a:pPr>
            <a:r>
              <a:rPr sz="1800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rPr>
              <a:t>11</a:t>
            </a:r>
          </a:p>
        </p:txBody>
      </p:sp>
      <p:sp>
        <p:nvSpPr>
          <p:cNvPr id="31" name="chess-results-bar-2-3">
            <a:extLst xmlns:a="http://schemas.openxmlformats.org/drawingml/2006/main">
              <a:ext uri="{FF2B5EF4-FFF2-40B4-BE49-F238E27FC236}">
                <a16:creationId xmlns:a16="http://schemas.microsoft.com/office/drawing/2014/main" id="{DA4F6AC4-07E8-4F22-9AAD-45C8E38D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4381500"/>
            <a:ext cx="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F62"/>
          </a:solidFill>
          <a:ln xmlns:a="http://schemas.openxmlformats.org/drawingml/2006/main" w="19050">
            <a:solidFill>
              <a:srgbClr val="FFF9F0"/>
            </a:solidFill>
            <a:prstDash val="solid"/>
          </a:ln>
        </p:spPr>
      </p:sp>
      <p:sp>
        <p:nvSpPr>
          <p:cNvPr id="32" name="chess-results-value-2-3">
            <a:extLst xmlns:a="http://schemas.openxmlformats.org/drawingml/2006/main">
              <a:ext uri="{FF2B5EF4-FFF2-40B4-BE49-F238E27FC236}">
                <a16:creationId xmlns:a16="http://schemas.microsoft.com/office/drawing/2014/main" id="{95AADFF5-E299-416C-865F-00A2956FA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43719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defRPr>
            </a:pPr>
            <a:r>
              <a:rPr sz="1800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rPr>
              <a:t>0</a:t>
            </a:r>
          </a:p>
        </p:txBody>
      </p:sp>
      <p:sp>
        <p:nvSpPr>
          <p:cNvPr id="33" name="chess-results-preference-2">
            <a:extLst xmlns:a="http://schemas.openxmlformats.org/drawingml/2006/main">
              <a:ext uri="{FF2B5EF4-FFF2-40B4-BE49-F238E27FC236}">
                <a16:creationId xmlns:a16="http://schemas.microsoft.com/office/drawing/2014/main" id="{BE9E5861-2DE5-4E44-8D98-231F88139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4429125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defRPr>
            </a:pPr>
            <a:r>
              <a:rPr sz="1950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rPr>
              <a:t>0/5 preferred</a:t>
            </a:r>
          </a:p>
        </p:txBody>
      </p:sp>
      <p:sp>
        <p:nvSpPr>
          <p:cNvPr id="34" name="chess-results-row-label-3">
            <a:extLst xmlns:a="http://schemas.openxmlformats.org/drawingml/2006/main">
              <a:ext uri="{FF2B5EF4-FFF2-40B4-BE49-F238E27FC236}">
                <a16:creationId xmlns:a16="http://schemas.microsoft.com/office/drawing/2014/main" id="{3AFD7401-BFE0-4020-8C30-9D81BAF04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54355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175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defRPr>
            </a:pPr>
            <a:r>
              <a:rPr sz="2175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rPr>
              <a:t>Alt 3 Assistant</a:t>
            </a:r>
          </a:p>
        </p:txBody>
      </p:sp>
      <p:sp>
        <p:nvSpPr>
          <p:cNvPr id="35" name="chess-results-bar-3-1">
            <a:extLst xmlns:a="http://schemas.openxmlformats.org/drawingml/2006/main">
              <a:ext uri="{FF2B5EF4-FFF2-40B4-BE49-F238E27FC236}">
                <a16:creationId xmlns:a16="http://schemas.microsoft.com/office/drawing/2014/main" id="{E333D617-D0A1-4FDE-9E3B-E6C9C9338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524500"/>
            <a:ext cx="4567767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B7B"/>
          </a:solidFill>
          <a:ln xmlns:a="http://schemas.openxmlformats.org/drawingml/2006/main" w="19050">
            <a:solidFill>
              <a:srgbClr val="FFF9F0"/>
            </a:solidFill>
            <a:prstDash val="solid"/>
          </a:ln>
        </p:spPr>
      </p:sp>
      <p:sp>
        <p:nvSpPr>
          <p:cNvPr id="36" name="chess-results-value-3-1">
            <a:extLst xmlns:a="http://schemas.openxmlformats.org/drawingml/2006/main">
              <a:ext uri="{FF2B5EF4-FFF2-40B4-BE49-F238E27FC236}">
                <a16:creationId xmlns:a16="http://schemas.microsoft.com/office/drawing/2014/main" id="{626506C0-E571-4913-8D9F-417D33995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514975"/>
            <a:ext cx="4567767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9F0"/>
                </a:solidFill>
                <a:latin typeface="Maven Pro Bold"/>
                <a:ea typeface="Maven Pro Bold"/>
                <a:cs typeface="Maven Pro Bold"/>
              </a:defRPr>
            </a:pPr>
            <a:r>
              <a:rPr sz="1800" b="1">
                <a:solidFill>
                  <a:srgbClr val="FFF9F0"/>
                </a:solidFill>
                <a:latin typeface="Maven Pro Bold"/>
                <a:ea typeface="Maven Pro Bold"/>
                <a:cs typeface="Maven Pro Bold"/>
              </a:rPr>
              <a:t>26</a:t>
            </a:r>
          </a:p>
        </p:txBody>
      </p:sp>
      <p:sp>
        <p:nvSpPr>
          <p:cNvPr id="37" name="chess-results-bar-3-2">
            <a:extLst xmlns:a="http://schemas.openxmlformats.org/drawingml/2006/main">
              <a:ext uri="{FF2B5EF4-FFF2-40B4-BE49-F238E27FC236}">
                <a16:creationId xmlns:a16="http://schemas.microsoft.com/office/drawing/2014/main" id="{671FAE51-CFD6-4D70-B012-745A64BE0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017" y="5524500"/>
            <a:ext cx="2459567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35D"/>
          </a:solidFill>
          <a:ln xmlns:a="http://schemas.openxmlformats.org/drawingml/2006/main" w="19050">
            <a:solidFill>
              <a:srgbClr val="FFF9F0"/>
            </a:solidFill>
            <a:prstDash val="solid"/>
          </a:ln>
        </p:spPr>
      </p:sp>
      <p:sp>
        <p:nvSpPr>
          <p:cNvPr id="38" name="chess-results-value-3-2">
            <a:extLst xmlns:a="http://schemas.openxmlformats.org/drawingml/2006/main">
              <a:ext uri="{FF2B5EF4-FFF2-40B4-BE49-F238E27FC236}">
                <a16:creationId xmlns:a16="http://schemas.microsoft.com/office/drawing/2014/main" id="{0B1ACD9E-0765-47F6-89DD-6B736186E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017" y="5514975"/>
            <a:ext cx="2459567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defRPr>
            </a:pPr>
            <a:r>
              <a:rPr sz="1800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rPr>
              <a:t>14</a:t>
            </a:r>
          </a:p>
        </p:txBody>
      </p:sp>
      <p:sp>
        <p:nvSpPr>
          <p:cNvPr id="39" name="chess-results-bar-3-3">
            <a:extLst xmlns:a="http://schemas.openxmlformats.org/drawingml/2006/main">
              <a:ext uri="{FF2B5EF4-FFF2-40B4-BE49-F238E27FC236}">
                <a16:creationId xmlns:a16="http://schemas.microsoft.com/office/drawing/2014/main" id="{FEF468E4-BFDF-40C1-94CB-F94F5285F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7583" y="5524500"/>
            <a:ext cx="878417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F62"/>
          </a:solidFill>
          <a:ln xmlns:a="http://schemas.openxmlformats.org/drawingml/2006/main" w="19050">
            <a:solidFill>
              <a:srgbClr val="FFF9F0"/>
            </a:solidFill>
            <a:prstDash val="solid"/>
          </a:ln>
        </p:spPr>
      </p:sp>
      <p:sp>
        <p:nvSpPr>
          <p:cNvPr id="40" name="chess-results-value-3-3">
            <a:extLst xmlns:a="http://schemas.openxmlformats.org/drawingml/2006/main">
              <a:ext uri="{FF2B5EF4-FFF2-40B4-BE49-F238E27FC236}">
                <a16:creationId xmlns:a16="http://schemas.microsoft.com/office/drawing/2014/main" id="{03C048F1-8534-4AB2-A32B-DCD5D97D5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7583" y="5514975"/>
            <a:ext cx="878417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9F0"/>
                </a:solidFill>
                <a:latin typeface="Maven Pro Bold"/>
                <a:ea typeface="Maven Pro Bold"/>
                <a:cs typeface="Maven Pro Bold"/>
              </a:defRPr>
            </a:pPr>
            <a:r>
              <a:rPr sz="1800" b="1">
                <a:solidFill>
                  <a:srgbClr val="FFF9F0"/>
                </a:solidFill>
                <a:latin typeface="Maven Pro Bold"/>
                <a:ea typeface="Maven Pro Bold"/>
                <a:cs typeface="Maven Pro Bold"/>
              </a:rPr>
              <a:t>5</a:t>
            </a:r>
          </a:p>
        </p:txBody>
      </p:sp>
      <p:sp>
        <p:nvSpPr>
          <p:cNvPr id="41" name="chess-results-preference-3">
            <a:extLst xmlns:a="http://schemas.openxmlformats.org/drawingml/2006/main">
              <a:ext uri="{FF2B5EF4-FFF2-40B4-BE49-F238E27FC236}">
                <a16:creationId xmlns:a16="http://schemas.microsoft.com/office/drawing/2014/main" id="{5052C373-6448-4BEF-92E6-90B63681E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5572125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defRPr>
            </a:pPr>
            <a:r>
              <a:rPr sz="1950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rPr>
              <a:t>0/5 preferred</a:t>
            </a:r>
          </a:p>
        </p:txBody>
      </p:sp>
      <p:sp>
        <p:nvSpPr>
          <p:cNvPr id="42" name="chess-results-note">
            <a:extLst xmlns:a="http://schemas.openxmlformats.org/drawingml/2006/main">
              <a:ext uri="{FF2B5EF4-FFF2-40B4-BE49-F238E27FC236}">
                <a16:creationId xmlns:a16="http://schemas.microsoft.com/office/drawing/2014/main" id="{69EC306F-E26B-456E-AA76-A5A714B51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8239125"/>
            <a:ext cx="1143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9B7258"/>
                </a:solidFill>
                <a:latin typeface="Faustina"/>
                <a:ea typeface="Faustina"/>
                <a:cs typeface="Faustina"/>
              </a:defRPr>
            </a:pPr>
            <a:r>
              <a:rPr sz="1725" b="0">
                <a:solidFill>
                  <a:srgbClr val="9B7258"/>
                </a:solidFill>
                <a:latin typeface="Faustina"/>
                <a:ea typeface="Faustina"/>
                <a:cs typeface="Faustina"/>
              </a:rPr>
              <a:t>Alt 2 had zero failures; choice-load and preference evidence still favored Alt 1</a:t>
            </a:r>
          </a:p>
        </p:txBody>
      </p:sp>
      <p:sp>
        <p:nvSpPr>
          <p:cNvPr id="43" name="chess-results-synthesis-1">
            <a:extLst xmlns:a="http://schemas.openxmlformats.org/drawingml/2006/main">
              <a:ext uri="{FF2B5EF4-FFF2-40B4-BE49-F238E27FC236}">
                <a16:creationId xmlns:a16="http://schemas.microsoft.com/office/drawing/2014/main" id="{16F6F69A-1EC7-4D08-8D8C-92AC0DBA1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6858000"/>
            <a:ext cx="4191000" cy="1428750"/>
          </a:xfrm>
          <a:prstGeom xmlns:a="http://schemas.openxmlformats.org/drawingml/2006/main" prst="roundRect">
            <a:avLst>
              <a:gd name="adj" fmla="val 8000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0875B4"/>
            </a:solidFill>
            <a:prstDash val="solid"/>
          </a:ln>
        </p:spPr>
      </p:sp>
      <p:sp>
        <p:nvSpPr>
          <p:cNvPr id="44" name="chess-results-synthesis-label-1">
            <a:extLst xmlns:a="http://schemas.openxmlformats.org/drawingml/2006/main">
              <a:ext uri="{FF2B5EF4-FFF2-40B4-BE49-F238E27FC236}">
                <a16:creationId xmlns:a16="http://schemas.microsoft.com/office/drawing/2014/main" id="{C6C7FEA2-B2A1-48BD-852C-35D8CF69B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7029450"/>
            <a:ext cx="3733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875B4"/>
                </a:solidFill>
                <a:latin typeface="Maven Pro Bold"/>
                <a:ea typeface="Maven Pro Bold"/>
                <a:cs typeface="Maven Pro Bold"/>
              </a:defRPr>
            </a:pPr>
            <a:r>
              <a:rPr sz="1650" b="1">
                <a:solidFill>
                  <a:srgbClr val="0875B4"/>
                </a:solidFill>
                <a:latin typeface="Maven Pro Bold"/>
                <a:ea typeface="Maven Pro Bold"/>
                <a:cs typeface="Maven Pro Bold"/>
              </a:rPr>
              <a:t>STATE</a:t>
            </a:r>
          </a:p>
        </p:txBody>
      </p:sp>
      <p:sp>
        <p:nvSpPr>
          <p:cNvPr id="45" name="chess-results-synthesis-body-1">
            <a:extLst xmlns:a="http://schemas.openxmlformats.org/drawingml/2006/main">
              <a:ext uri="{FF2B5EF4-FFF2-40B4-BE49-F238E27FC236}">
                <a16:creationId xmlns:a16="http://schemas.microsoft.com/office/drawing/2014/main" id="{9FCFCB98-C15D-4FE9-B170-A6F126730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7381875"/>
            <a:ext cx="3733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669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754820"/>
                </a:solidFill>
                <a:latin typeface="Faustina"/>
                <a:ea typeface="Faustina"/>
                <a:cs typeface="Faustina"/>
              </a:defRPr>
            </a:pPr>
            <a:r>
              <a:rPr sz="1575" b="0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Alt 1 and Alt 2 exposed the mistake and better move. Alt 3 enabled questions, but conflicting square references reduced confidence.</a:t>
            </a:r>
          </a:p>
        </p:txBody>
      </p:sp>
      <p:sp>
        <p:nvSpPr>
          <p:cNvPr id="46" name="chess-results-synthesis-2">
            <a:extLst xmlns:a="http://schemas.openxmlformats.org/drawingml/2006/main">
              <a:ext uri="{FF2B5EF4-FFF2-40B4-BE49-F238E27FC236}">
                <a16:creationId xmlns:a16="http://schemas.microsoft.com/office/drawing/2014/main" id="{E73E1D13-DFF7-4007-9936-C45B0DCE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858000"/>
            <a:ext cx="4191000" cy="1428750"/>
          </a:xfrm>
          <a:prstGeom xmlns:a="http://schemas.openxmlformats.org/drawingml/2006/main" prst="roundRect">
            <a:avLst>
              <a:gd name="adj" fmla="val 8000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D7A35D"/>
            </a:solidFill>
            <a:prstDash val="solid"/>
          </a:ln>
        </p:spPr>
      </p:sp>
      <p:sp>
        <p:nvSpPr>
          <p:cNvPr id="47" name="chess-results-synthesis-label-2">
            <a:extLst xmlns:a="http://schemas.openxmlformats.org/drawingml/2006/main">
              <a:ext uri="{FF2B5EF4-FFF2-40B4-BE49-F238E27FC236}">
                <a16:creationId xmlns:a16="http://schemas.microsoft.com/office/drawing/2014/main" id="{4B0E088F-5DC1-49C1-A427-C8CAF44C0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7029450"/>
            <a:ext cx="3733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7A35D"/>
                </a:solidFill>
                <a:latin typeface="Maven Pro Bold"/>
                <a:ea typeface="Maven Pro Bold"/>
                <a:cs typeface="Maven Pro Bold"/>
              </a:defRPr>
            </a:pPr>
            <a:r>
              <a:rPr sz="1650" b="1">
                <a:solidFill>
                  <a:srgbClr val="D7A35D"/>
                </a:solidFill>
                <a:latin typeface="Maven Pro Bold"/>
                <a:ea typeface="Maven Pro Bold"/>
                <a:cs typeface="Maven Pro Bold"/>
              </a:rPr>
              <a:t>TRUST</a:t>
            </a:r>
          </a:p>
        </p:txBody>
      </p:sp>
      <p:sp>
        <p:nvSpPr>
          <p:cNvPr id="48" name="chess-results-synthesis-body-2">
            <a:extLst xmlns:a="http://schemas.openxmlformats.org/drawingml/2006/main">
              <a:ext uri="{FF2B5EF4-FFF2-40B4-BE49-F238E27FC236}">
                <a16:creationId xmlns:a16="http://schemas.microsoft.com/office/drawing/2014/main" id="{787A4C18-E735-439D-BCEF-141895DCC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7381875"/>
            <a:ext cx="3733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754820"/>
                </a:solidFill>
                <a:latin typeface="Faustina"/>
                <a:ea typeface="Faustina"/>
                <a:cs typeface="Faustina"/>
              </a:defRPr>
            </a:pPr>
            <a:r>
              <a:rPr sz="1575" b="0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Alt 1 kept explanations bounded and practice-linked. Alt 2 added terminology load. Alt 3 needed a visible analysis basis.</a:t>
            </a:r>
          </a:p>
        </p:txBody>
      </p:sp>
      <p:sp>
        <p:nvSpPr>
          <p:cNvPr id="49" name="chess-results-synthesis-3">
            <a:extLst xmlns:a="http://schemas.openxmlformats.org/drawingml/2006/main">
              <a:ext uri="{FF2B5EF4-FFF2-40B4-BE49-F238E27FC236}">
                <a16:creationId xmlns:a16="http://schemas.microsoft.com/office/drawing/2014/main" id="{C33167C3-67A0-4DDB-B144-BE7677F2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6858000"/>
            <a:ext cx="4191000" cy="1428750"/>
          </a:xfrm>
          <a:prstGeom xmlns:a="http://schemas.openxmlformats.org/drawingml/2006/main" prst="roundRect">
            <a:avLst>
              <a:gd name="adj" fmla="val 8000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6E9B7B"/>
            </a:solidFill>
            <a:prstDash val="solid"/>
          </a:ln>
        </p:spPr>
      </p:sp>
      <p:sp>
        <p:nvSpPr>
          <p:cNvPr id="50" name="chess-results-synthesis-label-3">
            <a:extLst xmlns:a="http://schemas.openxmlformats.org/drawingml/2006/main">
              <a:ext uri="{FF2B5EF4-FFF2-40B4-BE49-F238E27FC236}">
                <a16:creationId xmlns:a16="http://schemas.microsoft.com/office/drawing/2014/main" id="{266CDBFF-CFEF-4C11-A517-24446FE6D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7029450"/>
            <a:ext cx="3733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9B7B"/>
                </a:solidFill>
                <a:latin typeface="Maven Pro Bold"/>
                <a:ea typeface="Maven Pro Bold"/>
                <a:cs typeface="Maven Pro Bold"/>
              </a:defRPr>
            </a:pPr>
            <a:r>
              <a:rPr sz="1650" b="1">
                <a:solidFill>
                  <a:srgbClr val="6E9B7B"/>
                </a:solidFill>
                <a:latin typeface="Maven Pro Bold"/>
                <a:ea typeface="Maven Pro Bold"/>
                <a:cs typeface="Maven Pro Bold"/>
              </a:rPr>
              <a:t>ACTION</a:t>
            </a:r>
          </a:p>
        </p:txBody>
      </p:sp>
      <p:sp>
        <p:nvSpPr>
          <p:cNvPr id="51" name="chess-results-synthesis-body-3">
            <a:extLst xmlns:a="http://schemas.openxmlformats.org/drawingml/2006/main">
              <a:ext uri="{FF2B5EF4-FFF2-40B4-BE49-F238E27FC236}">
                <a16:creationId xmlns:a16="http://schemas.microsoft.com/office/drawing/2014/main" id="{79D29A9C-A758-4BB8-9D09-49CD6DFC9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7381875"/>
            <a:ext cx="3733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754820"/>
                </a:solidFill>
                <a:latin typeface="Faustina"/>
                <a:ea typeface="Faustina"/>
                <a:cs typeface="Faustina"/>
              </a:defRPr>
            </a:pPr>
            <a:r>
              <a:rPr sz="1575" b="0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Alt 1 connected Try this move → Practice → Next mistake. Alt 2 offered a puzzle route. Alt 3 lacked direct try / practice controls.</a:t>
            </a:r>
          </a:p>
        </p:txBody>
      </p:sp>
      <p:sp>
        <p:nvSpPr>
          <p:cNvPr id="52" name="chess-results-synthesis-close">
            <a:extLst xmlns:a="http://schemas.openxmlformats.org/drawingml/2006/main">
              <a:ext uri="{FF2B5EF4-FFF2-40B4-BE49-F238E27FC236}">
                <a16:creationId xmlns:a16="http://schemas.microsoft.com/office/drawing/2014/main" id="{EE7D6D22-8A68-4FC9-807C-12F17952A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8524875"/>
            <a:ext cx="1219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defRPr>
            </a:pPr>
            <a:r>
              <a:rPr sz="1800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rPr>
              <a:t>Synthesis → Beginner Review Flow: keep the guided chain; borrow Card priority and bounded Assistant help.</a:t>
            </a:r>
          </a:p>
        </p:txBody>
      </p:sp>
    </p:spTree>
    <p:extLst>
      <p:ext uri="{BB962C8B-B14F-4D97-AF65-F5344CB8AC3E}">
        <p14:creationId xmlns:p14="http://schemas.microsoft.com/office/powerpoint/2010/main" val="183944668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EFD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A4291B5E-E950-4179-AA8E-BA9A0E946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1">
            <a:off x="12337292" y="-876300"/>
            <a:ext cx="6103108" cy="4114800"/>
          </a:xfrm>
          <a:custGeom xmlns:a="http://schemas.openxmlformats.org/drawingml/2006/main">
            <a:rect l="l" t="t" r="r" b="b"/>
            <a:pathLst>
              <a:path w="6103108" h="4114800">
                <a:moveTo>
                  <a:pt x="610310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103108" y="0"/>
                </a:lnTo>
                <a:lnTo>
                  <a:pt x="6103108" y="41148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808835566074877">
              <a:extLst>
                <a:ext uri="{96DAC541-7B7A-43D3-8B79-37D633B846F1}">
                  <asvg:svgBlip xmlns:asvg="http://schemas.microsoft.com/office/drawing/2016/SVG/main" r:embed="R4da38bad9ffe419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0D29068E-DEE6-4AAF-9651-74EB94875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407223" y="-302623"/>
            <a:ext cx="5040401" cy="4114800"/>
          </a:xfrm>
          <a:custGeom xmlns:a="http://schemas.openxmlformats.org/drawingml/2006/main">
            <a:rect l="l" t="t" r="r" b="b"/>
            <a:pathLst>
              <a:path w="5040401" h="4114800">
                <a:moveTo>
                  <a:pt x="0" y="0"/>
                </a:moveTo>
                <a:lnTo>
                  <a:pt x="5040401" y="0"/>
                </a:lnTo>
                <a:lnTo>
                  <a:pt x="504040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4765be445b74a49">
              <a:extLst>
                <a:ext uri="{96DAC541-7B7A-43D3-8B79-37D633B846F1}">
                  <asvg:svgBlip xmlns:asvg="http://schemas.microsoft.com/office/drawing/2016/SVG/main" r:embed="R9495b17c5e9148e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28795DBA-493B-4831-9145-C83319A3B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826735" y="6747939"/>
            <a:ext cx="6103108" cy="4114800"/>
          </a:xfrm>
          <a:custGeom xmlns:a="http://schemas.openxmlformats.org/drawingml/2006/main">
            <a:rect l="l" t="t" r="r" b="b"/>
            <a:pathLst>
              <a:path w="6103108" h="4114800">
                <a:moveTo>
                  <a:pt x="0" y="0"/>
                </a:moveTo>
                <a:lnTo>
                  <a:pt x="6103108" y="0"/>
                </a:lnTo>
                <a:lnTo>
                  <a:pt x="61031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808835566074877">
              <a:extLst>
                <a:ext uri="{96DAC541-7B7A-43D3-8B79-37D633B846F1}">
                  <asvg:svgBlip xmlns:asvg="http://schemas.microsoft.com/office/drawing/2016/SVG/main" r:embed="R4da38bad9ffe419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136EB619-F6E9-4D75-84EF-D96AF37F1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0130" y="6114049"/>
            <a:ext cx="2369825" cy="2300885"/>
          </a:xfrm>
          <a:custGeom xmlns:a="http://schemas.openxmlformats.org/drawingml/2006/main">
            <a:rect l="l" t="t" r="r" b="b"/>
            <a:pathLst>
              <a:path w="2369825" h="2300885">
                <a:moveTo>
                  <a:pt x="0" y="0"/>
                </a:moveTo>
                <a:lnTo>
                  <a:pt x="2369825" y="0"/>
                </a:lnTo>
                <a:lnTo>
                  <a:pt x="2369825" y="2300885"/>
                </a:lnTo>
                <a:lnTo>
                  <a:pt x="0" y="230088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07b7099841f4296">
              <a:extLst>
                <a:ext uri="{96DAC541-7B7A-43D3-8B79-37D633B846F1}">
                  <asvg:svgBlip xmlns:asvg="http://schemas.microsoft.com/office/drawing/2016/SVG/main" r:embed="R241925ebef174a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0E27A4E7-D7E4-49A1-BA8D-1843209A1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80533" y="1302570"/>
            <a:ext cx="13526934" cy="8444484"/>
          </a:xfrm>
          <a:custGeom xmlns:a="http://schemas.openxmlformats.org/drawingml/2006/main">
            <a:rect l="l" t="t" r="r" b="b"/>
            <a:pathLst>
              <a:path w="13526934" h="8444484">
                <a:moveTo>
                  <a:pt x="0" y="0"/>
                </a:moveTo>
                <a:lnTo>
                  <a:pt x="13526934" y="0"/>
                </a:lnTo>
                <a:lnTo>
                  <a:pt x="13526934" y="8444484"/>
                </a:lnTo>
                <a:lnTo>
                  <a:pt x="0" y="844448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1894b3a6b4344f8">
              <a:extLst>
                <a:ext uri="{96DAC541-7B7A-43D3-8B79-37D633B846F1}">
                  <asvg:svgBlip xmlns:asvg="http://schemas.microsoft.com/office/drawing/2016/SVG/main" r:embed="Rbd07a8f537a64b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4ED5AB71-8943-458B-BE81-032948F9C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5747" y="289936"/>
            <a:ext cx="3331694" cy="1150635"/>
          </a:xfrm>
          <a:custGeom xmlns:a="http://schemas.openxmlformats.org/drawingml/2006/main">
            <a:rect l="l" t="t" r="r" b="b"/>
            <a:pathLst>
              <a:path w="3331694" h="1150635">
                <a:moveTo>
                  <a:pt x="0" y="0"/>
                </a:moveTo>
                <a:lnTo>
                  <a:pt x="3331694" y="0"/>
                </a:lnTo>
                <a:lnTo>
                  <a:pt x="3331694" y="1150634"/>
                </a:lnTo>
                <a:lnTo>
                  <a:pt x="0" y="115063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fa83c871e744bb6"/>
            <a:stretch>
              <a:fillRect l="-7270" t="-25038" r="-6058" b="-39036"/>
            </a:stretch>
          </a:blipFill>
        </p:spPr>
      </p:sp>
      <p:sp>
        <p:nvSpPr>
          <p:cNvPr id="10" name="revised-title">
            <a:extLst xmlns:a="http://schemas.openxmlformats.org/drawingml/2006/main">
              <a:ext uri="{FF2B5EF4-FFF2-40B4-BE49-F238E27FC236}">
                <a16:creationId xmlns:a16="http://schemas.microsoft.com/office/drawing/2014/main" id="{A8CE2D73-E850-4745-8702-324D73BAB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181100"/>
            <a:ext cx="1257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00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defRPr>
            </a:pPr>
            <a:r>
              <a:rPr sz="5400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rPr>
              <a:t>Chess: what testing exposed</a:t>
            </a:r>
          </a:p>
        </p:txBody>
      </p:sp>
      <p:sp>
        <p:nvSpPr>
          <p:cNvPr id="11" name="revised-body">
            <a:extLst xmlns:a="http://schemas.openxmlformats.org/drawingml/2006/main">
              <a:ext uri="{FF2B5EF4-FFF2-40B4-BE49-F238E27FC236}">
                <a16:creationId xmlns:a16="http://schemas.microsoft.com/office/drawing/2014/main" id="{486A0B11-3CB6-4BFF-9264-4288252CC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810500"/>
            <a:ext cx="1295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602E17"/>
                </a:solidFill>
                <a:latin typeface="Faustina"/>
                <a:ea typeface="Faustina"/>
                <a:cs typeface="Faustina"/>
              </a:defRPr>
            </a:pPr>
            <a:r>
              <a:rPr sz="1875" b="1">
                <a:solidFill>
                  <a:srgbClr val="602E17"/>
                </a:solidFill>
                <a:latin typeface="Faustina"/>
                <a:ea typeface="Faustina"/>
                <a:cs typeface="Faustina"/>
              </a:rPr>
              <a:t>PA4 direction: Beginner Review Flow, with selected help, preview, and recovery cues.</a:t>
            </a:r>
          </a:p>
        </p:txBody>
      </p:sp>
      <p:sp>
        <p:nvSpPr>
          <p:cNvPr id="12" name="chess-fix-card-1">
            <a:extLst xmlns:a="http://schemas.openxmlformats.org/drawingml/2006/main">
              <a:ext uri="{FF2B5EF4-FFF2-40B4-BE49-F238E27FC236}">
                <a16:creationId xmlns:a16="http://schemas.microsoft.com/office/drawing/2014/main" id="{C70F6477-9F70-463B-BD1D-956C755D5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43250"/>
            <a:ext cx="3810000" cy="4095750"/>
          </a:xfrm>
          <a:prstGeom xmlns:a="http://schemas.openxmlformats.org/drawingml/2006/main" prst="roundRect">
            <a:avLst>
              <a:gd name="adj" fmla="val 3000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EBC6A7"/>
            </a:solidFill>
            <a:prstDash val="solid"/>
          </a:ln>
        </p:spPr>
      </p:sp>
      <p:sp>
        <p:nvSpPr>
          <p:cNvPr id="13" name="chess-fix-issue-label-1">
            <a:extLst xmlns:a="http://schemas.openxmlformats.org/drawingml/2006/main">
              <a:ext uri="{FF2B5EF4-FFF2-40B4-BE49-F238E27FC236}">
                <a16:creationId xmlns:a16="http://schemas.microsoft.com/office/drawing/2014/main" id="{4DF1B084-B208-4FC1-BE1A-A2CB3447F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429000"/>
            <a:ext cx="3276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96F62"/>
                </a:solidFill>
                <a:latin typeface="Maven Pro Bold"/>
                <a:ea typeface="Maven Pro Bold"/>
                <a:cs typeface="Maven Pro Bold"/>
              </a:defRPr>
            </a:pPr>
            <a:r>
              <a:rPr sz="1800" b="1">
                <a:solidFill>
                  <a:srgbClr val="C96F62"/>
                </a:solidFill>
                <a:latin typeface="Maven Pro Bold"/>
                <a:ea typeface="Maven Pro Bold"/>
                <a:cs typeface="Maven Pro Bold"/>
              </a:rPr>
              <a:t>ISSUE</a:t>
            </a:r>
          </a:p>
        </p:txBody>
      </p:sp>
      <p:sp>
        <p:nvSpPr>
          <p:cNvPr id="14" name="chess-fix-issue-1">
            <a:extLst xmlns:a="http://schemas.openxmlformats.org/drawingml/2006/main">
              <a:ext uri="{FF2B5EF4-FFF2-40B4-BE49-F238E27FC236}">
                <a16:creationId xmlns:a16="http://schemas.microsoft.com/office/drawing/2014/main" id="{6D998A52-DDA5-49D6-831D-5EABEAC37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810000"/>
            <a:ext cx="32766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54820"/>
                </a:solidFill>
                <a:latin typeface="Faustina"/>
                <a:ea typeface="Faustina"/>
                <a:cs typeface="Faustina"/>
              </a:defRPr>
            </a:pPr>
            <a:r>
              <a:rPr sz="1800" b="0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Guided flow started at step 2 and lacked a clear recovery or help route.</a:t>
            </a:r>
          </a:p>
        </p:txBody>
      </p:sp>
      <p:sp>
        <p:nvSpPr>
          <p:cNvPr id="15" name="chess-fix-rule-1">
            <a:extLst xmlns:a="http://schemas.openxmlformats.org/drawingml/2006/main">
              <a:ext uri="{FF2B5EF4-FFF2-40B4-BE49-F238E27FC236}">
                <a16:creationId xmlns:a16="http://schemas.microsoft.com/office/drawing/2014/main" id="{683672FE-FA48-46B1-8647-FE5631151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143500"/>
            <a:ext cx="327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BC6A7"/>
            </a:solidFill>
            <a:prstDash val="solid"/>
          </a:ln>
        </p:spPr>
      </p:sp>
      <p:sp>
        <p:nvSpPr>
          <p:cNvPr id="16" name="chess-fix-fix-label-1">
            <a:extLst xmlns:a="http://schemas.openxmlformats.org/drawingml/2006/main">
              <a:ext uri="{FF2B5EF4-FFF2-40B4-BE49-F238E27FC236}">
                <a16:creationId xmlns:a16="http://schemas.microsoft.com/office/drawing/2014/main" id="{DCB1B98C-5CDA-4838-996D-13C3161DC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381625"/>
            <a:ext cx="3276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E9B7B"/>
                </a:solidFill>
                <a:latin typeface="Maven Pro Bold"/>
                <a:ea typeface="Maven Pro Bold"/>
                <a:cs typeface="Maven Pro Bold"/>
              </a:defRPr>
            </a:pPr>
            <a:r>
              <a:rPr sz="1800" b="1">
                <a:solidFill>
                  <a:srgbClr val="6E9B7B"/>
                </a:solidFill>
                <a:latin typeface="Maven Pro Bold"/>
                <a:ea typeface="Maven Pro Bold"/>
                <a:cs typeface="Maven Pro Bold"/>
              </a:rPr>
              <a:t>FIX</a:t>
            </a:r>
          </a:p>
        </p:txBody>
      </p:sp>
      <p:sp>
        <p:nvSpPr>
          <p:cNvPr id="17" name="chess-fix-fix-1">
            <a:extLst xmlns:a="http://schemas.openxmlformats.org/drawingml/2006/main">
              <a:ext uri="{FF2B5EF4-FFF2-40B4-BE49-F238E27FC236}">
                <a16:creationId xmlns:a16="http://schemas.microsoft.com/office/drawing/2014/main" id="{18B676B1-895E-46F2-9E62-5D54839DF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762625"/>
            <a:ext cx="3276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54820"/>
                </a:solidFill>
                <a:latin typeface="Faustina"/>
                <a:ea typeface="Faustina"/>
                <a:cs typeface="Faustina"/>
              </a:defRPr>
            </a:pPr>
            <a:r>
              <a:rPr sz="1800" b="0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Add Start / Restart review, Explain another way, and Review Another Moment.</a:t>
            </a:r>
          </a:p>
        </p:txBody>
      </p:sp>
      <p:sp>
        <p:nvSpPr>
          <p:cNvPr id="18" name="chess-fix-card-2">
            <a:extLst xmlns:a="http://schemas.openxmlformats.org/drawingml/2006/main">
              <a:ext uri="{FF2B5EF4-FFF2-40B4-BE49-F238E27FC236}">
                <a16:creationId xmlns:a16="http://schemas.microsoft.com/office/drawing/2014/main" id="{7107D5EB-56B5-4789-962E-DBA706A7D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43250"/>
            <a:ext cx="3810000" cy="4095750"/>
          </a:xfrm>
          <a:prstGeom xmlns:a="http://schemas.openxmlformats.org/drawingml/2006/main" prst="roundRect">
            <a:avLst>
              <a:gd name="adj" fmla="val 3000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EBC6A7"/>
            </a:solidFill>
            <a:prstDash val="solid"/>
          </a:ln>
        </p:spPr>
      </p:sp>
      <p:sp>
        <p:nvSpPr>
          <p:cNvPr id="19" name="chess-fix-issue-label-2">
            <a:extLst xmlns:a="http://schemas.openxmlformats.org/drawingml/2006/main">
              <a:ext uri="{FF2B5EF4-FFF2-40B4-BE49-F238E27FC236}">
                <a16:creationId xmlns:a16="http://schemas.microsoft.com/office/drawing/2014/main" id="{97D360A5-347F-4D70-B0E7-A7B1185B3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429000"/>
            <a:ext cx="3276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96F62"/>
                </a:solidFill>
                <a:latin typeface="Maven Pro Bold"/>
                <a:ea typeface="Maven Pro Bold"/>
                <a:cs typeface="Maven Pro Bold"/>
              </a:defRPr>
            </a:pPr>
            <a:r>
              <a:rPr sz="1800" b="1">
                <a:solidFill>
                  <a:srgbClr val="C96F62"/>
                </a:solidFill>
                <a:latin typeface="Maven Pro Bold"/>
                <a:ea typeface="Maven Pro Bold"/>
                <a:cs typeface="Maven Pro Bold"/>
              </a:rPr>
              <a:t>ISSUE</a:t>
            </a:r>
          </a:p>
        </p:txBody>
      </p:sp>
      <p:sp>
        <p:nvSpPr>
          <p:cNvPr id="20" name="chess-fix-issue-2">
            <a:extLst xmlns:a="http://schemas.openxmlformats.org/drawingml/2006/main">
              <a:ext uri="{FF2B5EF4-FFF2-40B4-BE49-F238E27FC236}">
                <a16:creationId xmlns:a16="http://schemas.microsoft.com/office/drawing/2014/main" id="{7DBCAA7A-3EDA-40A1-BD33-AE67C64F0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810000"/>
            <a:ext cx="32766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54820"/>
                </a:solidFill>
                <a:latin typeface="Faustina"/>
                <a:ea typeface="Faustina"/>
                <a:cs typeface="Faustina"/>
              </a:defRPr>
            </a:pPr>
            <a:r>
              <a:rPr sz="1800" b="0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Many cards and metrics made the first choice and terminology unclear.</a:t>
            </a:r>
          </a:p>
        </p:txBody>
      </p:sp>
      <p:sp>
        <p:nvSpPr>
          <p:cNvPr id="21" name="chess-fix-rule-2">
            <a:extLst xmlns:a="http://schemas.openxmlformats.org/drawingml/2006/main">
              <a:ext uri="{FF2B5EF4-FFF2-40B4-BE49-F238E27FC236}">
                <a16:creationId xmlns:a16="http://schemas.microsoft.com/office/drawing/2014/main" id="{1D26DD5F-7854-47B2-848F-340A22CD7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143500"/>
            <a:ext cx="327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BC6A7"/>
            </a:solidFill>
            <a:prstDash val="solid"/>
          </a:ln>
        </p:spPr>
      </p:sp>
      <p:sp>
        <p:nvSpPr>
          <p:cNvPr id="22" name="chess-fix-fix-label-2">
            <a:extLst xmlns:a="http://schemas.openxmlformats.org/drawingml/2006/main">
              <a:ext uri="{FF2B5EF4-FFF2-40B4-BE49-F238E27FC236}">
                <a16:creationId xmlns:a16="http://schemas.microsoft.com/office/drawing/2014/main" id="{AFC65177-81D9-4FC4-9529-224F6598A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381625"/>
            <a:ext cx="3276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E9B7B"/>
                </a:solidFill>
                <a:latin typeface="Maven Pro Bold"/>
                <a:ea typeface="Maven Pro Bold"/>
                <a:cs typeface="Maven Pro Bold"/>
              </a:defRPr>
            </a:pPr>
            <a:r>
              <a:rPr sz="1800" b="1">
                <a:solidFill>
                  <a:srgbClr val="6E9B7B"/>
                </a:solidFill>
                <a:latin typeface="Maven Pro Bold"/>
                <a:ea typeface="Maven Pro Bold"/>
                <a:cs typeface="Maven Pro Bold"/>
              </a:rPr>
              <a:t>FIX</a:t>
            </a:r>
          </a:p>
        </p:txBody>
      </p:sp>
      <p:sp>
        <p:nvSpPr>
          <p:cNvPr id="23" name="chess-fix-fix-2">
            <a:extLst xmlns:a="http://schemas.openxmlformats.org/drawingml/2006/main">
              <a:ext uri="{FF2B5EF4-FFF2-40B4-BE49-F238E27FC236}">
                <a16:creationId xmlns:a16="http://schemas.microsoft.com/office/drawing/2014/main" id="{11EF931D-E39F-4E3E-8FF5-5B9F46C49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762625"/>
            <a:ext cx="3276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54820"/>
                </a:solidFill>
                <a:latin typeface="Faustina"/>
                <a:ea typeface="Faustina"/>
                <a:cs typeface="Faustina"/>
              </a:defRPr>
            </a:pPr>
            <a:r>
              <a:rPr sz="1800" b="0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Add a Start Here card; explain categories and material; keep the puzzle bridge.</a:t>
            </a:r>
          </a:p>
        </p:txBody>
      </p:sp>
      <p:sp>
        <p:nvSpPr>
          <p:cNvPr id="24" name="chess-fix-card-3">
            <a:extLst xmlns:a="http://schemas.openxmlformats.org/drawingml/2006/main">
              <a:ext uri="{FF2B5EF4-FFF2-40B4-BE49-F238E27FC236}">
                <a16:creationId xmlns:a16="http://schemas.microsoft.com/office/drawing/2014/main" id="{05A629CA-9979-4513-8967-F3AF7C58A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143250"/>
            <a:ext cx="3810000" cy="4095750"/>
          </a:xfrm>
          <a:prstGeom xmlns:a="http://schemas.openxmlformats.org/drawingml/2006/main" prst="roundRect">
            <a:avLst>
              <a:gd name="adj" fmla="val 3000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EBC6A7"/>
            </a:solidFill>
            <a:prstDash val="solid"/>
          </a:ln>
        </p:spPr>
      </p:sp>
      <p:sp>
        <p:nvSpPr>
          <p:cNvPr id="25" name="chess-fix-issue-label-3">
            <a:extLst xmlns:a="http://schemas.openxmlformats.org/drawingml/2006/main">
              <a:ext uri="{FF2B5EF4-FFF2-40B4-BE49-F238E27FC236}">
                <a16:creationId xmlns:a16="http://schemas.microsoft.com/office/drawing/2014/main" id="{2F0F6D9F-51EF-4D30-9D55-012936A92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3429000"/>
            <a:ext cx="3276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96F62"/>
                </a:solidFill>
                <a:latin typeface="Maven Pro Bold"/>
                <a:ea typeface="Maven Pro Bold"/>
                <a:cs typeface="Maven Pro Bold"/>
              </a:defRPr>
            </a:pPr>
            <a:r>
              <a:rPr sz="1800" b="1">
                <a:solidFill>
                  <a:srgbClr val="C96F62"/>
                </a:solidFill>
                <a:latin typeface="Maven Pro Bold"/>
                <a:ea typeface="Maven Pro Bold"/>
                <a:cs typeface="Maven Pro Bold"/>
              </a:rPr>
              <a:t>ISSUE</a:t>
            </a:r>
          </a:p>
        </p:txBody>
      </p:sp>
      <p:sp>
        <p:nvSpPr>
          <p:cNvPr id="26" name="chess-fix-issue-3">
            <a:extLst xmlns:a="http://schemas.openxmlformats.org/drawingml/2006/main">
              <a:ext uri="{FF2B5EF4-FFF2-40B4-BE49-F238E27FC236}">
                <a16:creationId xmlns:a16="http://schemas.microsoft.com/office/drawing/2014/main" id="{B85773F5-505F-4DCF-B3D7-1DEBEE0ED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3810000"/>
            <a:ext cx="32766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54820"/>
                </a:solidFill>
                <a:latin typeface="Faustina"/>
                <a:ea typeface="Faustina"/>
                <a:cs typeface="Faustina"/>
              </a:defRPr>
            </a:pPr>
            <a:r>
              <a:rPr sz="1800" b="0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Flexible explanations lacked a direct Try / Practice path; c3 and e2 references conflicted.</a:t>
            </a:r>
          </a:p>
        </p:txBody>
      </p:sp>
      <p:sp>
        <p:nvSpPr>
          <p:cNvPr id="27" name="chess-fix-rule-3">
            <a:extLst xmlns:a="http://schemas.openxmlformats.org/drawingml/2006/main">
              <a:ext uri="{FF2B5EF4-FFF2-40B4-BE49-F238E27FC236}">
                <a16:creationId xmlns:a16="http://schemas.microsoft.com/office/drawing/2014/main" id="{9C70F58F-7EC3-46FB-B84A-DFD87B457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5143500"/>
            <a:ext cx="327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BC6A7"/>
            </a:solidFill>
            <a:prstDash val="solid"/>
          </a:ln>
        </p:spPr>
      </p:sp>
      <p:sp>
        <p:nvSpPr>
          <p:cNvPr id="28" name="chess-fix-fix-label-3">
            <a:extLst xmlns:a="http://schemas.openxmlformats.org/drawingml/2006/main">
              <a:ext uri="{FF2B5EF4-FFF2-40B4-BE49-F238E27FC236}">
                <a16:creationId xmlns:a16="http://schemas.microsoft.com/office/drawing/2014/main" id="{26D8A24F-C49B-42AA-A9D2-143E5B5FA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5381625"/>
            <a:ext cx="3276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E9B7B"/>
                </a:solidFill>
                <a:latin typeface="Maven Pro Bold"/>
                <a:ea typeface="Maven Pro Bold"/>
                <a:cs typeface="Maven Pro Bold"/>
              </a:defRPr>
            </a:pPr>
            <a:r>
              <a:rPr sz="1800" b="1">
                <a:solidFill>
                  <a:srgbClr val="6E9B7B"/>
                </a:solidFill>
                <a:latin typeface="Maven Pro Bold"/>
                <a:ea typeface="Maven Pro Bold"/>
                <a:cs typeface="Maven Pro Bold"/>
              </a:rPr>
              <a:t>FIX</a:t>
            </a:r>
          </a:p>
        </p:txBody>
      </p:sp>
      <p:sp>
        <p:nvSpPr>
          <p:cNvPr id="29" name="chess-fix-fix-3">
            <a:extLst xmlns:a="http://schemas.openxmlformats.org/drawingml/2006/main">
              <a:ext uri="{FF2B5EF4-FFF2-40B4-BE49-F238E27FC236}">
                <a16:creationId xmlns:a16="http://schemas.microsoft.com/office/drawing/2014/main" id="{AB3F325F-006A-4DCA-9197-A9676126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5762625"/>
            <a:ext cx="3276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54820"/>
                </a:solidFill>
                <a:latin typeface="Faustina"/>
                <a:ea typeface="Faustina"/>
                <a:cs typeface="Faustina"/>
              </a:defRPr>
            </a:pPr>
            <a:r>
              <a:rPr sz="1800" b="0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Add bounded prompts, a visible analysis basis, Try this move, and Practice this idea.</a:t>
            </a:r>
          </a:p>
        </p:txBody>
      </p:sp>
    </p:spTree>
    <p:extLst>
      <p:ext uri="{BB962C8B-B14F-4D97-AF65-F5344CB8AC3E}">
        <p14:creationId xmlns:p14="http://schemas.microsoft.com/office/powerpoint/2010/main" val="2098066012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EFD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4834B962-04A9-40B5-822C-8BEFF4D8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1">
            <a:off x="12337292" y="-876300"/>
            <a:ext cx="6103108" cy="4114800"/>
          </a:xfrm>
          <a:custGeom xmlns:a="http://schemas.openxmlformats.org/drawingml/2006/main">
            <a:rect l="l" t="t" r="r" b="b"/>
            <a:pathLst>
              <a:path w="6103108" h="4114800">
                <a:moveTo>
                  <a:pt x="610310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103108" y="0"/>
                </a:lnTo>
                <a:lnTo>
                  <a:pt x="6103108" y="41148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4457dd706b147ce">
              <a:extLst>
                <a:ext uri="{96DAC541-7B7A-43D3-8B79-37D633B846F1}">
                  <asvg:svgBlip xmlns:asvg="http://schemas.microsoft.com/office/drawing/2016/SVG/main" r:embed="R5dd168cd8ef7404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7EA7C4CC-5464-4768-973F-316873DC9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407223" y="-302623"/>
            <a:ext cx="5040401" cy="4114800"/>
          </a:xfrm>
          <a:custGeom xmlns:a="http://schemas.openxmlformats.org/drawingml/2006/main">
            <a:rect l="l" t="t" r="r" b="b"/>
            <a:pathLst>
              <a:path w="5040401" h="4114800">
                <a:moveTo>
                  <a:pt x="0" y="0"/>
                </a:moveTo>
                <a:lnTo>
                  <a:pt x="5040401" y="0"/>
                </a:lnTo>
                <a:lnTo>
                  <a:pt x="504040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1c0cfb537c545c3">
              <a:extLst>
                <a:ext uri="{96DAC541-7B7A-43D3-8B79-37D633B846F1}">
                  <asvg:svgBlip xmlns:asvg="http://schemas.microsoft.com/office/drawing/2016/SVG/main" r:embed="R0dfa5296617f454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BCF27435-CB6A-410A-862A-D9D2A366E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826735" y="6747939"/>
            <a:ext cx="6103108" cy="4114800"/>
          </a:xfrm>
          <a:custGeom xmlns:a="http://schemas.openxmlformats.org/drawingml/2006/main">
            <a:rect l="l" t="t" r="r" b="b"/>
            <a:pathLst>
              <a:path w="6103108" h="4114800">
                <a:moveTo>
                  <a:pt x="0" y="0"/>
                </a:moveTo>
                <a:lnTo>
                  <a:pt x="6103108" y="0"/>
                </a:lnTo>
                <a:lnTo>
                  <a:pt x="61031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4457dd706b147ce">
              <a:extLst>
                <a:ext uri="{96DAC541-7B7A-43D3-8B79-37D633B846F1}">
                  <asvg:svgBlip xmlns:asvg="http://schemas.microsoft.com/office/drawing/2016/SVG/main" r:embed="R5dd168cd8ef7404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CB520F2E-BEBA-45AF-920D-AFE08A125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0130" y="6114049"/>
            <a:ext cx="2369825" cy="2300885"/>
          </a:xfrm>
          <a:custGeom xmlns:a="http://schemas.openxmlformats.org/drawingml/2006/main">
            <a:rect l="l" t="t" r="r" b="b"/>
            <a:pathLst>
              <a:path w="2369825" h="2300885">
                <a:moveTo>
                  <a:pt x="0" y="0"/>
                </a:moveTo>
                <a:lnTo>
                  <a:pt x="2369825" y="0"/>
                </a:lnTo>
                <a:lnTo>
                  <a:pt x="2369825" y="2300885"/>
                </a:lnTo>
                <a:lnTo>
                  <a:pt x="0" y="230088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b80477cec2841bc">
              <a:extLst>
                <a:ext uri="{96DAC541-7B7A-43D3-8B79-37D633B846F1}">
                  <asvg:svgBlip xmlns:asvg="http://schemas.microsoft.com/office/drawing/2016/SVG/main" r:embed="R65faa3fcc7a44fbf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555152CD-1E10-4CFE-804A-40E468036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80533" y="1302570"/>
            <a:ext cx="13526934" cy="8444484"/>
          </a:xfrm>
          <a:custGeom xmlns:a="http://schemas.openxmlformats.org/drawingml/2006/main">
            <a:rect l="l" t="t" r="r" b="b"/>
            <a:pathLst>
              <a:path w="13526934" h="8444484">
                <a:moveTo>
                  <a:pt x="0" y="0"/>
                </a:moveTo>
                <a:lnTo>
                  <a:pt x="13526934" y="0"/>
                </a:lnTo>
                <a:lnTo>
                  <a:pt x="13526934" y="8444484"/>
                </a:lnTo>
                <a:lnTo>
                  <a:pt x="0" y="844448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07e14d24a7e4777">
              <a:extLst>
                <a:ext uri="{96DAC541-7B7A-43D3-8B79-37D633B846F1}">
                  <asvg:svgBlip xmlns:asvg="http://schemas.microsoft.com/office/drawing/2016/SVG/main" r:embed="R3504eb7b9687466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7" name="revised-title">
            <a:extLst xmlns:a="http://schemas.openxmlformats.org/drawingml/2006/main">
              <a:ext uri="{FF2B5EF4-FFF2-40B4-BE49-F238E27FC236}">
                <a16:creationId xmlns:a16="http://schemas.microsoft.com/office/drawing/2014/main" id="{2012DC7F-91FB-4AC9-BD5B-C9E5434E4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181100"/>
            <a:ext cx="1257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00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defRPr>
            </a:pPr>
            <a:r>
              <a:rPr sz="5400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rPr>
              <a:t>Final PA4 Direction</a:t>
            </a:r>
          </a:p>
        </p:txBody>
      </p:sp>
      <p:sp>
        <p:nvSpPr>
          <p:cNvPr id="8" name="revised-body">
            <a:extLst xmlns:a="http://schemas.openxmlformats.org/drawingml/2006/main">
              <a:ext uri="{FF2B5EF4-FFF2-40B4-BE49-F238E27FC236}">
                <a16:creationId xmlns:a16="http://schemas.microsoft.com/office/drawing/2014/main" id="{E43DBB48-F6CD-4BD7-8457-2DDBB27C2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7810500"/>
            <a:ext cx="1352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602E17"/>
                </a:solidFill>
                <a:latin typeface="Faustina"/>
                <a:ea typeface="Faustina"/>
                <a:cs typeface="Faustina"/>
              </a:defRPr>
            </a:pPr>
            <a:r>
              <a:rPr sz="1875" b="1">
                <a:solidFill>
                  <a:srgbClr val="602E17"/>
                </a:solidFill>
                <a:latin typeface="Faustina"/>
                <a:ea typeface="Faustina"/>
                <a:cs typeface="Faustina"/>
              </a:rPr>
              <a:t>Carry forward the strongest core workflow; borrow only evidence-supported cues that repair a repeated blocker.</a:t>
            </a:r>
          </a:p>
        </p:txBody>
      </p:sp>
      <p:sp>
        <p:nvSpPr>
          <p:cNvPr id="9" name="decision-fifa-surface">
            <a:extLst xmlns:a="http://schemas.openxmlformats.org/drawingml/2006/main">
              <a:ext uri="{FF2B5EF4-FFF2-40B4-BE49-F238E27FC236}">
                <a16:creationId xmlns:a16="http://schemas.microsoft.com/office/drawing/2014/main" id="{79BB7D94-F036-4EC7-B834-2DE2B5F75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048000"/>
            <a:ext cx="5715000" cy="4095750"/>
          </a:xfrm>
          <a:prstGeom xmlns:a="http://schemas.openxmlformats.org/drawingml/2006/main" prst="roundRect">
            <a:avLst>
              <a:gd name="adj" fmla="val 2791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0875B4"/>
            </a:solidFill>
            <a:prstDash val="solid"/>
          </a:ln>
        </p:spPr>
      </p:sp>
      <p:sp>
        <p:nvSpPr>
          <p:cNvPr id="10" name="decision-fifa-label">
            <a:extLst xmlns:a="http://schemas.openxmlformats.org/drawingml/2006/main">
              <a:ext uri="{FF2B5EF4-FFF2-40B4-BE49-F238E27FC236}">
                <a16:creationId xmlns:a16="http://schemas.microsoft.com/office/drawing/2014/main" id="{DA5078FF-623D-483D-8F1D-E5B614D56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333750"/>
            <a:ext cx="510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875B4"/>
                </a:solidFill>
                <a:latin typeface="Maven Pro Bold"/>
                <a:ea typeface="Maven Pro Bold"/>
                <a:cs typeface="Maven Pro Bold"/>
              </a:defRPr>
            </a:pPr>
            <a:r>
              <a:rPr sz="1950" b="1">
                <a:solidFill>
                  <a:srgbClr val="0875B4"/>
                </a:solidFill>
                <a:latin typeface="Maven Pro Bold"/>
                <a:ea typeface="Maven Pro Bold"/>
                <a:cs typeface="Maven Pro Bold"/>
              </a:rPr>
              <a:t>FIFA</a:t>
            </a:r>
          </a:p>
        </p:txBody>
      </p:sp>
      <p:sp>
        <p:nvSpPr>
          <p:cNvPr id="11" name="decision-fifa-selected">
            <a:extLst xmlns:a="http://schemas.openxmlformats.org/drawingml/2006/main">
              <a:ext uri="{FF2B5EF4-FFF2-40B4-BE49-F238E27FC236}">
                <a16:creationId xmlns:a16="http://schemas.microsoft.com/office/drawing/2014/main" id="{5324534B-2728-47C4-8568-A0273B6FB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857625"/>
            <a:ext cx="5105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defRPr>
            </a:pPr>
            <a:r>
              <a:rPr sz="2550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rPr>
              <a:t>Selected: Status Dashboard</a:t>
            </a:r>
          </a:p>
        </p:txBody>
      </p:sp>
      <p:sp>
        <p:nvSpPr>
          <p:cNvPr id="12" name="decision-fifa-reason">
            <a:extLst xmlns:a="http://schemas.openxmlformats.org/drawingml/2006/main">
              <a:ext uri="{FF2B5EF4-FFF2-40B4-BE49-F238E27FC236}">
                <a16:creationId xmlns:a16="http://schemas.microsoft.com/office/drawing/2014/main" id="{9F57D877-C0BE-4EF9-83CA-4E8B64C9B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762500"/>
            <a:ext cx="4724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754820"/>
                </a:solidFill>
                <a:latin typeface="Faustina"/>
                <a:ea typeface="Faustina"/>
                <a:cs typeface="Faustina"/>
              </a:defRPr>
            </a:pPr>
            <a:r>
              <a:rPr sz="1800" b="0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Only option combining strong current-state comprehension with direct ticket actions; repair pending owner/timing and partner handoff before PA4.</a:t>
            </a:r>
          </a:p>
        </p:txBody>
      </p:sp>
      <p:sp>
        <p:nvSpPr>
          <p:cNvPr id="13" name="decision-fifa-borrow">
            <a:extLst xmlns:a="http://schemas.openxmlformats.org/drawingml/2006/main">
              <a:ext uri="{FF2B5EF4-FFF2-40B4-BE49-F238E27FC236}">
                <a16:creationId xmlns:a16="http://schemas.microsoft.com/office/drawing/2014/main" id="{1CBEC49C-B8D6-4007-BDCF-119012034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6096000"/>
            <a:ext cx="4724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452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9B7258"/>
                </a:solidFill>
                <a:latin typeface="Faustina"/>
                <a:ea typeface="Faustina"/>
                <a:cs typeface="Faustina"/>
              </a:defRPr>
            </a:pPr>
            <a:r>
              <a:rPr sz="1650" b="0">
                <a:solidFill>
                  <a:srgbClr val="9B7258"/>
                </a:solidFill>
                <a:latin typeface="Faustina"/>
                <a:ea typeface="Faustina"/>
                <a:cs typeface="Faustina"/>
              </a:rPr>
              <a:t>Borrow: Timeline: freshness + ownership labels. Action Hub: direct actions + adjacent handoff warning.</a:t>
            </a:r>
          </a:p>
        </p:txBody>
      </p:sp>
      <p:sp>
        <p:nvSpPr>
          <p:cNvPr id="14" name="decision-chess-surface">
            <a:extLst xmlns:a="http://schemas.openxmlformats.org/drawingml/2006/main">
              <a:ext uri="{FF2B5EF4-FFF2-40B4-BE49-F238E27FC236}">
                <a16:creationId xmlns:a16="http://schemas.microsoft.com/office/drawing/2014/main" id="{A78B1B16-A5BC-44CB-99A0-284B66B54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48000"/>
            <a:ext cx="5715000" cy="4095750"/>
          </a:xfrm>
          <a:prstGeom xmlns:a="http://schemas.openxmlformats.org/drawingml/2006/main" prst="roundRect">
            <a:avLst>
              <a:gd name="adj" fmla="val 2791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5C8F69"/>
            </a:solidFill>
            <a:prstDash val="solid"/>
          </a:ln>
        </p:spPr>
      </p:sp>
      <p:sp>
        <p:nvSpPr>
          <p:cNvPr id="15" name="decision-chess-label">
            <a:extLst xmlns:a="http://schemas.openxmlformats.org/drawingml/2006/main">
              <a:ext uri="{FF2B5EF4-FFF2-40B4-BE49-F238E27FC236}">
                <a16:creationId xmlns:a16="http://schemas.microsoft.com/office/drawing/2014/main" id="{E325A32E-DC75-49A1-9751-8BAB76DE3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333750"/>
            <a:ext cx="510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C8F69"/>
                </a:solidFill>
                <a:latin typeface="Maven Pro Bold"/>
                <a:ea typeface="Maven Pro Bold"/>
                <a:cs typeface="Maven Pro Bold"/>
              </a:defRPr>
            </a:pPr>
            <a:r>
              <a:rPr sz="1950" b="1">
                <a:solidFill>
                  <a:srgbClr val="5C8F69"/>
                </a:solidFill>
                <a:latin typeface="Maven Pro Bold"/>
                <a:ea typeface="Maven Pro Bold"/>
                <a:cs typeface="Maven Pro Bold"/>
              </a:rPr>
              <a:t>Chess</a:t>
            </a:r>
          </a:p>
        </p:txBody>
      </p:sp>
      <p:sp>
        <p:nvSpPr>
          <p:cNvPr id="16" name="decision-chess-selected">
            <a:extLst xmlns:a="http://schemas.openxmlformats.org/drawingml/2006/main">
              <a:ext uri="{FF2B5EF4-FFF2-40B4-BE49-F238E27FC236}">
                <a16:creationId xmlns:a16="http://schemas.microsoft.com/office/drawing/2014/main" id="{D3C1DF67-9894-4020-A04D-772F0C634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857625"/>
            <a:ext cx="5105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defRPr>
            </a:pPr>
            <a:r>
              <a:rPr sz="2550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rPr>
              <a:t>Selected: Beginner Review Flow</a:t>
            </a:r>
          </a:p>
        </p:txBody>
      </p:sp>
      <p:sp>
        <p:nvSpPr>
          <p:cNvPr id="17" name="decision-chess-reason">
            <a:extLst xmlns:a="http://schemas.openxmlformats.org/drawingml/2006/main">
              <a:ext uri="{FF2B5EF4-FFF2-40B4-BE49-F238E27FC236}">
                <a16:creationId xmlns:a16="http://schemas.microsoft.com/office/drawing/2014/main" id="{915BC11B-0080-4110-9C35-209A27E31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762500"/>
            <a:ext cx="4724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754820"/>
                </a:solidFill>
                <a:latin typeface="Faustina"/>
                <a:ea typeface="Faustina"/>
                <a:cs typeface="Faustina"/>
              </a:defRPr>
            </a:pPr>
            <a:r>
              <a:rPr sz="1800" b="0">
                <a:solidFill>
                  <a:srgbClr val="754820"/>
                </a:solidFill>
                <a:latin typeface="Faustina"/>
                <a:ea typeface="Faustina"/>
                <a:cs typeface="Faustina"/>
              </a:rPr>
              <a:t>36 independent, 1 failure, 5/5 preference; clearest mistake → better move → practice chain, with recovery and help cues to add.</a:t>
            </a:r>
          </a:p>
        </p:txBody>
      </p:sp>
      <p:sp>
        <p:nvSpPr>
          <p:cNvPr id="18" name="decision-chess-borrow">
            <a:extLst xmlns:a="http://schemas.openxmlformats.org/drawingml/2006/main">
              <a:ext uri="{FF2B5EF4-FFF2-40B4-BE49-F238E27FC236}">
                <a16:creationId xmlns:a16="http://schemas.microsoft.com/office/drawing/2014/main" id="{133B6821-C180-4376-8194-B46D2C2BC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096000"/>
            <a:ext cx="4724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9B7258"/>
                </a:solidFill>
                <a:latin typeface="Faustina"/>
                <a:ea typeface="Faustina"/>
                <a:cs typeface="Faustina"/>
              </a:defRPr>
            </a:pPr>
            <a:r>
              <a:rPr sz="1650" b="0">
                <a:solidFill>
                  <a:srgbClr val="9B7258"/>
                </a:solidFill>
                <a:latin typeface="Faustina"/>
                <a:ea typeface="Faustina"/>
                <a:cs typeface="Faustina"/>
              </a:rPr>
              <a:t>Borrow: Card Review: Start Here + category cues. Assistant: bounded Explain another way help.</a:t>
            </a:r>
          </a:p>
        </p:txBody>
      </p:sp>
    </p:spTree>
    <p:extLst>
      <p:ext uri="{BB962C8B-B14F-4D97-AF65-F5344CB8AC3E}">
        <p14:creationId xmlns:p14="http://schemas.microsoft.com/office/powerpoint/2010/main" val="738986360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EFD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E2E32160-674F-4F59-A510-70416649A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3816" y="3975664"/>
            <a:ext cx="8688208" cy="36019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ts val="13373"/>
              </a:lnSpc>
              <a:buNone/>
            </a:pPr>
            <a:r>
              <a:rPr sz="16716" spc="501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</a:rPr>
              <a:t>THANK YOU</a:t>
            </a:r>
          </a:p>
        </p:txBody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053F8E62-03F6-460B-A1F3-F2EE8AB9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664261" y="6677503"/>
            <a:ext cx="6103108" cy="4114800"/>
          </a:xfrm>
          <a:custGeom xmlns:a="http://schemas.openxmlformats.org/drawingml/2006/main">
            <a:rect l="l" t="t" r="r" b="b"/>
            <a:pathLst>
              <a:path w="6103108" h="4114800">
                <a:moveTo>
                  <a:pt x="0" y="0"/>
                </a:moveTo>
                <a:lnTo>
                  <a:pt x="6103109" y="0"/>
                </a:lnTo>
                <a:lnTo>
                  <a:pt x="610310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6c00b22e48b4631">
              <a:extLst>
                <a:ext uri="{96DAC541-7B7A-43D3-8B79-37D633B846F1}">
                  <asvg:svgBlip xmlns:asvg="http://schemas.microsoft.com/office/drawing/2016/SVG/main" r:embed="R8b2952a0317f45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F400721F-D5B0-48D2-8E8A-F3A636E8D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1">
            <a:off x="12184892" y="-1028700"/>
            <a:ext cx="6103108" cy="4114800"/>
          </a:xfrm>
          <a:custGeom xmlns:a="http://schemas.openxmlformats.org/drawingml/2006/main">
            <a:rect l="l" t="t" r="r" b="b"/>
            <a:pathLst>
              <a:path w="6103108" h="4114800">
                <a:moveTo>
                  <a:pt x="610310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103108" y="0"/>
                </a:lnTo>
                <a:lnTo>
                  <a:pt x="6103108" y="41148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6c00b22e48b4631">
              <a:extLst>
                <a:ext uri="{96DAC541-7B7A-43D3-8B79-37D633B846F1}">
                  <asvg:svgBlip xmlns:asvg="http://schemas.microsoft.com/office/drawing/2016/SVG/main" r:embed="R8b2952a0317f45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BCD99688-1AEB-4AB3-982E-3C83C8B16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254823" y="-455023"/>
            <a:ext cx="5040401" cy="4114800"/>
          </a:xfrm>
          <a:custGeom xmlns:a="http://schemas.openxmlformats.org/drawingml/2006/main">
            <a:rect l="l" t="t" r="r" b="b"/>
            <a:pathLst>
              <a:path w="5040401" h="4114800">
                <a:moveTo>
                  <a:pt x="0" y="0"/>
                </a:moveTo>
                <a:lnTo>
                  <a:pt x="5040401" y="0"/>
                </a:lnTo>
                <a:lnTo>
                  <a:pt x="504040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9a564dca5244b1e">
              <a:extLst>
                <a:ext uri="{96DAC541-7B7A-43D3-8B79-37D633B846F1}">
                  <asvg:svgBlip xmlns:asvg="http://schemas.microsoft.com/office/drawing/2016/SVG/main" r:embed="R60fd94b9c36f4edb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2406CDDD-ED58-4C21-A06F-2D18B00B5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2605" y="6043612"/>
            <a:ext cx="2369825" cy="2300885"/>
          </a:xfrm>
          <a:custGeom xmlns:a="http://schemas.openxmlformats.org/drawingml/2006/main">
            <a:rect l="l" t="t" r="r" b="b"/>
            <a:pathLst>
              <a:path w="2369825" h="2300885">
                <a:moveTo>
                  <a:pt x="0" y="0"/>
                </a:moveTo>
                <a:lnTo>
                  <a:pt x="2369825" y="0"/>
                </a:lnTo>
                <a:lnTo>
                  <a:pt x="2369825" y="2300885"/>
                </a:lnTo>
                <a:lnTo>
                  <a:pt x="0" y="230088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37b4d6eaf704f6e">
              <a:extLst>
                <a:ext uri="{96DAC541-7B7A-43D3-8B79-37D633B846F1}">
                  <asvg:svgBlip xmlns:asvg="http://schemas.microsoft.com/office/drawing/2016/SVG/main" r:embed="Rc60a700652d54cab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5F45CF49-8101-417E-B980-6355E6585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1">
            <a:off x="0" y="0"/>
            <a:ext cx="4114800" cy="4114800"/>
          </a:xfrm>
          <a:custGeom xmlns:a="http://schemas.openxmlformats.org/drawingml/2006/main">
            <a:rect l="l" t="t" r="r" b="b"/>
            <a:pathLst>
              <a:path w="4114800" h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f1914aa634c4226">
              <a:extLst>
                <a:ext uri="{96DAC541-7B7A-43D3-8B79-37D633B846F1}">
                  <asvg:svgBlip xmlns:asvg="http://schemas.microsoft.com/office/drawing/2016/SVG/main" r:embed="R046af138ddbd4c1d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8B619115-449A-4729-B82F-7B2ECEB43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14173200" y="6287097"/>
            <a:ext cx="4114800" cy="4114800"/>
          </a:xfrm>
          <a:custGeom xmlns:a="http://schemas.openxmlformats.org/drawingml/2006/main">
            <a:rect l="l" t="t" r="r" b="b"/>
            <a:pathLst>
              <a:path w="4114800" h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f1914aa634c4226">
              <a:extLst>
                <a:ext uri="{96DAC541-7B7A-43D3-8B79-37D633B846F1}">
                  <asvg:svgBlip xmlns:asvg="http://schemas.microsoft.com/office/drawing/2016/SVG/main" r:embed="R046af138ddbd4c1d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9" name="thank-you-transition">
            <a:extLst xmlns:a="http://schemas.openxmlformats.org/drawingml/2006/main">
              <a:ext uri="{FF2B5EF4-FFF2-40B4-BE49-F238E27FC236}">
                <a16:creationId xmlns:a16="http://schemas.microsoft.com/office/drawing/2014/main" id="{BF41E69E-D26B-4D43-B579-B73277179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7000875"/>
            <a:ext cx="800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defRPr>
            </a:pPr>
            <a:r>
              <a:rPr sz="2250" b="1">
                <a:solidFill>
                  <a:srgbClr val="602E17"/>
                </a:solidFill>
                <a:latin typeface="Maven Pro Bold"/>
                <a:ea typeface="Maven Pro Bold"/>
                <a:cs typeface="Maven Pro Bold"/>
              </a:rPr>
              <a:t>AI-Agent Formative Testing → PA4 direction</a:t>
            </a:r>
          </a:p>
        </p:txBody>
      </p:sp>
    </p:spTree>
    <p:extLst>
      <p:ext uri="{BB962C8B-B14F-4D97-AF65-F5344CB8AC3E}">
        <p14:creationId xmlns:p14="http://schemas.microsoft.com/office/powerpoint/2010/main" val="7443637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2026-08-20T07:50:57.1700000Z</dcterms:created>
  <dcterms:modified xsi:type="dcterms:W3CDTF">2026-08-20T07:50:57.1700000Z</dcterms:modified>
</coreProperties>
</file>